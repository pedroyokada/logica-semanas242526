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11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338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56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embeddedFontLst>
    <p:embeddedFont>
      <p:font typeface="Poppins" panose="00000500000000000000" pitchFamily="2" charset="0"/>
      <p:regular r:id="rId32"/>
      <p:bold r:id="rId33"/>
      <p:italic r:id="rId34"/>
      <p:boldItalic r:id="rId35"/>
    </p:embeddedFont>
    <p:embeddedFont>
      <p:font typeface="Poppins Bold" panose="00000800000000000000" pitchFamily="2" charset="0"/>
      <p:bold r:id="rId36"/>
      <p:italic r:id="rId37"/>
      <p:boldItalic r:id="rId38"/>
    </p:embeddedFont>
    <p:embeddedFont>
      <p:font typeface="Poppins Light" panose="00000400000000000000" pitchFamily="2" charset="0"/>
      <p:regular r:id="rId39"/>
      <p:bold r:id="rId40"/>
      <p:italic r:id="rId41"/>
      <p:boldItalic r:id="rId42"/>
    </p:embeddedFont>
    <p:embeddedFont>
      <p:font typeface="Poppins Medium" panose="000006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1" id="{DA98C1AF-BB99-48D6-B8DF-1E468543AECB}">
          <p14:sldIdLst>
            <p14:sldId id="256"/>
            <p14:sldId id="257"/>
            <p14:sldId id="258"/>
            <p14:sldId id="259"/>
            <p14:sldId id="260"/>
            <p14:sldId id="261"/>
            <p14:sldId id="338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569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pos="454">
          <p15:clr>
            <a:srgbClr val="747775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B7B953-1DF4-8E25-2FD7-461A6661F625}" name="user" initials="u" userId="user" providerId="None"/>
  <p188:author id="{5AA0A968-BEAC-3578-99DE-8E24331D5246}" name="Yasmin Aquino" initials="YA" userId="S::yasmin.aquino@vanzolini-ead.org.br::762970ba-864f-4cc2-a808-be1e8c01dea3" providerId="AD"/>
  <p188:author id="{377AEB95-F34C-FEB2-A03E-D3DA85656470}" name="Izabella Saadi Cerutti" initials="IS" userId="4295702eb40843b9" providerId="Windows Live"/>
  <p188:author id="{B165D799-BC8C-90BE-92C0-3CED3306CB02}" name="Daniel Paiva" initials="DP" userId="8a33842c199de2dd" providerId="Windows Liv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ED8A7D-662D-4186-A652-E38749EEE283}" v="51" dt="2026-08-21T11:50:54.267"/>
  </p1510:revLst>
</p1510:revInfo>
</file>

<file path=ppt/tableStyles.xml><?xml version="1.0" encoding="utf-8"?>
<a:tblStyleLst xmlns:a="http://schemas.openxmlformats.org/drawingml/2006/main" def="{41BAB36B-2DCC-4F31-B811-377A76DFCB47}">
  <a:tblStyle styleId="{41BAB36B-2DCC-4F31-B811-377A76DFCB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58" autoAdjust="0"/>
    <p:restoredTop sz="88545" autoAdjust="0"/>
  </p:normalViewPr>
  <p:slideViewPr>
    <p:cSldViewPr snapToGrid="0">
      <p:cViewPr varScale="1">
        <p:scale>
          <a:sx n="94" d="100"/>
          <a:sy n="94" d="100"/>
        </p:scale>
        <p:origin x="1362" y="90"/>
      </p:cViewPr>
      <p:guideLst>
        <p:guide pos="45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713" name="Google Shape;27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714" name="Google Shape;27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718" name="Google Shape;27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764" name="Google Shape;27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783" name="Google Shape;27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1" name="Google Shape;2791;g3ee235a11d4_0_43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792" name="Google Shape;2792;g3ee235a11d4_0_4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0">
          <a:extLst>
            <a:ext uri="{FF2B5EF4-FFF2-40B4-BE49-F238E27FC236}">
              <a16:creationId xmlns:a16="http://schemas.microsoft.com/office/drawing/2014/main" id="{8CA961A3-32D0-77EC-7BBC-8015DC4F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1" name="Google Shape;2791;g3ee235a11d4_0_4350:notes">
            <a:extLst>
              <a:ext uri="{FF2B5EF4-FFF2-40B4-BE49-F238E27FC236}">
                <a16:creationId xmlns:a16="http://schemas.microsoft.com/office/drawing/2014/main" id="{09F1DC0E-6379-B651-85C3-39DC59452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792" name="Google Shape;2792;g3ee235a11d4_0_4350:notes">
            <a:extLst>
              <a:ext uri="{FF2B5EF4-FFF2-40B4-BE49-F238E27FC236}">
                <a16:creationId xmlns:a16="http://schemas.microsoft.com/office/drawing/2014/main" id="{BD4F52B4-B255-BEFF-82BB-425873022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9829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Google Shape;2814;g3ee235a11d4_0_4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15" name="Google Shape;2815;g3ee235a11d4_0_43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16" name="Google Shape;2816;g3ee235a11d4_0_43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Google Shape;2826;g3f3afb9c22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27" name="Google Shape;2827;g3f3afb9c22e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28" name="Google Shape;2828;g3f3afb9c22e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g3f6522e2993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35" name="Google Shape;2835;g3f6522e2993_1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36" name="Google Shape;2836;g3f6522e2993_1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g3f6172b20c7_0_3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44" name="Google Shape;2844;g3f6172b20c7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Google Shape;2862;g3f6522e2993_2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63" name="Google Shape;2863;g3f6522e2993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g3f00bb47926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86" name="Google Shape;2886;g3f00bb47926_0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87" name="Google Shape;2887;g3f00bb47926_0_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f37c8bf65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98" name="Google Shape;2898;g3f37c8bf65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99" name="Google Shape;2899;g3f37c8bf655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g3ee235a11d4_0_44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7" name="Google Shape;2907;g3ee235a11d4_0_4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26" name="Google Shape;122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7692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g3ef67a65e8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31" name="Google Shape;2931;g3ef67a65e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g3f6522e2993_2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37" name="Google Shape;2937;g3f6522e2993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Google Shape;2942;g3ee235a11d4_0_44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endParaRPr dirty="0"/>
          </a:p>
        </p:txBody>
      </p:sp>
      <p:sp>
        <p:nvSpPr>
          <p:cNvPr id="2943" name="Google Shape;2943;g3ee235a11d4_0_4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Google Shape;2948;g3ee235a11d4_0_44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949" name="Google Shape;2949;g3ee235a11d4_0_4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Google Shape;2954;g3ee235a11d4_0_44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955" name="Google Shape;2955;g3ee235a11d4_0_4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Google Shape;2960;g3ee235a11d4_0_4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61" name="Google Shape;2961;g3ee235a11d4_0_44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962" name="Google Shape;2962;g3ee235a11d4_0_44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g3ee235a11d4_0_4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66" name="Google Shape;2966;g3ee235a11d4_0_44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967" name="Google Shape;2967;g3ee235a11d4_0_44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Google Shape;2986;g3f33445703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87" name="Google Shape;2987;g3f334457031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988" name="Google Shape;2988;g3f334457031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g3ee235a11d4_0_4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008" name="Google Shape;3008;g3ee235a11d4_0_45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009" name="Google Shape;3009;g3ee235a11d4_0_45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Google Shape;3023;g3ee235a11d4_0_4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024" name="Google Shape;3024;g3ee235a11d4_0_45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025" name="Google Shape;3025;g3ee235a11d4_0_45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g3ee235a11d4_0_4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048" name="Google Shape;3048;g3ee235a11d4_0_4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049" name="Google Shape;3049;g3ee235a11d4_0_45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080" name="Google Shape;308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081" name="Google Shape;308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0.png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28809" y="885957"/>
            <a:ext cx="408409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7583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78300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95847" y="2754156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21284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96211" y="334682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3371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13188461" y="44672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8134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29441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83345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917" y="499193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66586" y="2817907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66822" y="2925825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</a:t>
            </a:r>
            <a:r>
              <a:rPr lang="pt-BR" sz="3000" b="1" i="0" u="none" strike="noStrike" cap="none" dirty="0">
                <a:solidFill>
                  <a:srgbClr val="FF161F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professor</a:t>
            </a:r>
            <a:endParaRPr sz="1400" b="0" i="0" u="none" strike="noStrike" cap="none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6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dirty="0"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dirty="0"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dirty="0"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5_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3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3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dirty="0"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_3. Conteudo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6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5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4" name="Google Shape;684;p6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6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2_Título e Conteúdo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6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0" name="Google Shape;690;p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2_Atividade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7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7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6" name="Google Shape;696;p67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67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7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8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4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5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4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3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5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3_Title Only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2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7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4_Título e Conteúdo"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121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9" name="Google Shape;1209;p121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0" name="Google Shape;1210;p121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11" name="Google Shape;1211;p12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2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6_Atividade_Resposta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22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5" name="Google Shape;1215;p122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6" name="Google Shape;1216;p122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dirty="0"/>
          </a:p>
        </p:txBody>
      </p:sp>
      <p:sp>
        <p:nvSpPr>
          <p:cNvPr id="1217" name="Google Shape;1217;p122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dirty="0"/>
          </a:p>
        </p:txBody>
      </p:sp>
      <p:sp>
        <p:nvSpPr>
          <p:cNvPr id="1218" name="Google Shape;1218;p122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9" name="Google Shape;1219;p122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0" name="Google Shape;1220;p122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1" name="Google Shape;1221;p122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2" name="Google Shape;1222;p122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3" name="Google Shape;1223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22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5" name="Google Shape;1225;p122"/>
          <p:cNvSpPr/>
          <p:nvPr/>
        </p:nvSpPr>
        <p:spPr>
          <a:xfrm>
            <a:off x="4625052" y="1652486"/>
            <a:ext cx="613200" cy="417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26" name="Google Shape;1226;p122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122"/>
          <p:cNvSpPr/>
          <p:nvPr/>
        </p:nvSpPr>
        <p:spPr>
          <a:xfrm>
            <a:off x="9045782" y="1632977"/>
            <a:ext cx="450600" cy="44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28" name="Google Shape;1228;p1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9_Layout Personalizado"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23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23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dirty="0"/>
          </a:p>
        </p:txBody>
      </p:sp>
      <p:sp>
        <p:nvSpPr>
          <p:cNvPr id="1234" name="Google Shape;1234;p123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dirty="0"/>
          </a:p>
        </p:txBody>
      </p:sp>
      <p:sp>
        <p:nvSpPr>
          <p:cNvPr id="1235" name="Google Shape;1235;p123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dirty="0"/>
          </a:p>
        </p:txBody>
      </p:sp>
      <p:pic>
        <p:nvPicPr>
          <p:cNvPr id="1236" name="Google Shape;1236;p123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8_Layout Personalizado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p1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9" name="Google Shape;1239;p124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240" name="Google Shape;1240;p124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1" name="Google Shape;1241;p124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2" name="Google Shape;1242;p124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3" name="Google Shape;1243;p1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4" name="Google Shape;1244;p124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245" name="Google Shape;1245;p124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24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7" name="Google Shape;1247;p124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8" name="Google Shape;1248;p124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49" name="Google Shape;1249;p12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2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2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7_Layout Personalizado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4" name="Google Shape;1254;p125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55" name="Google Shape;1255;p12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2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2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8" name="Google Shape;1258;p125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25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</a:t>
            </a:r>
            <a:r>
              <a:rPr lang="pt-BR" sz="3000" b="1" i="0" u="none" strike="noStrike" cap="none" dirty="0">
                <a:solidFill>
                  <a:srgbClr val="FF161F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professor</a:t>
            </a:r>
            <a:endParaRPr dirty="0">
              <a:highlight>
                <a:srgbClr val="00FFFF"/>
              </a:highlight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5_Title Only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p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26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2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2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5" name="Google Shape;1265;p12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66" name="Google Shape;1266;p12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67" name="Google Shape;1267;p12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68" name="Google Shape;1268;p12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69" name="Google Shape;1269;p12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0" name="Google Shape;1270;p12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12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2" name="Google Shape;1272;p12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3" name="Google Shape;1273;p12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4" name="Google Shape;1274;p12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12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6" name="Google Shape;1276;p12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77" name="Google Shape;1277;p12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2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4_Title Only"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" name="Google Shape;1280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2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27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27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4" name="Google Shape;1284;p127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85" name="Google Shape;1285;p127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86" name="Google Shape;1286;p127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87" name="Google Shape;1287;p127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88" name="Google Shape;1288;p127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9" name="Google Shape;1289;p127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0" name="Google Shape;1290;p127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1" name="Google Shape;1291;p127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27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3" name="Google Shape;1293;p127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4" name="Google Shape;1294;p127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5" name="Google Shape;1295;p127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96" name="Google Shape;1296;p12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5_1. Conteudo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8" name="Google Shape;1298;p12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9" name="Google Shape;1299;p12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0" name="Google Shape;1300;p12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1" name="Google Shape;1301;p12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2" name="Google Shape;1302;p12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3" name="Google Shape;1303;p12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4" name="Google Shape;1304;p12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2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dirty="0"/>
          </a:p>
        </p:txBody>
      </p:sp>
      <p:sp>
        <p:nvSpPr>
          <p:cNvPr id="1306" name="Google Shape;1306;p12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7" name="Google Shape;1307;p12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8" name="Google Shape;1308;p12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9" name="Google Shape;1309;p12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10" name="Google Shape;1310;p12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311" name="Google Shape;1311;p1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2" name="Google Shape;1312;p128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3" name="Google Shape;1313;p12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4" name="Google Shape;1314;p1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2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12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8" name="Google Shape;1318;p12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319" name="Google Shape;1319;p12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320" name="Google Shape;1320;p12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2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2" name="Google Shape;1322;p12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2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2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5" name="Google Shape;1325;p12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6" name="Google Shape;1326;p1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2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8" name="Google Shape;1328;p12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329" name="Google Shape;1329;p12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0" name="Google Shape;1330;p12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331" name="Google Shape;1331;p12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2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2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2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2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2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7" name="Google Shape;1337;p12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12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9" name="Google Shape;1339;p12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340" name="Google Shape;1340;p12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341" name="Google Shape;1341;p12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12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2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4" name="Google Shape;1344;p12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2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4_1. Conteudo"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29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8" name="Google Shape;1348;p129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9" name="Google Shape;1349;p129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0" name="Google Shape;1350;p129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1" name="Google Shape;1351;p129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2" name="Google Shape;1352;p12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2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9_3. Conteudo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3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3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3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30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0" name="Google Shape;1360;p130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30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8_3. Conteudo"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3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3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3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31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8" name="Google Shape;1368;p131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9" name="Google Shape;1369;p13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13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7_3. Conteudo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3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13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13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3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7" name="Google Shape;1377;p13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8" name="Google Shape;1378;p13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9" name="Google Shape;1379;p13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0" name="Google Shape;1380;p13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3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6_3. Conteudo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3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13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3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133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8" name="Google Shape;1388;p133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9" name="Google Shape;1389;p133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33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1" name="Google Shape;1391;p13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13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5_3. Conteudo"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3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3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13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34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99" name="Google Shape;1399;p134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0" name="Google Shape;1400;p134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1" name="Google Shape;1401;p13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3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4_3. Conteudo"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3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3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3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35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9" name="Google Shape;1409;p135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0" name="Google Shape;1410;p13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3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3_Título e Conteúdo"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" name="Google Shape;1576;p1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5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9" name="Google Shape;1579;p15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0" name="Google Shape;1580;p15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1" name="Google Shape;1581;p1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1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11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michoca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10_Layout Personalizado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7" name="Google Shape;1867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8" name="Google Shape;1868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69" name="Google Shape;1869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0" name="Google Shape;1870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1" name="Google Shape;1871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2" name="Google Shape;1872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3" name="Google Shape;1873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4" name="Google Shape;1874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6" name="Google Shape;1876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7" name="Google Shape;1877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8" name="Google Shape;1878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4_Atividade_embranco"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83" name="Google Shape;1883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7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6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5_3. Conteudo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6_1. Conteudo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4_3. Conteudo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3_3. Conteudo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2_3. Conteudo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1_3. Conteudo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0_3. Conteudo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6_Title Only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5_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0F2ED3E9-3B0B-E370-C738-4D436A14D45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9" name="Retângulo: Cantos Arredondados 3">
            <a:extLst>
              <a:ext uri="{FF2B5EF4-FFF2-40B4-BE49-F238E27FC236}">
                <a16:creationId xmlns:a16="http://schemas.microsoft.com/office/drawing/2014/main" id="{7CC1D952-1166-6C93-14FA-DD03A2DF1C31}"/>
              </a:ext>
            </a:extLst>
          </p:cNvPr>
          <p:cNvSpPr/>
          <p:nvPr userDrawn="1"/>
        </p:nvSpPr>
        <p:spPr>
          <a:xfrm>
            <a:off x="5802699" y="1543035"/>
            <a:ext cx="4205858" cy="3044205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CF524BA5-8A5B-145B-7D69-2189A7ECA0A4}"/>
              </a:ext>
            </a:extLst>
          </p:cNvPr>
          <p:cNvSpPr txBox="1"/>
          <p:nvPr userDrawn="1"/>
        </p:nvSpPr>
        <p:spPr>
          <a:xfrm>
            <a:off x="2149362" y="2398780"/>
            <a:ext cx="3401671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0"/>
              </a:lnSpc>
            </a:pPr>
            <a:r>
              <a:rPr lang="pt-BR" sz="4266" noProof="0" dirty="0">
                <a:solidFill>
                  <a:srgbClr val="000000"/>
                </a:solidFill>
                <a:latin typeface="Poppins Bold"/>
              </a:rPr>
              <a:t>Educação Profissional Paulista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9264B19-EABE-E980-0382-F7985FB1FC39}"/>
              </a:ext>
            </a:extLst>
          </p:cNvPr>
          <p:cNvSpPr txBox="1"/>
          <p:nvPr userDrawn="1"/>
        </p:nvSpPr>
        <p:spPr>
          <a:xfrm>
            <a:off x="6069602" y="2317274"/>
            <a:ext cx="3578455" cy="5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4"/>
              </a:lnSpc>
            </a:pPr>
            <a:r>
              <a:rPr lang="pt-BR" sz="3334" noProof="0" dirty="0">
                <a:solidFill>
                  <a:srgbClr val="FFFFFF"/>
                </a:solidFill>
                <a:latin typeface="Poppins Light"/>
              </a:rPr>
              <a:t>Técnico em 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5DA0742F-07B8-18A9-5702-8DC154501EFB}"/>
              </a:ext>
            </a:extLst>
          </p:cNvPr>
          <p:cNvSpPr txBox="1"/>
          <p:nvPr userDrawn="1"/>
        </p:nvSpPr>
        <p:spPr>
          <a:xfrm>
            <a:off x="6116400" y="2896479"/>
            <a:ext cx="3673776" cy="964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133" noProof="0" dirty="0">
                <a:solidFill>
                  <a:srgbClr val="FFFFFF"/>
                </a:solidFill>
                <a:latin typeface="Poppins Bold"/>
              </a:rPr>
              <a:t>Desenvolvimento de Sistemas</a:t>
            </a:r>
          </a:p>
        </p:txBody>
      </p:sp>
      <p:pic>
        <p:nvPicPr>
          <p:cNvPr id="11" name="Imagem 10" descr="Logotipo&#10;&#10;O conteúdo gerado por IA pode estar incorreto.">
            <a:extLst>
              <a:ext uri="{FF2B5EF4-FFF2-40B4-BE49-F238E27FC236}">
                <a16:creationId xmlns:a16="http://schemas.microsoft.com/office/drawing/2014/main" id="{4F5C8B44-C3C6-1021-4D77-EB86366D03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28111" y="5385674"/>
            <a:ext cx="2535779" cy="1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6142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userDrawn="1">
  <p:cSld name="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;p2">
            <a:extLst>
              <a:ext uri="{FF2B5EF4-FFF2-40B4-BE49-F238E27FC236}">
                <a16:creationId xmlns:a16="http://schemas.microsoft.com/office/drawing/2014/main" id="{4C9EA7A8-7A7F-3A54-B031-557E31495A30}"/>
              </a:ext>
            </a:extLst>
          </p:cNvPr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83;p33">
            <a:extLst>
              <a:ext uri="{FF2B5EF4-FFF2-40B4-BE49-F238E27FC236}">
                <a16:creationId xmlns:a16="http://schemas.microsoft.com/office/drawing/2014/main" id="{1B9B72B3-BE34-1E22-F0B8-80E7F50DF0D4}"/>
              </a:ext>
            </a:extLst>
          </p:cNvPr>
          <p:cNvGrpSpPr/>
          <p:nvPr userDrawn="1"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8" name="Google Shape;84;p33">
              <a:extLst>
                <a:ext uri="{FF2B5EF4-FFF2-40B4-BE49-F238E27FC236}">
                  <a16:creationId xmlns:a16="http://schemas.microsoft.com/office/drawing/2014/main" id="{5568C5A0-658B-B802-5C17-0029C1F08820}"/>
                </a:ext>
              </a:extLst>
            </p:cNvPr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85;p33" descr="Logotipo">
              <a:extLst>
                <a:ext uri="{FF2B5EF4-FFF2-40B4-BE49-F238E27FC236}">
                  <a16:creationId xmlns:a16="http://schemas.microsoft.com/office/drawing/2014/main" id="{C92A5EE0-539C-017F-81BF-96A1619628CB}"/>
                </a:ext>
              </a:extLst>
            </p:cNvPr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753BE2-99F0-4892-173B-5CB027D775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pic>
        <p:nvPicPr>
          <p:cNvPr id="3" name="Google Shape;11;p2">
            <a:extLst>
              <a:ext uri="{FF2B5EF4-FFF2-40B4-BE49-F238E27FC236}">
                <a16:creationId xmlns:a16="http://schemas.microsoft.com/office/drawing/2014/main" id="{53B9E2B5-FF7E-5C60-C6BF-5DFD361D5B2F}"/>
              </a:ext>
            </a:extLst>
          </p:cNvPr>
          <p:cNvPicPr preferRelativeResize="0"/>
          <p:nvPr userDrawn="1"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947B6035-9C8C-3ED9-9931-1734DCC7C153}"/>
              </a:ext>
            </a:extLst>
          </p:cNvPr>
          <p:cNvGrpSpPr/>
          <p:nvPr userDrawn="1"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11" name="Retângulo: Cantos Superiores Arredondados 9">
              <a:extLst>
                <a:ext uri="{FF2B5EF4-FFF2-40B4-BE49-F238E27FC236}">
                  <a16:creationId xmlns:a16="http://schemas.microsoft.com/office/drawing/2014/main" id="{B625DE49-D3F4-0406-EEB5-1895BC22FBAC}"/>
                </a:ext>
              </a:extLst>
            </p:cNvPr>
            <p:cNvSpPr/>
            <p:nvPr userDrawn="1"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6E13A53-AB4D-866A-ACCA-E9396618A0B7}"/>
                </a:ext>
              </a:extLst>
            </p:cNvPr>
            <p:cNvSpPr/>
            <p:nvPr userDrawn="1"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7360E7C6-0550-3148-4C90-E4FEFA55231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4930" y="6126882"/>
            <a:ext cx="1539046" cy="696429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EC23767-7EBB-0795-6222-049F575BFADB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CF688CE9-2222-9643-79A3-865B04791997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Retângulo: Cantos Arredondados 15">
              <a:extLst>
                <a:ext uri="{FF2B5EF4-FFF2-40B4-BE49-F238E27FC236}">
                  <a16:creationId xmlns:a16="http://schemas.microsoft.com/office/drawing/2014/main" id="{AD46DB0E-F61D-37D0-5BE0-8E57ECB99598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5135B56B-2CDE-61DC-C189-F97CDBF099F2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04560597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preserve="1" userDrawn="1">
  <p:cSld name="1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1;p2">
            <a:extLst>
              <a:ext uri="{FF2B5EF4-FFF2-40B4-BE49-F238E27FC236}">
                <a16:creationId xmlns:a16="http://schemas.microsoft.com/office/drawing/2014/main" id="{77E05663-AB1C-A199-095D-DA44AEA9F0F5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B6D9DC3-4BFB-F2BF-AED8-6AF0D1F421DD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563FA86F-78DE-05DC-AB34-0A9D9887A9A4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Retângulo: Cantos Arredondados 9">
              <a:extLst>
                <a:ext uri="{FF2B5EF4-FFF2-40B4-BE49-F238E27FC236}">
                  <a16:creationId xmlns:a16="http://schemas.microsoft.com/office/drawing/2014/main" id="{0D675876-35FC-1B3E-9F83-8AC3B730E95D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D087E027-F4A9-5D18-0D41-D842A0A0536D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753BE2-99F0-4892-173B-5CB027D775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2" name="Google Shape;643;p43">
            <a:extLst>
              <a:ext uri="{FF2B5EF4-FFF2-40B4-BE49-F238E27FC236}">
                <a16:creationId xmlns:a16="http://schemas.microsoft.com/office/drawing/2014/main" id="{C48BB9E0-E4E1-D9BE-BCF0-CCC4171FA07E}"/>
              </a:ext>
            </a:extLst>
          </p:cNvPr>
          <p:cNvSpPr txBox="1">
            <a:spLocks/>
          </p:cNvSpPr>
          <p:nvPr userDrawn="1"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000" dirty="0">
                <a:solidFill>
                  <a:srgbClr val="FF161F"/>
                </a:solidFill>
              </a:rPr>
              <a:t>Orientações ao </a:t>
            </a:r>
            <a:r>
              <a:rPr lang="pt-BR" sz="3000" dirty="0">
                <a:solidFill>
                  <a:srgbClr val="FF161F"/>
                </a:solidFill>
                <a:highlight>
                  <a:srgbClr val="00FFFF"/>
                </a:highlight>
              </a:rPr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59211241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64;p15">
            <a:extLst>
              <a:ext uri="{FF2B5EF4-FFF2-40B4-BE49-F238E27FC236}">
                <a16:creationId xmlns:a16="http://schemas.microsoft.com/office/drawing/2014/main" id="{D4FA8159-1286-3A5C-581E-5918EDEC5F73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4394FAF7-9015-AB5C-C57E-671B52B293B4}"/>
              </a:ext>
            </a:extLst>
          </p:cNvPr>
          <p:cNvSpPr/>
          <p:nvPr userDrawn="1"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4EF9377-0BC9-8D48-6EB4-411B8F209D6B}"/>
              </a:ext>
            </a:extLst>
          </p:cNvPr>
          <p:cNvSpPr txBox="1"/>
          <p:nvPr userDrawn="1"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6" name="Espaço Reservado para Texto 47">
            <a:extLst>
              <a:ext uri="{FF2B5EF4-FFF2-40B4-BE49-F238E27FC236}">
                <a16:creationId xmlns:a16="http://schemas.microsoft.com/office/drawing/2014/main" id="{755FA726-716F-3542-967C-F40E41D892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1" name="Espaço Reservado para Texto 43">
            <a:extLst>
              <a:ext uri="{FF2B5EF4-FFF2-40B4-BE49-F238E27FC236}">
                <a16:creationId xmlns:a16="http://schemas.microsoft.com/office/drawing/2014/main" id="{6DD254E5-84C4-DE1C-878B-C1F0C6EF46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</p:spPr>
        <p:txBody>
          <a:bodyPr/>
          <a:lstStyle>
            <a:lvl1pPr>
              <a:defRPr sz="16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cxnSp>
        <p:nvCxnSpPr>
          <p:cNvPr id="19" name="Google Shape;88;p34">
            <a:extLst>
              <a:ext uri="{FF2B5EF4-FFF2-40B4-BE49-F238E27FC236}">
                <a16:creationId xmlns:a16="http://schemas.microsoft.com/office/drawing/2014/main" id="{FE1D9FC3-6D9B-B93D-3FC4-EED1DE367639}"/>
              </a:ext>
            </a:extLst>
          </p:cNvPr>
          <p:cNvCxnSpPr/>
          <p:nvPr userDrawn="1"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1" name="Espaço Reservado para Imagem 19">
            <a:extLst>
              <a:ext uri="{FF2B5EF4-FFF2-40B4-BE49-F238E27FC236}">
                <a16:creationId xmlns:a16="http://schemas.microsoft.com/office/drawing/2014/main" id="{48C9A844-3232-91D6-F1BE-08A05DAF5A99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sz="800" dirty="0"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32" name="Espaço Reservado para Imagem 19">
            <a:extLst>
              <a:ext uri="{FF2B5EF4-FFF2-40B4-BE49-F238E27FC236}">
                <a16:creationId xmlns:a16="http://schemas.microsoft.com/office/drawing/2014/main" id="{52DA6ED4-41B5-4B53-F858-DAE25D5EF81D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sz="800" dirty="0"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33" name="Espaço Reservado para Texto 39">
            <a:extLst>
              <a:ext uri="{FF2B5EF4-FFF2-40B4-BE49-F238E27FC236}">
                <a16:creationId xmlns:a16="http://schemas.microsoft.com/office/drawing/2014/main" id="{2FE83759-B294-5EDA-9E23-31B986610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latin typeface="Poppins" pitchFamily="2" charset="77"/>
                <a:cs typeface="Poppins" pitchFamily="2" charset="77"/>
              </a:defRPr>
            </a:lvl1pPr>
            <a:lvl2pPr>
              <a:defRPr sz="800" b="0" i="0">
                <a:latin typeface="Poppins" pitchFamily="2" charset="77"/>
                <a:cs typeface="Poppins" pitchFamily="2" charset="77"/>
              </a:defRPr>
            </a:lvl2pPr>
            <a:lvl3pPr>
              <a:defRPr sz="800" b="0" i="0">
                <a:latin typeface="Poppins" pitchFamily="2" charset="77"/>
                <a:cs typeface="Poppins" pitchFamily="2" charset="77"/>
              </a:defRPr>
            </a:lvl3pPr>
            <a:lvl4pPr>
              <a:defRPr sz="800" b="0" i="0">
                <a:latin typeface="Poppins" pitchFamily="2" charset="77"/>
                <a:cs typeface="Poppins" pitchFamily="2" charset="77"/>
              </a:defRPr>
            </a:lvl4pPr>
            <a:lvl5pPr>
              <a:defRPr sz="8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34" name="Espaço Reservado para Texto 39">
            <a:extLst>
              <a:ext uri="{FF2B5EF4-FFF2-40B4-BE49-F238E27FC236}">
                <a16:creationId xmlns:a16="http://schemas.microsoft.com/office/drawing/2014/main" id="{5D113CEF-E91F-7BB5-0DA4-3F865EFA80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latin typeface="Poppins" pitchFamily="2" charset="77"/>
                <a:cs typeface="Poppins" pitchFamily="2" charset="77"/>
              </a:defRPr>
            </a:lvl1pPr>
            <a:lvl2pPr>
              <a:defRPr sz="800" b="0" i="0">
                <a:latin typeface="Poppins" pitchFamily="2" charset="77"/>
                <a:cs typeface="Poppins" pitchFamily="2" charset="77"/>
              </a:defRPr>
            </a:lvl2pPr>
            <a:lvl3pPr>
              <a:defRPr sz="800" b="0" i="0">
                <a:latin typeface="Poppins" pitchFamily="2" charset="77"/>
                <a:cs typeface="Poppins" pitchFamily="2" charset="77"/>
              </a:defRPr>
            </a:lvl3pPr>
            <a:lvl4pPr>
              <a:defRPr sz="800" b="0" i="0">
                <a:latin typeface="Poppins" pitchFamily="2" charset="77"/>
                <a:cs typeface="Poppins" pitchFamily="2" charset="77"/>
              </a:defRPr>
            </a:lvl4pPr>
            <a:lvl5pPr>
              <a:defRPr sz="8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35" name="Espaço Reservado para Texto 39">
            <a:extLst>
              <a:ext uri="{FF2B5EF4-FFF2-40B4-BE49-F238E27FC236}">
                <a16:creationId xmlns:a16="http://schemas.microsoft.com/office/drawing/2014/main" id="{81D97A29-A43A-170D-D98B-E1396C280A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latin typeface="Poppins" pitchFamily="2" charset="77"/>
                <a:cs typeface="Poppins" pitchFamily="2" charset="77"/>
              </a:defRPr>
            </a:lvl1pPr>
            <a:lvl2pPr>
              <a:defRPr sz="800" b="0" i="0">
                <a:latin typeface="Poppins" pitchFamily="2" charset="77"/>
                <a:cs typeface="Poppins" pitchFamily="2" charset="77"/>
              </a:defRPr>
            </a:lvl2pPr>
            <a:lvl3pPr>
              <a:defRPr sz="800" b="0" i="0">
                <a:latin typeface="Poppins" pitchFamily="2" charset="77"/>
                <a:cs typeface="Poppins" pitchFamily="2" charset="77"/>
              </a:defRPr>
            </a:lvl3pPr>
            <a:lvl4pPr>
              <a:defRPr sz="800" b="0" i="0">
                <a:latin typeface="Poppins" pitchFamily="2" charset="77"/>
                <a:cs typeface="Poppins" pitchFamily="2" charset="77"/>
              </a:defRPr>
            </a:lvl4pPr>
            <a:lvl5pPr>
              <a:defRPr sz="8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36" name="Espaço Reservado para Texto 43">
            <a:extLst>
              <a:ext uri="{FF2B5EF4-FFF2-40B4-BE49-F238E27FC236}">
                <a16:creationId xmlns:a16="http://schemas.microsoft.com/office/drawing/2014/main" id="{5D05F607-E546-6AD2-FF93-2136D2F7DD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</p:spPr>
        <p:txBody>
          <a:bodyPr/>
          <a:lstStyle>
            <a:lvl1pPr>
              <a:defRPr sz="16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37" name="Espaço Reservado para Texto 43">
            <a:extLst>
              <a:ext uri="{FF2B5EF4-FFF2-40B4-BE49-F238E27FC236}">
                <a16:creationId xmlns:a16="http://schemas.microsoft.com/office/drawing/2014/main" id="{BA3CB418-19BF-ECFB-4717-B021F57B43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</p:spPr>
        <p:txBody>
          <a:bodyPr/>
          <a:lstStyle>
            <a:lvl1pPr>
              <a:defRPr sz="16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38" name="Espaço Reservado para Texto 47">
            <a:extLst>
              <a:ext uri="{FF2B5EF4-FFF2-40B4-BE49-F238E27FC236}">
                <a16:creationId xmlns:a16="http://schemas.microsoft.com/office/drawing/2014/main" id="{9C3691FD-77E0-0118-DDDB-AB5B29DDED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39" name="Espaço Reservado para Texto 47">
            <a:extLst>
              <a:ext uri="{FF2B5EF4-FFF2-40B4-BE49-F238E27FC236}">
                <a16:creationId xmlns:a16="http://schemas.microsoft.com/office/drawing/2014/main" id="{BE35D090-5B46-6B7E-65CC-038E7D55EC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40" name="Espaço Reservado para Imagem 19">
            <a:extLst>
              <a:ext uri="{FF2B5EF4-FFF2-40B4-BE49-F238E27FC236}">
                <a16:creationId xmlns:a16="http://schemas.microsoft.com/office/drawing/2014/main" id="{319C1E82-707A-75C5-9E1C-C580DB68724F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sz="800" dirty="0"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23" name="Retângulo: Cantos Arredondados 1">
            <a:extLst>
              <a:ext uri="{FF2B5EF4-FFF2-40B4-BE49-F238E27FC236}">
                <a16:creationId xmlns:a16="http://schemas.microsoft.com/office/drawing/2014/main" id="{D47EF3E3-16D5-3ED8-6072-0E62127BAA0C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Google Shape;101;p34">
            <a:extLst>
              <a:ext uri="{FF2B5EF4-FFF2-40B4-BE49-F238E27FC236}">
                <a16:creationId xmlns:a16="http://schemas.microsoft.com/office/drawing/2014/main" id="{5750F89C-DC88-41CD-70E8-C54E423FCA18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54073893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1_Title 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64;p15">
            <a:extLst>
              <a:ext uri="{FF2B5EF4-FFF2-40B4-BE49-F238E27FC236}">
                <a16:creationId xmlns:a16="http://schemas.microsoft.com/office/drawing/2014/main" id="{EB3371DA-4825-1CFC-D867-739938BF0F81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Retângulo: Cantos Arredondados 1">
            <a:extLst>
              <a:ext uri="{FF2B5EF4-FFF2-40B4-BE49-F238E27FC236}">
                <a16:creationId xmlns:a16="http://schemas.microsoft.com/office/drawing/2014/main" id="{D47EF3E3-16D5-3ED8-6072-0E62127BAA0C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4EF9377-0BC9-8D48-6EB4-411B8F209D6B}"/>
              </a:ext>
            </a:extLst>
          </p:cNvPr>
          <p:cNvSpPr txBox="1"/>
          <p:nvPr userDrawn="1"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6" name="Espaço Reservado para Texto 47">
            <a:extLst>
              <a:ext uri="{FF2B5EF4-FFF2-40B4-BE49-F238E27FC236}">
                <a16:creationId xmlns:a16="http://schemas.microsoft.com/office/drawing/2014/main" id="{755FA726-716F-3542-967C-F40E41D892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1" name="Espaço Reservado para Texto 43">
            <a:extLst>
              <a:ext uri="{FF2B5EF4-FFF2-40B4-BE49-F238E27FC236}">
                <a16:creationId xmlns:a16="http://schemas.microsoft.com/office/drawing/2014/main" id="{6DD254E5-84C4-DE1C-878B-C1F0C6EF46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</p:spPr>
        <p:txBody>
          <a:bodyPr/>
          <a:lstStyle>
            <a:lvl1pPr>
              <a:defRPr sz="16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cxnSp>
        <p:nvCxnSpPr>
          <p:cNvPr id="19" name="Google Shape;88;p34">
            <a:extLst>
              <a:ext uri="{FF2B5EF4-FFF2-40B4-BE49-F238E27FC236}">
                <a16:creationId xmlns:a16="http://schemas.microsoft.com/office/drawing/2014/main" id="{FE1D9FC3-6D9B-B93D-3FC4-EED1DE367639}"/>
              </a:ext>
            </a:extLst>
          </p:cNvPr>
          <p:cNvCxnSpPr/>
          <p:nvPr userDrawn="1"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1" name="Espaço Reservado para Imagem 19">
            <a:extLst>
              <a:ext uri="{FF2B5EF4-FFF2-40B4-BE49-F238E27FC236}">
                <a16:creationId xmlns:a16="http://schemas.microsoft.com/office/drawing/2014/main" id="{48C9A844-3232-91D6-F1BE-08A05DAF5A99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sz="800" dirty="0"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32" name="Espaço Reservado para Imagem 19">
            <a:extLst>
              <a:ext uri="{FF2B5EF4-FFF2-40B4-BE49-F238E27FC236}">
                <a16:creationId xmlns:a16="http://schemas.microsoft.com/office/drawing/2014/main" id="{52DA6ED4-41B5-4B53-F858-DAE25D5EF81D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sz="800" dirty="0"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33" name="Espaço Reservado para Texto 39">
            <a:extLst>
              <a:ext uri="{FF2B5EF4-FFF2-40B4-BE49-F238E27FC236}">
                <a16:creationId xmlns:a16="http://schemas.microsoft.com/office/drawing/2014/main" id="{2FE83759-B294-5EDA-9E23-31B986610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latin typeface="Poppins" pitchFamily="2" charset="77"/>
                <a:cs typeface="Poppins" pitchFamily="2" charset="77"/>
              </a:defRPr>
            </a:lvl1pPr>
            <a:lvl2pPr>
              <a:defRPr sz="800" b="0" i="0">
                <a:latin typeface="Poppins" pitchFamily="2" charset="77"/>
                <a:cs typeface="Poppins" pitchFamily="2" charset="77"/>
              </a:defRPr>
            </a:lvl2pPr>
            <a:lvl3pPr>
              <a:defRPr sz="800" b="0" i="0">
                <a:latin typeface="Poppins" pitchFamily="2" charset="77"/>
                <a:cs typeface="Poppins" pitchFamily="2" charset="77"/>
              </a:defRPr>
            </a:lvl3pPr>
            <a:lvl4pPr>
              <a:defRPr sz="800" b="0" i="0">
                <a:latin typeface="Poppins" pitchFamily="2" charset="77"/>
                <a:cs typeface="Poppins" pitchFamily="2" charset="77"/>
              </a:defRPr>
            </a:lvl4pPr>
            <a:lvl5pPr>
              <a:defRPr sz="8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34" name="Espaço Reservado para Texto 39">
            <a:extLst>
              <a:ext uri="{FF2B5EF4-FFF2-40B4-BE49-F238E27FC236}">
                <a16:creationId xmlns:a16="http://schemas.microsoft.com/office/drawing/2014/main" id="{5D113CEF-E91F-7BB5-0DA4-3F865EFA80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latin typeface="Poppins" pitchFamily="2" charset="77"/>
                <a:cs typeface="Poppins" pitchFamily="2" charset="77"/>
              </a:defRPr>
            </a:lvl1pPr>
            <a:lvl2pPr>
              <a:defRPr sz="800" b="0" i="0">
                <a:latin typeface="Poppins" pitchFamily="2" charset="77"/>
                <a:cs typeface="Poppins" pitchFamily="2" charset="77"/>
              </a:defRPr>
            </a:lvl2pPr>
            <a:lvl3pPr>
              <a:defRPr sz="800" b="0" i="0">
                <a:latin typeface="Poppins" pitchFamily="2" charset="77"/>
                <a:cs typeface="Poppins" pitchFamily="2" charset="77"/>
              </a:defRPr>
            </a:lvl3pPr>
            <a:lvl4pPr>
              <a:defRPr sz="800" b="0" i="0">
                <a:latin typeface="Poppins" pitchFamily="2" charset="77"/>
                <a:cs typeface="Poppins" pitchFamily="2" charset="77"/>
              </a:defRPr>
            </a:lvl4pPr>
            <a:lvl5pPr>
              <a:defRPr sz="8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35" name="Espaço Reservado para Texto 39">
            <a:extLst>
              <a:ext uri="{FF2B5EF4-FFF2-40B4-BE49-F238E27FC236}">
                <a16:creationId xmlns:a16="http://schemas.microsoft.com/office/drawing/2014/main" id="{81D97A29-A43A-170D-D98B-E1396C280A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latin typeface="Poppins" pitchFamily="2" charset="77"/>
                <a:cs typeface="Poppins" pitchFamily="2" charset="77"/>
              </a:defRPr>
            </a:lvl1pPr>
            <a:lvl2pPr>
              <a:defRPr sz="800" b="0" i="0">
                <a:latin typeface="Poppins" pitchFamily="2" charset="77"/>
                <a:cs typeface="Poppins" pitchFamily="2" charset="77"/>
              </a:defRPr>
            </a:lvl2pPr>
            <a:lvl3pPr>
              <a:defRPr sz="800" b="0" i="0">
                <a:latin typeface="Poppins" pitchFamily="2" charset="77"/>
                <a:cs typeface="Poppins" pitchFamily="2" charset="77"/>
              </a:defRPr>
            </a:lvl3pPr>
            <a:lvl4pPr>
              <a:defRPr sz="800" b="0" i="0">
                <a:latin typeface="Poppins" pitchFamily="2" charset="77"/>
                <a:cs typeface="Poppins" pitchFamily="2" charset="77"/>
              </a:defRPr>
            </a:lvl4pPr>
            <a:lvl5pPr>
              <a:defRPr sz="8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36" name="Espaço Reservado para Texto 43">
            <a:extLst>
              <a:ext uri="{FF2B5EF4-FFF2-40B4-BE49-F238E27FC236}">
                <a16:creationId xmlns:a16="http://schemas.microsoft.com/office/drawing/2014/main" id="{5D05F607-E546-6AD2-FF93-2136D2F7DD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</p:spPr>
        <p:txBody>
          <a:bodyPr/>
          <a:lstStyle>
            <a:lvl1pPr>
              <a:defRPr sz="16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37" name="Espaço Reservado para Texto 43">
            <a:extLst>
              <a:ext uri="{FF2B5EF4-FFF2-40B4-BE49-F238E27FC236}">
                <a16:creationId xmlns:a16="http://schemas.microsoft.com/office/drawing/2014/main" id="{BA3CB418-19BF-ECFB-4717-B021F57B43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</p:spPr>
        <p:txBody>
          <a:bodyPr/>
          <a:lstStyle>
            <a:lvl1pPr>
              <a:defRPr sz="16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38" name="Espaço Reservado para Texto 47">
            <a:extLst>
              <a:ext uri="{FF2B5EF4-FFF2-40B4-BE49-F238E27FC236}">
                <a16:creationId xmlns:a16="http://schemas.microsoft.com/office/drawing/2014/main" id="{9C3691FD-77E0-0118-DDDB-AB5B29DDED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39" name="Espaço Reservado para Texto 47">
            <a:extLst>
              <a:ext uri="{FF2B5EF4-FFF2-40B4-BE49-F238E27FC236}">
                <a16:creationId xmlns:a16="http://schemas.microsoft.com/office/drawing/2014/main" id="{BE35D090-5B46-6B7E-65CC-038E7D55EC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40" name="Espaço Reservado para Imagem 19">
            <a:extLst>
              <a:ext uri="{FF2B5EF4-FFF2-40B4-BE49-F238E27FC236}">
                <a16:creationId xmlns:a16="http://schemas.microsoft.com/office/drawing/2014/main" id="{319C1E82-707A-75C5-9E1C-C580DB68724F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sz="800" dirty="0"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2" name="Google Shape;82;p33">
            <a:extLst>
              <a:ext uri="{FF2B5EF4-FFF2-40B4-BE49-F238E27FC236}">
                <a16:creationId xmlns:a16="http://schemas.microsoft.com/office/drawing/2014/main" id="{1A7F9BD1-8326-1167-7309-CF93D683D428}"/>
              </a:ext>
            </a:extLst>
          </p:cNvPr>
          <p:cNvSpPr txBox="1"/>
          <p:nvPr userDrawn="1"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Prática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2332736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 preserve="1" userDrawn="1">
  <p:cSld name="1_1. Conteu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to 136">
            <a:extLst>
              <a:ext uri="{FF2B5EF4-FFF2-40B4-BE49-F238E27FC236}">
                <a16:creationId xmlns:a16="http://schemas.microsoft.com/office/drawing/2014/main" id="{28ED8E59-867A-4118-491D-688DDC058D38}"/>
              </a:ext>
            </a:extLst>
          </p:cNvPr>
          <p:cNvCxnSpPr/>
          <p:nvPr userDrawn="1"/>
        </p:nvCxnSpPr>
        <p:spPr>
          <a:xfrm>
            <a:off x="6090044" y="840916"/>
            <a:ext cx="0" cy="5101049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31">
            <a:extLst>
              <a:ext uri="{FF2B5EF4-FFF2-40B4-BE49-F238E27FC236}">
                <a16:creationId xmlns:a16="http://schemas.microsoft.com/office/drawing/2014/main" id="{FB7070B6-E757-A6E0-8016-A32842AE691E}"/>
              </a:ext>
            </a:extLst>
          </p:cNvPr>
          <p:cNvSpPr txBox="1"/>
          <p:nvPr userDrawn="1"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29;p31">
            <a:extLst>
              <a:ext uri="{FF2B5EF4-FFF2-40B4-BE49-F238E27FC236}">
                <a16:creationId xmlns:a16="http://schemas.microsoft.com/office/drawing/2014/main" id="{741C94F6-1F01-E259-385F-4E743D12E89E}"/>
              </a:ext>
            </a:extLst>
          </p:cNvPr>
          <p:cNvSpPr txBox="1"/>
          <p:nvPr userDrawn="1"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lang="pt-BR"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27;p31">
            <a:extLst>
              <a:ext uri="{FF2B5EF4-FFF2-40B4-BE49-F238E27FC236}">
                <a16:creationId xmlns:a16="http://schemas.microsoft.com/office/drawing/2014/main" id="{D3A1B340-B3C1-6E5A-098C-780E2B17C68B}"/>
              </a:ext>
            </a:extLst>
          </p:cNvPr>
          <p:cNvSpPr txBox="1"/>
          <p:nvPr userDrawn="1"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28;p31">
            <a:extLst>
              <a:ext uri="{FF2B5EF4-FFF2-40B4-BE49-F238E27FC236}">
                <a16:creationId xmlns:a16="http://schemas.microsoft.com/office/drawing/2014/main" id="{5B559A0E-AD04-115A-BF39-7DBA374B9335}"/>
              </a:ext>
            </a:extLst>
          </p:cNvPr>
          <p:cNvSpPr txBox="1"/>
          <p:nvPr userDrawn="1"/>
        </p:nvSpPr>
        <p:spPr>
          <a:xfrm>
            <a:off x="1445466" y="4649652"/>
            <a:ext cx="3267249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29;p31">
            <a:extLst>
              <a:ext uri="{FF2B5EF4-FFF2-40B4-BE49-F238E27FC236}">
                <a16:creationId xmlns:a16="http://schemas.microsoft.com/office/drawing/2014/main" id="{EE47DDFB-5B6D-7333-B980-89821CD5C453}"/>
              </a:ext>
            </a:extLst>
          </p:cNvPr>
          <p:cNvSpPr txBox="1"/>
          <p:nvPr userDrawn="1"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lang="pt-BR"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0945717-DA64-748C-A1D1-9DD06F304E75}"/>
              </a:ext>
            </a:extLst>
          </p:cNvPr>
          <p:cNvSpPr txBox="1"/>
          <p:nvPr userDrawn="1"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56" name="Google Shape;359;p5">
            <a:extLst>
              <a:ext uri="{FF2B5EF4-FFF2-40B4-BE49-F238E27FC236}">
                <a16:creationId xmlns:a16="http://schemas.microsoft.com/office/drawing/2014/main" id="{0B37A977-D54F-7CA4-065E-4F5646195719}"/>
              </a:ext>
            </a:extLst>
          </p:cNvPr>
          <p:cNvSpPr txBox="1"/>
          <p:nvPr userDrawn="1"/>
        </p:nvSpPr>
        <p:spPr>
          <a:xfrm>
            <a:off x="1395562" y="50794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50 minutos.</a:t>
            </a:r>
          </a:p>
        </p:txBody>
      </p:sp>
      <p:sp>
        <p:nvSpPr>
          <p:cNvPr id="57" name="Espaço Reservado para Texto 7">
            <a:extLst>
              <a:ext uri="{FF2B5EF4-FFF2-40B4-BE49-F238E27FC236}">
                <a16:creationId xmlns:a16="http://schemas.microsoft.com/office/drawing/2014/main" id="{9D3B3D7B-3AB2-D2E0-42C8-BEE1A273F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chemeClr val="tx1"/>
              </a:buClr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8" name="Espaço Reservado para Texto 7">
            <a:extLst>
              <a:ext uri="{FF2B5EF4-FFF2-40B4-BE49-F238E27FC236}">
                <a16:creationId xmlns:a16="http://schemas.microsoft.com/office/drawing/2014/main" id="{2B4474D7-F7C1-8A04-F7F3-06AE90E02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9" name="Espaço Reservado para Texto 7">
            <a:extLst>
              <a:ext uri="{FF2B5EF4-FFF2-40B4-BE49-F238E27FC236}">
                <a16:creationId xmlns:a16="http://schemas.microsoft.com/office/drawing/2014/main" id="{750A0485-F79D-BB58-9F3F-FA9A89265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0" name="Espaço Reservado para Texto 7">
            <a:extLst>
              <a:ext uri="{FF2B5EF4-FFF2-40B4-BE49-F238E27FC236}">
                <a16:creationId xmlns:a16="http://schemas.microsoft.com/office/drawing/2014/main" id="{E690A38C-21A5-1DD3-8FD9-05A05F954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grpSp>
        <p:nvGrpSpPr>
          <p:cNvPr id="2" name="Google Shape;83;p33">
            <a:extLst>
              <a:ext uri="{FF2B5EF4-FFF2-40B4-BE49-F238E27FC236}">
                <a16:creationId xmlns:a16="http://schemas.microsoft.com/office/drawing/2014/main" id="{FF512FB2-2E7B-52F3-1924-A994B1E3F0B6}"/>
              </a:ext>
            </a:extLst>
          </p:cNvPr>
          <p:cNvGrpSpPr/>
          <p:nvPr userDrawn="1"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3" name="Google Shape;84;p33">
              <a:extLst>
                <a:ext uri="{FF2B5EF4-FFF2-40B4-BE49-F238E27FC236}">
                  <a16:creationId xmlns:a16="http://schemas.microsoft.com/office/drawing/2014/main" id="{A115E591-873A-3756-60BB-8FB1A41B8765}"/>
                </a:ext>
              </a:extLst>
            </p:cNvPr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85;p33" descr="Logotipo">
              <a:extLst>
                <a:ext uri="{FF2B5EF4-FFF2-40B4-BE49-F238E27FC236}">
                  <a16:creationId xmlns:a16="http://schemas.microsoft.com/office/drawing/2014/main" id="{A74CE55B-706F-7F57-4BD0-70A25F510016}"/>
                </a:ext>
              </a:extLst>
            </p:cNvPr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C464C-51C2-DB3D-4C1D-F67CB5B688F7}"/>
              </a:ext>
            </a:extLst>
          </p:cNvPr>
          <p:cNvSpPr txBox="1"/>
          <p:nvPr userDrawn="1"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pic>
        <p:nvPicPr>
          <p:cNvPr id="7" name="Google Shape;142;p13">
            <a:extLst>
              <a:ext uri="{FF2B5EF4-FFF2-40B4-BE49-F238E27FC236}">
                <a16:creationId xmlns:a16="http://schemas.microsoft.com/office/drawing/2014/main" id="{9D6FE288-3A91-3043-17E7-4D7C94FD59E8}"/>
              </a:ext>
            </a:extLst>
          </p:cNvPr>
          <p:cNvPicPr preferRelativeResize="0"/>
          <p:nvPr userDrawn="1"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3;p13">
            <a:extLst>
              <a:ext uri="{FF2B5EF4-FFF2-40B4-BE49-F238E27FC236}">
                <a16:creationId xmlns:a16="http://schemas.microsoft.com/office/drawing/2014/main" id="{4462B487-3FAF-2545-FF6F-1FDF2A4F1435}"/>
              </a:ext>
            </a:extLst>
          </p:cNvPr>
          <p:cNvPicPr preferRelativeResize="0"/>
          <p:nvPr userDrawn="1"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6;p31">
            <a:extLst>
              <a:ext uri="{FF2B5EF4-FFF2-40B4-BE49-F238E27FC236}">
                <a16:creationId xmlns:a16="http://schemas.microsoft.com/office/drawing/2014/main" id="{835D04B7-42DF-CE67-4100-DDF817ECE8A1}"/>
              </a:ext>
            </a:extLst>
          </p:cNvPr>
          <p:cNvSpPr/>
          <p:nvPr userDrawn="1"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42;p31">
            <a:extLst>
              <a:ext uri="{FF2B5EF4-FFF2-40B4-BE49-F238E27FC236}">
                <a16:creationId xmlns:a16="http://schemas.microsoft.com/office/drawing/2014/main" id="{8C7A4149-582B-861E-7488-996F0E33FE5A}"/>
              </a:ext>
            </a:extLst>
          </p:cNvPr>
          <p:cNvSpPr/>
          <p:nvPr userDrawn="1"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" name="Google Shape;44;p31">
            <a:extLst>
              <a:ext uri="{FF2B5EF4-FFF2-40B4-BE49-F238E27FC236}">
                <a16:creationId xmlns:a16="http://schemas.microsoft.com/office/drawing/2014/main" id="{64790E06-3763-2B07-7AA5-A9F5CA3DB68D}"/>
              </a:ext>
            </a:extLst>
          </p:cNvPr>
          <p:cNvGrpSpPr/>
          <p:nvPr userDrawn="1"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13" name="Google Shape;45;p31">
              <a:extLst>
                <a:ext uri="{FF2B5EF4-FFF2-40B4-BE49-F238E27FC236}">
                  <a16:creationId xmlns:a16="http://schemas.microsoft.com/office/drawing/2014/main" id="{B0C06C07-1CB7-6490-50DC-D8652F0A4221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8" name="Google Shape;46;p31">
                <a:extLst>
                  <a:ext uri="{FF2B5EF4-FFF2-40B4-BE49-F238E27FC236}">
                    <a16:creationId xmlns:a16="http://schemas.microsoft.com/office/drawing/2014/main" id="{EDBB5887-CE71-E7C2-CDF9-6FEFE3782B76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47;p31">
                <a:extLst>
                  <a:ext uri="{FF2B5EF4-FFF2-40B4-BE49-F238E27FC236}">
                    <a16:creationId xmlns:a16="http://schemas.microsoft.com/office/drawing/2014/main" id="{1D66B29C-C500-3C19-554F-F26E2EED1622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" name="Google Shape;48;p31">
              <a:extLst>
                <a:ext uri="{FF2B5EF4-FFF2-40B4-BE49-F238E27FC236}">
                  <a16:creationId xmlns:a16="http://schemas.microsoft.com/office/drawing/2014/main" id="{1B24DE0D-119B-7CF5-4C7A-3413CE7F8761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49;p31">
              <a:extLst>
                <a:ext uri="{FF2B5EF4-FFF2-40B4-BE49-F238E27FC236}">
                  <a16:creationId xmlns:a16="http://schemas.microsoft.com/office/drawing/2014/main" id="{C1CD6B84-0209-977F-B447-B17E93B9CC7F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50;p31">
              <a:extLst>
                <a:ext uri="{FF2B5EF4-FFF2-40B4-BE49-F238E27FC236}">
                  <a16:creationId xmlns:a16="http://schemas.microsoft.com/office/drawing/2014/main" id="{BB5A62D4-A0A7-4A43-58BD-0A4B1D372609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43;p31">
            <a:extLst>
              <a:ext uri="{FF2B5EF4-FFF2-40B4-BE49-F238E27FC236}">
                <a16:creationId xmlns:a16="http://schemas.microsoft.com/office/drawing/2014/main" id="{F3244579-938D-FB1D-952C-C4746D79C31F}"/>
              </a:ext>
            </a:extLst>
          </p:cNvPr>
          <p:cNvSpPr/>
          <p:nvPr userDrawn="1"/>
        </p:nvSpPr>
        <p:spPr>
          <a:xfrm>
            <a:off x="516205" y="4700100"/>
            <a:ext cx="667589" cy="667589"/>
          </a:xfrm>
          <a:prstGeom prst="ellipse">
            <a:avLst/>
          </a:prstGeom>
          <a:solidFill>
            <a:srgbClr val="529AC2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51;p31">
            <a:extLst>
              <a:ext uri="{FF2B5EF4-FFF2-40B4-BE49-F238E27FC236}">
                <a16:creationId xmlns:a16="http://schemas.microsoft.com/office/drawing/2014/main" id="{ADAC727F-F857-696A-CDB0-A7DB6984D2C2}"/>
              </a:ext>
            </a:extLst>
          </p:cNvPr>
          <p:cNvPicPr preferRelativeResize="0"/>
          <p:nvPr userDrawn="1"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41;p31">
            <a:extLst>
              <a:ext uri="{FF2B5EF4-FFF2-40B4-BE49-F238E27FC236}">
                <a16:creationId xmlns:a16="http://schemas.microsoft.com/office/drawing/2014/main" id="{B5FD4FA8-2219-FD2D-6DD2-EF03DD6A79BF}"/>
              </a:ext>
            </a:extLst>
          </p:cNvPr>
          <p:cNvSpPr/>
          <p:nvPr userDrawn="1"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" name="Google Shape;52;p31">
            <a:extLst>
              <a:ext uri="{FF2B5EF4-FFF2-40B4-BE49-F238E27FC236}">
                <a16:creationId xmlns:a16="http://schemas.microsoft.com/office/drawing/2014/main" id="{3B177068-AE13-9237-D881-F4C91C72523D}"/>
              </a:ext>
            </a:extLst>
          </p:cNvPr>
          <p:cNvGrpSpPr/>
          <p:nvPr userDrawn="1"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24" name="Google Shape;53;p31">
              <a:extLst>
                <a:ext uri="{FF2B5EF4-FFF2-40B4-BE49-F238E27FC236}">
                  <a16:creationId xmlns:a16="http://schemas.microsoft.com/office/drawing/2014/main" id="{FDE537DA-386B-4C9B-AC64-8C73489D3D2E}"/>
                </a:ext>
              </a:extLst>
            </p:cNvPr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" name="Google Shape;54;p31">
              <a:extLst>
                <a:ext uri="{FF2B5EF4-FFF2-40B4-BE49-F238E27FC236}">
                  <a16:creationId xmlns:a16="http://schemas.microsoft.com/office/drawing/2014/main" id="{1701F401-D2A2-BC4B-57AA-A6F201590710}"/>
                </a:ext>
              </a:extLst>
            </p:cNvPr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26" name="Google Shape;55;p31">
                <a:extLst>
                  <a:ext uri="{FF2B5EF4-FFF2-40B4-BE49-F238E27FC236}">
                    <a16:creationId xmlns:a16="http://schemas.microsoft.com/office/drawing/2014/main" id="{EC5CBB97-A75C-9E14-87F5-7BFF17C1C494}"/>
                  </a:ext>
                </a:extLst>
              </p:cNvPr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6;p31">
                <a:extLst>
                  <a:ext uri="{FF2B5EF4-FFF2-40B4-BE49-F238E27FC236}">
                    <a16:creationId xmlns:a16="http://schemas.microsoft.com/office/drawing/2014/main" id="{008FC1A0-B20F-AFCE-90F2-5AFA7B68668B}"/>
                  </a:ext>
                </a:extLst>
              </p:cNvPr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7;p31">
                <a:extLst>
                  <a:ext uri="{FF2B5EF4-FFF2-40B4-BE49-F238E27FC236}">
                    <a16:creationId xmlns:a16="http://schemas.microsoft.com/office/drawing/2014/main" id="{013454CB-20C4-D614-90F5-FC69831F768A}"/>
                  </a:ext>
                </a:extLst>
              </p:cNvPr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8;p31">
                <a:extLst>
                  <a:ext uri="{FF2B5EF4-FFF2-40B4-BE49-F238E27FC236}">
                    <a16:creationId xmlns:a16="http://schemas.microsoft.com/office/drawing/2014/main" id="{0B0E3F8E-3E2A-F2F1-DC66-EF15E925745E}"/>
                  </a:ext>
                </a:extLst>
              </p:cNvPr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9;p31">
                <a:extLst>
                  <a:ext uri="{FF2B5EF4-FFF2-40B4-BE49-F238E27FC236}">
                    <a16:creationId xmlns:a16="http://schemas.microsoft.com/office/drawing/2014/main" id="{C7E71846-312A-5E6A-42DB-F7EF6AE83DDF}"/>
                  </a:ext>
                </a:extLst>
              </p:cNvPr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60;p31">
                <a:extLst>
                  <a:ext uri="{FF2B5EF4-FFF2-40B4-BE49-F238E27FC236}">
                    <a16:creationId xmlns:a16="http://schemas.microsoft.com/office/drawing/2014/main" id="{6D8E34D9-7B5A-C96E-4AB2-9E3BA514EE87}"/>
                  </a:ext>
                </a:extLst>
              </p:cNvPr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" name="Google Shape;41;p31">
            <a:extLst>
              <a:ext uri="{FF2B5EF4-FFF2-40B4-BE49-F238E27FC236}">
                <a16:creationId xmlns:a16="http://schemas.microsoft.com/office/drawing/2014/main" id="{9AF5D698-F646-9D47-211C-B4EDC7478D0E}"/>
              </a:ext>
            </a:extLst>
          </p:cNvPr>
          <p:cNvSpPr/>
          <p:nvPr userDrawn="1"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529AC2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2215;p100">
            <a:extLst>
              <a:ext uri="{FF2B5EF4-FFF2-40B4-BE49-F238E27FC236}">
                <a16:creationId xmlns:a16="http://schemas.microsoft.com/office/drawing/2014/main" id="{14938A03-41EE-07FF-2C03-2ABF8424D692}"/>
              </a:ext>
            </a:extLst>
          </p:cNvPr>
          <p:cNvSpPr/>
          <p:nvPr userDrawn="1"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" name="Google Shape;34;p31">
            <a:extLst>
              <a:ext uri="{FF2B5EF4-FFF2-40B4-BE49-F238E27FC236}">
                <a16:creationId xmlns:a16="http://schemas.microsoft.com/office/drawing/2014/main" id="{4158AAD6-DA4E-CFE5-C2BC-7717D303D477}"/>
              </a:ext>
            </a:extLst>
          </p:cNvPr>
          <p:cNvGrpSpPr/>
          <p:nvPr userDrawn="1"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36" name="Google Shape;35;p31">
              <a:extLst>
                <a:ext uri="{FF2B5EF4-FFF2-40B4-BE49-F238E27FC236}">
                  <a16:creationId xmlns:a16="http://schemas.microsoft.com/office/drawing/2014/main" id="{86D6932B-BA85-70C8-064D-0B72D9855EDF}"/>
                </a:ext>
              </a:extLst>
            </p:cNvPr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39" name="Google Shape;36;p31">
                <a:extLst>
                  <a:ext uri="{FF2B5EF4-FFF2-40B4-BE49-F238E27FC236}">
                    <a16:creationId xmlns:a16="http://schemas.microsoft.com/office/drawing/2014/main" id="{3D64FCC1-38B5-49F5-6CAC-A8274BD47419}"/>
                  </a:ext>
                </a:extLst>
              </p:cNvPr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37;p31">
                <a:extLst>
                  <a:ext uri="{FF2B5EF4-FFF2-40B4-BE49-F238E27FC236}">
                    <a16:creationId xmlns:a16="http://schemas.microsoft.com/office/drawing/2014/main" id="{512F7B54-3925-018F-5E21-7ADDE239B84F}"/>
                  </a:ext>
                </a:extLst>
              </p:cNvPr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38;p31">
                <a:extLst>
                  <a:ext uri="{FF2B5EF4-FFF2-40B4-BE49-F238E27FC236}">
                    <a16:creationId xmlns:a16="http://schemas.microsoft.com/office/drawing/2014/main" id="{C0D545A0-7329-ACAB-0134-E65041B01A48}"/>
                  </a:ext>
                </a:extLst>
              </p:cNvPr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" name="Google Shape;39;p31">
              <a:extLst>
                <a:ext uri="{FF2B5EF4-FFF2-40B4-BE49-F238E27FC236}">
                  <a16:creationId xmlns:a16="http://schemas.microsoft.com/office/drawing/2014/main" id="{25297ADF-DDC1-283C-0B35-60EFCEA52E16}"/>
                </a:ext>
              </a:extLst>
            </p:cNvPr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40;p31">
              <a:extLst>
                <a:ext uri="{FF2B5EF4-FFF2-40B4-BE49-F238E27FC236}">
                  <a16:creationId xmlns:a16="http://schemas.microsoft.com/office/drawing/2014/main" id="{B08FA079-A972-E763-188C-156928ACCED6}"/>
                </a:ext>
              </a:extLst>
            </p:cNvPr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55113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 preserve="1" userDrawn="1">
  <p:cSld name="1. Conteudo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1010BB96-2C5C-93CB-0DE4-6ADDB142D0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1" name="Espaço Reservado para Texto 7">
            <a:extLst>
              <a:ext uri="{FF2B5EF4-FFF2-40B4-BE49-F238E27FC236}">
                <a16:creationId xmlns:a16="http://schemas.microsoft.com/office/drawing/2014/main" id="{9550BDCE-8C17-2808-26AD-19DADB9A40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6" name="Espaço Reservado para Texto 7">
            <a:extLst>
              <a:ext uri="{FF2B5EF4-FFF2-40B4-BE49-F238E27FC236}">
                <a16:creationId xmlns:a16="http://schemas.microsoft.com/office/drawing/2014/main" id="{24714A58-2E0F-BD3B-F270-0F26F9E6CD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20" name="Espaço Reservado para Texto 7">
            <a:extLst>
              <a:ext uri="{FF2B5EF4-FFF2-40B4-BE49-F238E27FC236}">
                <a16:creationId xmlns:a16="http://schemas.microsoft.com/office/drawing/2014/main" id="{5E0069F1-0137-2FAA-27B5-5B98A6D199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C140BF74-0D8B-686D-7192-D2693E320B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2" name="Retângulo: Cantos Arredondados 5">
            <a:extLst>
              <a:ext uri="{FF2B5EF4-FFF2-40B4-BE49-F238E27FC236}">
                <a16:creationId xmlns:a16="http://schemas.microsoft.com/office/drawing/2014/main" id="{B7814AA3-F4F7-FC7B-60C8-E48B28C96EFB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Google Shape;69;p32">
            <a:extLst>
              <a:ext uri="{FF2B5EF4-FFF2-40B4-BE49-F238E27FC236}">
                <a16:creationId xmlns:a16="http://schemas.microsoft.com/office/drawing/2014/main" id="{7AA99699-49E4-9A3E-17B6-9154CEBF8E57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4302069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userDrawn="1">
  <p:cSld name="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8;p10">
            <a:extLst>
              <a:ext uri="{FF2B5EF4-FFF2-40B4-BE49-F238E27FC236}">
                <a16:creationId xmlns:a16="http://schemas.microsoft.com/office/drawing/2014/main" id="{5EC75D68-D884-0F10-1C52-3353E68A92D5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3" name="Espaço Reservado para Texto 8">
            <a:extLst>
              <a:ext uri="{FF2B5EF4-FFF2-40B4-BE49-F238E27FC236}">
                <a16:creationId xmlns:a16="http://schemas.microsoft.com/office/drawing/2014/main" id="{6B4BF7EF-FB5E-D8D4-26C0-433E9665A2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</p:spPr>
        <p:txBody>
          <a:bodyPr/>
          <a:lstStyle>
            <a:lvl1pPr>
              <a:defRPr sz="14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/>
              <a:t>Inserir &gt; Mídia &gt; Vídeo &gt; Vídeos online</a:t>
            </a:r>
          </a:p>
        </p:txBody>
      </p:sp>
      <p:sp>
        <p:nvSpPr>
          <p:cNvPr id="12" name="Retângulo: Cantos Arredondados 4">
            <a:extLst>
              <a:ext uri="{FF2B5EF4-FFF2-40B4-BE49-F238E27FC236}">
                <a16:creationId xmlns:a16="http://schemas.microsoft.com/office/drawing/2014/main" id="{4D26B762-C207-E069-8A70-2691C817E215}"/>
              </a:ext>
            </a:extLst>
          </p:cNvPr>
          <p:cNvSpPr/>
          <p:nvPr userDrawn="1"/>
        </p:nvSpPr>
        <p:spPr>
          <a:xfrm>
            <a:off x="200185" y="269162"/>
            <a:ext cx="2290073" cy="167139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Google Shape;82;p33">
            <a:extLst>
              <a:ext uri="{FF2B5EF4-FFF2-40B4-BE49-F238E27FC236}">
                <a16:creationId xmlns:a16="http://schemas.microsoft.com/office/drawing/2014/main" id="{BE1A2CB3-5617-AAA8-ED6E-B7B79BBDFCE5}"/>
              </a:ext>
            </a:extLst>
          </p:cNvPr>
          <p:cNvSpPr txBox="1"/>
          <p:nvPr userDrawn="1"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2718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preserve="1" userDrawn="1">
  <p:cSld name="1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8;p10">
            <a:extLst>
              <a:ext uri="{FF2B5EF4-FFF2-40B4-BE49-F238E27FC236}">
                <a16:creationId xmlns:a16="http://schemas.microsoft.com/office/drawing/2014/main" id="{E88DAE86-5860-EE2A-A892-19CA5E4EA196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2B528574-1FD1-7B70-2B2F-0F4F07E103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  <a:lvl2pPr>
              <a:defRPr sz="1600" b="0" i="0">
                <a:latin typeface="Poppins" pitchFamily="2" charset="77"/>
                <a:cs typeface="Poppins" pitchFamily="2" charset="77"/>
              </a:defRPr>
            </a:lvl2pPr>
            <a:lvl3pPr>
              <a:defRPr sz="1600" b="0" i="0">
                <a:latin typeface="Poppins" pitchFamily="2" charset="77"/>
                <a:cs typeface="Poppins" pitchFamily="2" charset="77"/>
              </a:defRPr>
            </a:lvl3pPr>
            <a:lvl4pPr>
              <a:defRPr sz="1600" b="0" i="0">
                <a:latin typeface="Poppins" pitchFamily="2" charset="77"/>
                <a:cs typeface="Poppins" pitchFamily="2" charset="77"/>
              </a:defRPr>
            </a:lvl4pPr>
            <a:lvl5pPr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ACFD55BC-1BD9-04E3-9059-B617F5BF54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  <a:lvl2pPr>
              <a:defRPr sz="1600" b="0" i="0">
                <a:latin typeface="Poppins" pitchFamily="2" charset="77"/>
                <a:cs typeface="Poppins" pitchFamily="2" charset="77"/>
              </a:defRPr>
            </a:lvl2pPr>
            <a:lvl3pPr>
              <a:defRPr sz="1600" b="0" i="0">
                <a:latin typeface="Poppins" pitchFamily="2" charset="77"/>
                <a:cs typeface="Poppins" pitchFamily="2" charset="77"/>
              </a:defRPr>
            </a:lvl3pPr>
            <a:lvl4pPr>
              <a:defRPr sz="1600" b="0" i="0">
                <a:latin typeface="Poppins" pitchFamily="2" charset="77"/>
                <a:cs typeface="Poppins" pitchFamily="2" charset="77"/>
              </a:defRPr>
            </a:lvl4pPr>
            <a:lvl5pPr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13" name="Retângulo: Cantos Arredondados 5">
            <a:extLst>
              <a:ext uri="{FF2B5EF4-FFF2-40B4-BE49-F238E27FC236}">
                <a16:creationId xmlns:a16="http://schemas.microsoft.com/office/drawing/2014/main" id="{B7814AA3-F4F7-FC7B-60C8-E48B28C96EFB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Google Shape;69;p32">
            <a:extLst>
              <a:ext uri="{FF2B5EF4-FFF2-40B4-BE49-F238E27FC236}">
                <a16:creationId xmlns:a16="http://schemas.microsoft.com/office/drawing/2014/main" id="{7AA99699-49E4-9A3E-17B6-9154CEBF8E57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0544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preserve="1" userDrawn="1">
  <p:cSld name="2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8;p10">
            <a:extLst>
              <a:ext uri="{FF2B5EF4-FFF2-40B4-BE49-F238E27FC236}">
                <a16:creationId xmlns:a16="http://schemas.microsoft.com/office/drawing/2014/main" id="{3D24054B-29A8-9F5D-EBED-8CE03A0F1931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4B02D53-E743-F37B-BC9A-24214A83B7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498470DA-9F77-2314-5148-BE7D0A21C8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4" name="Espaço Reservado para Texto 11">
            <a:extLst>
              <a:ext uri="{FF2B5EF4-FFF2-40B4-BE49-F238E27FC236}">
                <a16:creationId xmlns:a16="http://schemas.microsoft.com/office/drawing/2014/main" id="{7DB9C7F3-F00D-DC50-70C9-8A41518862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</p:spPr>
        <p:txBody>
          <a:bodyPr/>
          <a:lstStyle>
            <a:lvl1pPr>
              <a:defRPr sz="8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788A7CCB-CA65-CA3D-8095-5D379F504D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</p:spPr>
        <p:txBody>
          <a:bodyPr/>
          <a:lstStyle>
            <a:lvl1pPr>
              <a:defRPr sz="12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dirty="0"/>
          </a:p>
        </p:txBody>
      </p:sp>
      <p:sp>
        <p:nvSpPr>
          <p:cNvPr id="15" name="Retângulo: Cantos Arredondados 5">
            <a:extLst>
              <a:ext uri="{FF2B5EF4-FFF2-40B4-BE49-F238E27FC236}">
                <a16:creationId xmlns:a16="http://schemas.microsoft.com/office/drawing/2014/main" id="{B7814AA3-F4F7-FC7B-60C8-E48B28C96EFB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Google Shape;69;p32">
            <a:extLst>
              <a:ext uri="{FF2B5EF4-FFF2-40B4-BE49-F238E27FC236}">
                <a16:creationId xmlns:a16="http://schemas.microsoft.com/office/drawing/2014/main" id="{7AA99699-49E4-9A3E-17B6-9154CEBF8E57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072160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preserve="1" userDrawn="1">
  <p:cSld name="3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8;p10">
            <a:extLst>
              <a:ext uri="{FF2B5EF4-FFF2-40B4-BE49-F238E27FC236}">
                <a16:creationId xmlns:a16="http://schemas.microsoft.com/office/drawing/2014/main" id="{B234E978-E4F5-F834-321B-4B12748FE6E8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E8F0484C-01B8-1892-690C-5B5AC00E36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0340D95F-EA14-0DD7-406F-7EB73CFBF5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0401573-FB28-43CB-7EDE-CAF562F5894E}"/>
              </a:ext>
            </a:extLst>
          </p:cNvPr>
          <p:cNvSpPr txBox="1"/>
          <p:nvPr userDrawn="1"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3641E8C7-8963-3BA2-52E9-AD936766A6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5" name="Retângulo: Cantos Arredondados 5">
            <a:extLst>
              <a:ext uri="{FF2B5EF4-FFF2-40B4-BE49-F238E27FC236}">
                <a16:creationId xmlns:a16="http://schemas.microsoft.com/office/drawing/2014/main" id="{B7814AA3-F4F7-FC7B-60C8-E48B28C96EFB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Google Shape;69;p32">
            <a:extLst>
              <a:ext uri="{FF2B5EF4-FFF2-40B4-BE49-F238E27FC236}">
                <a16:creationId xmlns:a16="http://schemas.microsoft.com/office/drawing/2014/main" id="{7AA99699-49E4-9A3E-17B6-9154CEBF8E57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552392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preserve="1" userDrawn="1">
  <p:cSld name="4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8;p10">
            <a:extLst>
              <a:ext uri="{FF2B5EF4-FFF2-40B4-BE49-F238E27FC236}">
                <a16:creationId xmlns:a16="http://schemas.microsoft.com/office/drawing/2014/main" id="{EA78AB42-D974-394B-5FFB-BF535D40C50E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3CA1D1C2-A504-78F2-B5D1-B96B35BDDB0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69EF6828-47A5-8129-5988-5EC45D078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388D1399-8328-B730-C092-B8697982AD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4" name="Retângulo: Cantos Arredondados 5">
            <a:extLst>
              <a:ext uri="{FF2B5EF4-FFF2-40B4-BE49-F238E27FC236}">
                <a16:creationId xmlns:a16="http://schemas.microsoft.com/office/drawing/2014/main" id="{B7814AA3-F4F7-FC7B-60C8-E48B28C96EFB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Google Shape;69;p32">
            <a:extLst>
              <a:ext uri="{FF2B5EF4-FFF2-40B4-BE49-F238E27FC236}">
                <a16:creationId xmlns:a16="http://schemas.microsoft.com/office/drawing/2014/main" id="{7AA99699-49E4-9A3E-17B6-9154CEBF8E57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79992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preserve="1" userDrawn="1">
  <p:cSld name="5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8;p10">
            <a:extLst>
              <a:ext uri="{FF2B5EF4-FFF2-40B4-BE49-F238E27FC236}">
                <a16:creationId xmlns:a16="http://schemas.microsoft.com/office/drawing/2014/main" id="{91DD7C20-17F9-A5B8-5B29-AD07BC367257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4065A3E7-CBB3-DD59-24FC-B5AAEBB7F49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sz="16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Espaço Reservado para Texto 9">
            <a:extLst>
              <a:ext uri="{FF2B5EF4-FFF2-40B4-BE49-F238E27FC236}">
                <a16:creationId xmlns:a16="http://schemas.microsoft.com/office/drawing/2014/main" id="{F4FE14C4-C438-D68E-A10E-2CC8A26ACD0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sz="16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Retângulo: Cantos Arredondados 2">
            <a:extLst>
              <a:ext uri="{FF2B5EF4-FFF2-40B4-BE49-F238E27FC236}">
                <a16:creationId xmlns:a16="http://schemas.microsoft.com/office/drawing/2014/main" id="{A74968B8-2544-F52F-0844-CEC90F4510FE}"/>
              </a:ext>
            </a:extLst>
          </p:cNvPr>
          <p:cNvSpPr/>
          <p:nvPr userDrawn="1"/>
        </p:nvSpPr>
        <p:spPr>
          <a:xfrm>
            <a:off x="200185" y="269162"/>
            <a:ext cx="2290073" cy="167139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Google Shape;82;p33">
            <a:extLst>
              <a:ext uri="{FF2B5EF4-FFF2-40B4-BE49-F238E27FC236}">
                <a16:creationId xmlns:a16="http://schemas.microsoft.com/office/drawing/2014/main" id="{6D09951E-D07B-C674-E382-FF9FCABEB0F0}"/>
              </a:ext>
            </a:extLst>
          </p:cNvPr>
          <p:cNvSpPr txBox="1"/>
          <p:nvPr userDrawn="1"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68708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preserve="1" userDrawn="1">
  <p:cSld name="6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8;p10">
            <a:extLst>
              <a:ext uri="{FF2B5EF4-FFF2-40B4-BE49-F238E27FC236}">
                <a16:creationId xmlns:a16="http://schemas.microsoft.com/office/drawing/2014/main" id="{E191D260-F4DE-9CED-894A-E43DF53C6C30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73C6FE8A-0E62-070F-4EFF-7956D56EAEB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sz="16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D9108072-6283-1E2A-3D04-EE1896CEE3F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sz="16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Retângulo: Cantos Arredondados 5">
            <a:extLst>
              <a:ext uri="{FF2B5EF4-FFF2-40B4-BE49-F238E27FC236}">
                <a16:creationId xmlns:a16="http://schemas.microsoft.com/office/drawing/2014/main" id="{B7814AA3-F4F7-FC7B-60C8-E48B28C96EFB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Google Shape;69;p32">
            <a:extLst>
              <a:ext uri="{FF2B5EF4-FFF2-40B4-BE49-F238E27FC236}">
                <a16:creationId xmlns:a16="http://schemas.microsoft.com/office/drawing/2014/main" id="{7AA99699-49E4-9A3E-17B6-9154CEBF8E57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550349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 preserve="1" userDrawn="1">
  <p:cSld name="2_Linha do Tempo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" name="Google Shape;181;p15"/>
          <p:cNvCxnSpPr>
            <a:cxnSpLocks/>
          </p:cNvCxnSpPr>
          <p:nvPr/>
        </p:nvCxnSpPr>
        <p:spPr>
          <a:xfrm flipH="1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82" name="Google Shape;182;p15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3" name="Google Shape;183;p15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84" name="Google Shape;184;p15"/>
          <p:cNvCxnSpPr>
            <a:cxnSpLocks/>
          </p:cNvCxnSpPr>
          <p:nvPr/>
        </p:nvCxnSpPr>
        <p:spPr>
          <a:xfrm flipH="1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85" name="Google Shape;185;p15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6" name="Google Shape;186;p15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0" name="Google Shape;190;p15"/>
          <p:cNvSpPr txBox="1">
            <a:spLocks noGrp="1"/>
          </p:cNvSpPr>
          <p:nvPr>
            <p:ph type="body" idx="7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1" name="Google Shape;191;p15"/>
          <p:cNvSpPr txBox="1">
            <a:spLocks noGrp="1"/>
          </p:cNvSpPr>
          <p:nvPr>
            <p:ph type="body" idx="8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609630" marR="0" lvl="1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337271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aixaDeTexto 57">
            <a:extLst>
              <a:ext uri="{FF2B5EF4-FFF2-40B4-BE49-F238E27FC236}">
                <a16:creationId xmlns:a16="http://schemas.microsoft.com/office/drawing/2014/main" id="{E2E6E040-FD12-5F0A-5A7E-31B82D9E5878}"/>
              </a:ext>
            </a:extLst>
          </p:cNvPr>
          <p:cNvSpPr txBox="1"/>
          <p:nvPr userDrawn="1"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86AC8CDC-DB5B-8576-7D5B-627A6FF675DE}"/>
              </a:ext>
            </a:extLst>
          </p:cNvPr>
          <p:cNvSpPr txBox="1"/>
          <p:nvPr userDrawn="1"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62" name="Espaço Reservado para Texto 60">
            <a:extLst>
              <a:ext uri="{FF2B5EF4-FFF2-40B4-BE49-F238E27FC236}">
                <a16:creationId xmlns:a16="http://schemas.microsoft.com/office/drawing/2014/main" id="{89F34A58-1D03-1A84-8D44-35B61CAAC6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</p:spPr>
        <p:txBody>
          <a:bodyPr anchor="ctr"/>
          <a:lstStyle>
            <a:lvl1pPr>
              <a:defRPr sz="1133" b="1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4" name="Espaço Reservado para Texto 60">
            <a:extLst>
              <a:ext uri="{FF2B5EF4-FFF2-40B4-BE49-F238E27FC236}">
                <a16:creationId xmlns:a16="http://schemas.microsoft.com/office/drawing/2014/main" id="{C64C4F39-6E3E-2CBC-C02F-85C4D8E437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</p:spPr>
        <p:txBody>
          <a:bodyPr anchor="ctr"/>
          <a:lstStyle>
            <a:lvl1pPr>
              <a:defRPr sz="1133" b="1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DD2F756A-5714-9640-0D25-5AA63BD888B1}"/>
              </a:ext>
            </a:extLst>
          </p:cNvPr>
          <p:cNvSpPr txBox="1"/>
          <p:nvPr userDrawn="1"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5F2E09-8E0A-6D2A-4DDE-494301825C0A}"/>
              </a:ext>
            </a:extLst>
          </p:cNvPr>
          <p:cNvSpPr txBox="1"/>
          <p:nvPr userDrawn="1"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ctr" anchorCtr="0">
            <a:normAutofit lnSpcReduction="10000"/>
          </a:bodyPr>
          <a:lstStyle/>
          <a:p>
            <a:pPr algn="ctr"/>
            <a:r>
              <a:rPr lang="pt-BR" sz="2933" b="1" i="0" dirty="0">
                <a:solidFill>
                  <a:srgbClr val="FF161F"/>
                </a:solidFill>
                <a:latin typeface="Poppins" pitchFamily="2" charset="77"/>
                <a:cs typeface="Poppins" pitchFamily="2" charset="77"/>
              </a:rPr>
              <a:t>1</a:t>
            </a:r>
          </a:p>
        </p:txBody>
      </p:sp>
      <p:cxnSp>
        <p:nvCxnSpPr>
          <p:cNvPr id="7" name="Google Shape;164;p37">
            <a:extLst>
              <a:ext uri="{FF2B5EF4-FFF2-40B4-BE49-F238E27FC236}">
                <a16:creationId xmlns:a16="http://schemas.microsoft.com/office/drawing/2014/main" id="{AE09C5A7-C4C7-3633-E631-10825874757F}"/>
              </a:ext>
            </a:extLst>
          </p:cNvPr>
          <p:cNvCxnSpPr>
            <a:cxnSpLocks/>
          </p:cNvCxnSpPr>
          <p:nvPr userDrawn="1"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FE8B2D2B-B67A-7A10-B546-F7E759E5AE78}"/>
              </a:ext>
            </a:extLst>
          </p:cNvPr>
          <p:cNvSpPr txBox="1"/>
          <p:nvPr userDrawn="1"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ctr" anchorCtr="0">
            <a:normAutofit lnSpcReduction="10000"/>
          </a:bodyPr>
          <a:lstStyle/>
          <a:p>
            <a:pPr algn="ctr"/>
            <a:r>
              <a:rPr lang="pt-BR" sz="2933" b="1" i="0" dirty="0">
                <a:solidFill>
                  <a:srgbClr val="FF161F"/>
                </a:solidFill>
                <a:latin typeface="Poppins" pitchFamily="2" charset="77"/>
                <a:cs typeface="Poppins" pitchFamily="2" charset="77"/>
              </a:rPr>
              <a:t>2</a:t>
            </a:r>
          </a:p>
        </p:txBody>
      </p:sp>
      <p:cxnSp>
        <p:nvCxnSpPr>
          <p:cNvPr id="9" name="Google Shape;164;p37">
            <a:extLst>
              <a:ext uri="{FF2B5EF4-FFF2-40B4-BE49-F238E27FC236}">
                <a16:creationId xmlns:a16="http://schemas.microsoft.com/office/drawing/2014/main" id="{8AB8AC0D-9A4E-DBE1-5676-875911095757}"/>
              </a:ext>
            </a:extLst>
          </p:cNvPr>
          <p:cNvCxnSpPr>
            <a:cxnSpLocks/>
          </p:cNvCxnSpPr>
          <p:nvPr userDrawn="1"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ED10435-0A3C-2A5F-6383-B0823A79FE88}"/>
              </a:ext>
            </a:extLst>
          </p:cNvPr>
          <p:cNvSpPr txBox="1"/>
          <p:nvPr userDrawn="1"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ctr" anchorCtr="0">
            <a:normAutofit lnSpcReduction="10000"/>
          </a:bodyPr>
          <a:lstStyle/>
          <a:p>
            <a:pPr algn="ctr"/>
            <a:r>
              <a:rPr lang="pt-BR" sz="2933" b="1" i="0" dirty="0">
                <a:solidFill>
                  <a:srgbClr val="FF161F"/>
                </a:solidFill>
                <a:latin typeface="Poppins" pitchFamily="2" charset="77"/>
                <a:cs typeface="Poppins" pitchFamily="2" charset="77"/>
              </a:rPr>
              <a:t>3</a:t>
            </a:r>
          </a:p>
        </p:txBody>
      </p:sp>
      <p:cxnSp>
        <p:nvCxnSpPr>
          <p:cNvPr id="11" name="Google Shape;164;p37">
            <a:extLst>
              <a:ext uri="{FF2B5EF4-FFF2-40B4-BE49-F238E27FC236}">
                <a16:creationId xmlns:a16="http://schemas.microsoft.com/office/drawing/2014/main" id="{C307C398-EACE-2BA8-6037-73AFF176AE76}"/>
              </a:ext>
            </a:extLst>
          </p:cNvPr>
          <p:cNvCxnSpPr>
            <a:cxnSpLocks/>
          </p:cNvCxnSpPr>
          <p:nvPr userDrawn="1"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B368B3B-CB9A-2B11-2C53-430B67C14E1F}"/>
              </a:ext>
            </a:extLst>
          </p:cNvPr>
          <p:cNvSpPr txBox="1"/>
          <p:nvPr userDrawn="1"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ctr" anchorCtr="0">
            <a:normAutofit lnSpcReduction="10000"/>
          </a:bodyPr>
          <a:lstStyle/>
          <a:p>
            <a:pPr algn="ctr"/>
            <a:r>
              <a:rPr lang="pt-BR" sz="2933" b="1" i="0" dirty="0">
                <a:solidFill>
                  <a:srgbClr val="FF161F"/>
                </a:solidFill>
                <a:latin typeface="Poppins" pitchFamily="2" charset="77"/>
                <a:cs typeface="Poppins" pitchFamily="2" charset="77"/>
              </a:rPr>
              <a:t>4</a:t>
            </a:r>
          </a:p>
        </p:txBody>
      </p:sp>
      <p:cxnSp>
        <p:nvCxnSpPr>
          <p:cNvPr id="13" name="Google Shape;164;p37">
            <a:extLst>
              <a:ext uri="{FF2B5EF4-FFF2-40B4-BE49-F238E27FC236}">
                <a16:creationId xmlns:a16="http://schemas.microsoft.com/office/drawing/2014/main" id="{5991BC56-AAA0-E465-9AC1-50D541BE4CC8}"/>
              </a:ext>
            </a:extLst>
          </p:cNvPr>
          <p:cNvCxnSpPr>
            <a:cxnSpLocks/>
          </p:cNvCxnSpPr>
          <p:nvPr userDrawn="1"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4" name="Espaço Reservado para Texto 36">
            <a:extLst>
              <a:ext uri="{FF2B5EF4-FFF2-40B4-BE49-F238E27FC236}">
                <a16:creationId xmlns:a16="http://schemas.microsoft.com/office/drawing/2014/main" id="{AEE2E579-CD98-D37C-FE78-141FDCCA16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</p:spPr>
        <p:txBody>
          <a:bodyPr/>
          <a:lstStyle>
            <a:lvl1pPr>
              <a:defRPr sz="1267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5" name="Espaço Reservado para Texto 36">
            <a:extLst>
              <a:ext uri="{FF2B5EF4-FFF2-40B4-BE49-F238E27FC236}">
                <a16:creationId xmlns:a16="http://schemas.microsoft.com/office/drawing/2014/main" id="{E8BAC3AD-3484-8D56-B2FE-C840FDB0D3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</p:spPr>
        <p:txBody>
          <a:bodyPr/>
          <a:lstStyle>
            <a:lvl1pPr>
              <a:defRPr sz="1267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6" name="Espaço Reservado para Texto 36">
            <a:extLst>
              <a:ext uri="{FF2B5EF4-FFF2-40B4-BE49-F238E27FC236}">
                <a16:creationId xmlns:a16="http://schemas.microsoft.com/office/drawing/2014/main" id="{A9EA8429-D773-7F56-9FE3-61DD76BBD12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</p:spPr>
        <p:txBody>
          <a:bodyPr/>
          <a:lstStyle>
            <a:lvl1pPr>
              <a:defRPr sz="1267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7" name="Espaço Reservado para Texto 36">
            <a:extLst>
              <a:ext uri="{FF2B5EF4-FFF2-40B4-BE49-F238E27FC236}">
                <a16:creationId xmlns:a16="http://schemas.microsoft.com/office/drawing/2014/main" id="{57F476AA-8149-FB0D-8284-2AA34057A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</p:spPr>
        <p:txBody>
          <a:bodyPr/>
          <a:lstStyle>
            <a:lvl1pPr>
              <a:defRPr sz="1267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28" name="Retângulo: Cantos Arredondados 7">
            <a:extLst>
              <a:ext uri="{FF2B5EF4-FFF2-40B4-BE49-F238E27FC236}">
                <a16:creationId xmlns:a16="http://schemas.microsoft.com/office/drawing/2014/main" id="{D81FCF7F-5C59-3C27-15B2-C57E02BD6426}"/>
              </a:ext>
            </a:extLst>
          </p:cNvPr>
          <p:cNvSpPr/>
          <p:nvPr userDrawn="1"/>
        </p:nvSpPr>
        <p:spPr>
          <a:xfrm>
            <a:off x="200184" y="22452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Google Shape;207;p37">
            <a:extLst>
              <a:ext uri="{FF2B5EF4-FFF2-40B4-BE49-F238E27FC236}">
                <a16:creationId xmlns:a16="http://schemas.microsoft.com/office/drawing/2014/main" id="{09FE7C1E-E78A-7942-D0F8-6A9AB07E3CF5}"/>
              </a:ext>
            </a:extLst>
          </p:cNvPr>
          <p:cNvSpPr txBox="1"/>
          <p:nvPr userDrawn="1"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70186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103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10.xml"/><Relationship Id="rId12" Type="http://schemas.openxmlformats.org/officeDocument/2006/relationships/slideLayout" Target="../slideLayouts/slideLayout11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Relationship Id="rId14" Type="http://schemas.openxmlformats.org/officeDocument/2006/relationships/slideLayout" Target="../slideLayouts/slideLayout1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40" r:id="rId72"/>
    <p:sldLayoutId id="2147483765" r:id="rId73"/>
    <p:sldLayoutId id="2147483766" r:id="rId74"/>
    <p:sldLayoutId id="2147483767" r:id="rId75"/>
    <p:sldLayoutId id="2147483768" r:id="rId76"/>
    <p:sldLayoutId id="2147483769" r:id="rId77"/>
    <p:sldLayoutId id="2147483770" r:id="rId78"/>
    <p:sldLayoutId id="2147483771" r:id="rId79"/>
    <p:sldLayoutId id="2147483772" r:id="rId80"/>
    <p:sldLayoutId id="2147483773" r:id="rId81"/>
    <p:sldLayoutId id="2147483774" r:id="rId82"/>
    <p:sldLayoutId id="2147483775" r:id="rId83"/>
    <p:sldLayoutId id="2147483776" r:id="rId84"/>
    <p:sldLayoutId id="2147483777" r:id="rId85"/>
    <p:sldLayoutId id="2147483778" r:id="rId86"/>
    <p:sldLayoutId id="2147483779" r:id="rId87"/>
    <p:sldLayoutId id="2147483800" r:id="rId88"/>
    <p:sldLayoutId id="2147483824" r:id="rId89"/>
    <p:sldLayoutId id="2147483825" r:id="rId90"/>
    <p:sldLayoutId id="2147483826" r:id="rId91"/>
    <p:sldLayoutId id="2147483827" r:id="rId92"/>
    <p:sldLayoutId id="2147483828" r:id="rId93"/>
    <p:sldLayoutId id="2147483829" r:id="rId94"/>
    <p:sldLayoutId id="2147483830" r:id="rId95"/>
    <p:sldLayoutId id="2147483831" r:id="rId96"/>
    <p:sldLayoutId id="2147483832" r:id="rId97"/>
    <p:sldLayoutId id="2147483833" r:id="rId98"/>
    <p:sldLayoutId id="2147483834" r:id="rId99"/>
    <p:sldLayoutId id="2147483835" r:id="rId100"/>
    <p:sldLayoutId id="2147483836" r:id="rId101"/>
    <p:sldLayoutId id="2147483837" r:id="rId102"/>
    <p:sldLayoutId id="2147483838" r:id="rId10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2097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4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1.xml"/><Relationship Id="rId5" Type="http://schemas.openxmlformats.org/officeDocument/2006/relationships/hyperlink" Target="https://jornal.usp.br/radio-usp/gamificacao-em-sala-de-aula-surge-como-ferramenta-de-motivacao-nas-escolas/" TargetMode="External"/><Relationship Id="rId4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37.svg"/><Relationship Id="rId4" Type="http://schemas.openxmlformats.org/officeDocument/2006/relationships/image" Target="../media/image3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37.svg"/><Relationship Id="rId4" Type="http://schemas.openxmlformats.org/officeDocument/2006/relationships/image" Target="../media/image3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3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8.xml"/><Relationship Id="rId4" Type="http://schemas.openxmlformats.org/officeDocument/2006/relationships/image" Target="../media/image4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9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jA2QAk1Duo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academy.com.br/blog/input-e-print-entrada-e-saida-de-dados-no-python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6.xml"/><Relationship Id="rId5" Type="http://schemas.openxmlformats.org/officeDocument/2006/relationships/hyperlink" Target="https://porvir.org/kahoot-como-usar-para-deixar-suas-aulas-mais-divertidas/" TargetMode="External"/><Relationship Id="rId4" Type="http://schemas.openxmlformats.org/officeDocument/2006/relationships/hyperlink" Target="https://jornal.usp.br/radio-usp/gamificacao-em-sala-de-aula-surge-como-ferramenta-de-motivacao-nas-escolas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p265"/>
          <p:cNvSpPr txBox="1"/>
          <p:nvPr/>
        </p:nvSpPr>
        <p:spPr>
          <a:xfrm>
            <a:off x="843311" y="2026072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desafios no terminal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1" name="Google Shape;2721;p265"/>
          <p:cNvSpPr txBox="1"/>
          <p:nvPr/>
        </p:nvSpPr>
        <p:spPr>
          <a:xfrm>
            <a:off x="843338" y="3546062"/>
            <a:ext cx="6814747" cy="44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265"/>
          <p:cNvSpPr txBox="1"/>
          <p:nvPr/>
        </p:nvSpPr>
        <p:spPr>
          <a:xfrm>
            <a:off x="763898" y="1238583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3" name="Google Shape;2723;p265"/>
          <p:cNvSpPr txBox="1"/>
          <p:nvPr/>
        </p:nvSpPr>
        <p:spPr>
          <a:xfrm>
            <a:off x="843338" y="2818694"/>
            <a:ext cx="6814747" cy="44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1: Como funciona um programa interativo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0" name="Google Shape;2730;p266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31" name="Google Shape;2731;p266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2" name="Google Shape;2732;p266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266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266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266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6" name="Google Shape;2736;p266"/>
          <p:cNvGrpSpPr/>
          <p:nvPr/>
        </p:nvGrpSpPr>
        <p:grpSpPr>
          <a:xfrm>
            <a:off x="587322" y="1657552"/>
            <a:ext cx="10504795" cy="4353604"/>
            <a:chOff x="880938" y="2486202"/>
            <a:chExt cx="15756404" cy="6530079"/>
          </a:xfrm>
        </p:grpSpPr>
        <p:sp>
          <p:nvSpPr>
            <p:cNvPr id="2737" name="Google Shape;2737;p266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8" name="Google Shape;2738;p266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266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266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266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266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266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4" name="Google Shape;2744;p266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5" name="Google Shape;2745;p266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266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266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266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266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266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2" name="Google Shape;2752;p266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3" name="Google Shape;2753;p266"/>
          <p:cNvSpPr/>
          <p:nvPr/>
        </p:nvSpPr>
        <p:spPr>
          <a:xfrm>
            <a:off x="10447149" y="3771622"/>
            <a:ext cx="572400" cy="5724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4" name="Google Shape;2754;p266"/>
          <p:cNvCxnSpPr>
            <a:cxnSpLocks/>
            <a:stCxn id="2753" idx="2"/>
            <a:endCxn id="6" idx="3"/>
          </p:cNvCxnSpPr>
          <p:nvPr/>
        </p:nvCxnSpPr>
        <p:spPr>
          <a:xfrm flipH="1">
            <a:off x="9513599" y="4057822"/>
            <a:ext cx="933550" cy="27451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5" name="Google Shape;2755;p266"/>
          <p:cNvSpPr txBox="1"/>
          <p:nvPr/>
        </p:nvSpPr>
        <p:spPr>
          <a:xfrm>
            <a:off x="10238542" y="4377015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6" name="Google Shape;2756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301205" y="361843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57" name="Google Shape;2757;p266"/>
          <p:cNvSpPr txBox="1"/>
          <p:nvPr/>
        </p:nvSpPr>
        <p:spPr>
          <a:xfrm>
            <a:off x="10238542" y="4654410"/>
            <a:ext cx="1750126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700" dirty="0">
                <a:latin typeface="Poppins"/>
                <a:ea typeface="Poppins"/>
                <a:cs typeface="Poppins"/>
                <a:sym typeface="Poppins"/>
              </a:rPr>
              <a:t> e desafios no terminal</a:t>
            </a:r>
            <a:endParaRPr sz="17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8" name="Google Shape;2758;p266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9" name="Google Shape;2759;p266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13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0" name="Google Shape;2760;p266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266"/>
          <p:cNvSpPr txBox="1"/>
          <p:nvPr/>
        </p:nvSpPr>
        <p:spPr>
          <a:xfrm>
            <a:off x="2141191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  <p:sp>
        <p:nvSpPr>
          <p:cNvPr id="2" name="Google Shape;2732;p266">
            <a:extLst>
              <a:ext uri="{FF2B5EF4-FFF2-40B4-BE49-F238E27FC236}">
                <a16:creationId xmlns:a16="http://schemas.microsoft.com/office/drawing/2014/main" id="{A9EC2E08-291D-75F2-FB5D-7366B0F13932}"/>
              </a:ext>
            </a:extLst>
          </p:cNvPr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733;p266">
            <a:extLst>
              <a:ext uri="{FF2B5EF4-FFF2-40B4-BE49-F238E27FC236}">
                <a16:creationId xmlns:a16="http://schemas.microsoft.com/office/drawing/2014/main" id="{263B21B0-E991-5CEB-2E50-08A0745A79A7}"/>
              </a:ext>
            </a:extLst>
          </p:cNvPr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34;p266">
            <a:extLst>
              <a:ext uri="{FF2B5EF4-FFF2-40B4-BE49-F238E27FC236}">
                <a16:creationId xmlns:a16="http://schemas.microsoft.com/office/drawing/2014/main" id="{40FB4219-A263-C788-C74A-C26859AFE525}"/>
              </a:ext>
            </a:extLst>
          </p:cNvPr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735;p266">
            <a:extLst>
              <a:ext uri="{FF2B5EF4-FFF2-40B4-BE49-F238E27FC236}">
                <a16:creationId xmlns:a16="http://schemas.microsoft.com/office/drawing/2014/main" id="{5C60ACF9-7A0B-E6B5-333F-0FF34B738616}"/>
              </a:ext>
            </a:extLst>
          </p:cNvPr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36;p266">
            <a:extLst>
              <a:ext uri="{FF2B5EF4-FFF2-40B4-BE49-F238E27FC236}">
                <a16:creationId xmlns:a16="http://schemas.microsoft.com/office/drawing/2014/main" id="{2CDAD20D-0102-1049-EB24-B3BA6514C21B}"/>
              </a:ext>
            </a:extLst>
          </p:cNvPr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754;p266">
            <a:extLst>
              <a:ext uri="{FF2B5EF4-FFF2-40B4-BE49-F238E27FC236}">
                <a16:creationId xmlns:a16="http://schemas.microsoft.com/office/drawing/2014/main" id="{3DD5CBE1-49AA-BFBC-9A5D-18A9D74354FF}"/>
              </a:ext>
            </a:extLst>
          </p:cNvPr>
          <p:cNvSpPr/>
          <p:nvPr/>
        </p:nvSpPr>
        <p:spPr>
          <a:xfrm>
            <a:off x="5896707" y="534862"/>
            <a:ext cx="536100" cy="5361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2755;p266">
            <a:extLst>
              <a:ext uri="{FF2B5EF4-FFF2-40B4-BE49-F238E27FC236}">
                <a16:creationId xmlns:a16="http://schemas.microsoft.com/office/drawing/2014/main" id="{287591EC-4E48-CB72-7774-E1A0DC06D226}"/>
              </a:ext>
            </a:extLst>
          </p:cNvPr>
          <p:cNvCxnSpPr>
            <a:cxnSpLocks/>
            <a:stCxn id="7" idx="4"/>
            <a:endCxn id="3" idx="3"/>
          </p:cNvCxnSpPr>
          <p:nvPr/>
        </p:nvCxnSpPr>
        <p:spPr>
          <a:xfrm>
            <a:off x="6164757" y="1070962"/>
            <a:ext cx="4549" cy="43202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2756;p266">
            <a:extLst>
              <a:ext uri="{FF2B5EF4-FFF2-40B4-BE49-F238E27FC236}">
                <a16:creationId xmlns:a16="http://schemas.microsoft.com/office/drawing/2014/main" id="{B1D1ED8D-6B62-5C88-9984-7E613D8DC8C3}"/>
              </a:ext>
            </a:extLst>
          </p:cNvPr>
          <p:cNvSpPr/>
          <p:nvPr/>
        </p:nvSpPr>
        <p:spPr>
          <a:xfrm>
            <a:off x="5558708" y="3770029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Google Shape;2757;p266">
            <a:extLst>
              <a:ext uri="{FF2B5EF4-FFF2-40B4-BE49-F238E27FC236}">
                <a16:creationId xmlns:a16="http://schemas.microsoft.com/office/drawing/2014/main" id="{367D23F1-B661-7B72-46AC-083439B307F7}"/>
              </a:ext>
            </a:extLst>
          </p:cNvPr>
          <p:cNvCxnSpPr>
            <a:cxnSpLocks/>
            <a:endCxn id="2741" idx="5"/>
          </p:cNvCxnSpPr>
          <p:nvPr/>
        </p:nvCxnSpPr>
        <p:spPr>
          <a:xfrm flipH="1" flipV="1">
            <a:off x="4613002" y="3770896"/>
            <a:ext cx="945706" cy="3217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2760;p266">
            <a:extLst>
              <a:ext uri="{FF2B5EF4-FFF2-40B4-BE49-F238E27FC236}">
                <a16:creationId xmlns:a16="http://schemas.microsoft.com/office/drawing/2014/main" id="{C4313F1E-71F9-A692-8EE3-E5B3E8E76D1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20306579">
            <a:off x="5565855" y="361301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762;p266">
            <a:extLst>
              <a:ext uri="{FF2B5EF4-FFF2-40B4-BE49-F238E27FC236}">
                <a16:creationId xmlns:a16="http://schemas.microsoft.com/office/drawing/2014/main" id="{6CD12BF9-99D6-52A6-2429-2174DAA63599}"/>
              </a:ext>
            </a:extLst>
          </p:cNvPr>
          <p:cNvSpPr txBox="1"/>
          <p:nvPr/>
        </p:nvSpPr>
        <p:spPr>
          <a:xfrm>
            <a:off x="4020832" y="4217738"/>
            <a:ext cx="1868148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Manipulação de </a:t>
            </a:r>
            <a:r>
              <a:rPr lang="pt-BR" sz="17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strings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Google Shape;2767;p266">
            <a:extLst>
              <a:ext uri="{FF2B5EF4-FFF2-40B4-BE49-F238E27FC236}">
                <a16:creationId xmlns:a16="http://schemas.microsoft.com/office/drawing/2014/main" id="{DB3DAE2E-FD40-650D-E6B1-FB1C849156FD}"/>
              </a:ext>
            </a:extLst>
          </p:cNvPr>
          <p:cNvSpPr/>
          <p:nvPr/>
        </p:nvSpPr>
        <p:spPr>
          <a:xfrm>
            <a:off x="6588573" y="5837985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768;p266">
            <a:extLst>
              <a:ext uri="{FF2B5EF4-FFF2-40B4-BE49-F238E27FC236}">
                <a16:creationId xmlns:a16="http://schemas.microsoft.com/office/drawing/2014/main" id="{379FE77C-D483-205E-198A-6DC2C93E77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6470591" y="567044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769;p266">
            <a:extLst>
              <a:ext uri="{FF2B5EF4-FFF2-40B4-BE49-F238E27FC236}">
                <a16:creationId xmlns:a16="http://schemas.microsoft.com/office/drawing/2014/main" id="{3AA10DFA-5754-DF66-B2E0-A3230D8F1AF7}"/>
              </a:ext>
            </a:extLst>
          </p:cNvPr>
          <p:cNvSpPr txBox="1"/>
          <p:nvPr/>
        </p:nvSpPr>
        <p:spPr>
          <a:xfrm>
            <a:off x="4601560" y="5886497"/>
            <a:ext cx="1765515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Google Shape;2770;p266">
            <a:extLst>
              <a:ext uri="{FF2B5EF4-FFF2-40B4-BE49-F238E27FC236}">
                <a16:creationId xmlns:a16="http://schemas.microsoft.com/office/drawing/2014/main" id="{09B09423-47FD-55A1-7ED6-81F1E8464E7D}"/>
              </a:ext>
            </a:extLst>
          </p:cNvPr>
          <p:cNvSpPr/>
          <p:nvPr/>
        </p:nvSpPr>
        <p:spPr>
          <a:xfrm>
            <a:off x="8235988" y="2388927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771;p266">
            <a:extLst>
              <a:ext uri="{FF2B5EF4-FFF2-40B4-BE49-F238E27FC236}">
                <a16:creationId xmlns:a16="http://schemas.microsoft.com/office/drawing/2014/main" id="{ADB7B5A0-7BEB-48C0-2510-3C50E2FC479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8118006" y="222138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772;p266">
            <a:extLst>
              <a:ext uri="{FF2B5EF4-FFF2-40B4-BE49-F238E27FC236}">
                <a16:creationId xmlns:a16="http://schemas.microsoft.com/office/drawing/2014/main" id="{D48A4E89-03B2-0E4A-BB51-3A6D73E1E53E}"/>
              </a:ext>
            </a:extLst>
          </p:cNvPr>
          <p:cNvSpPr txBox="1"/>
          <p:nvPr/>
        </p:nvSpPr>
        <p:spPr>
          <a:xfrm>
            <a:off x="8902070" y="2354240"/>
            <a:ext cx="2541686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2" name="Google Shape;2773;p266">
            <a:extLst>
              <a:ext uri="{FF2B5EF4-FFF2-40B4-BE49-F238E27FC236}">
                <a16:creationId xmlns:a16="http://schemas.microsoft.com/office/drawing/2014/main" id="{69F0E650-AE39-61CF-06CC-6317530B4CDC}"/>
              </a:ext>
            </a:extLst>
          </p:cNvPr>
          <p:cNvCxnSpPr>
            <a:cxnSpLocks/>
            <a:stCxn id="5" idx="1"/>
            <a:endCxn id="16" idx="6"/>
          </p:cNvCxnSpPr>
          <p:nvPr/>
        </p:nvCxnSpPr>
        <p:spPr>
          <a:xfrm flipH="1">
            <a:off x="7160973" y="5998828"/>
            <a:ext cx="968680" cy="1253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773;p266">
            <a:extLst>
              <a:ext uri="{FF2B5EF4-FFF2-40B4-BE49-F238E27FC236}">
                <a16:creationId xmlns:a16="http://schemas.microsoft.com/office/drawing/2014/main" id="{DFC60721-B88D-99F1-4A45-CD762AA9610B}"/>
              </a:ext>
            </a:extLst>
          </p:cNvPr>
          <p:cNvCxnSpPr>
            <a:cxnSpLocks/>
            <a:stCxn id="19" idx="3"/>
            <a:endCxn id="2746" idx="5"/>
          </p:cNvCxnSpPr>
          <p:nvPr/>
        </p:nvCxnSpPr>
        <p:spPr>
          <a:xfrm flipH="1">
            <a:off x="7662413" y="2877501"/>
            <a:ext cx="657401" cy="5438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756;p266">
            <a:extLst>
              <a:ext uri="{FF2B5EF4-FFF2-40B4-BE49-F238E27FC236}">
                <a16:creationId xmlns:a16="http://schemas.microsoft.com/office/drawing/2014/main" id="{7DDE1BE8-9D04-1174-F271-3F430BB31982}"/>
              </a:ext>
            </a:extLst>
          </p:cNvPr>
          <p:cNvSpPr/>
          <p:nvPr/>
        </p:nvSpPr>
        <p:spPr>
          <a:xfrm>
            <a:off x="2321095" y="3542899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757;p266">
            <a:extLst>
              <a:ext uri="{FF2B5EF4-FFF2-40B4-BE49-F238E27FC236}">
                <a16:creationId xmlns:a16="http://schemas.microsoft.com/office/drawing/2014/main" id="{11C0DCF4-8039-431E-2231-8AE729921437}"/>
              </a:ext>
            </a:extLst>
          </p:cNvPr>
          <p:cNvCxnSpPr>
            <a:cxnSpLocks/>
            <a:stCxn id="28" idx="4"/>
            <a:endCxn id="2739" idx="0"/>
          </p:cNvCxnSpPr>
          <p:nvPr/>
        </p:nvCxnSpPr>
        <p:spPr>
          <a:xfrm flipH="1">
            <a:off x="2606662" y="4115299"/>
            <a:ext cx="633" cy="12908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" name="Google Shape;2760;p266">
            <a:extLst>
              <a:ext uri="{FF2B5EF4-FFF2-40B4-BE49-F238E27FC236}">
                <a16:creationId xmlns:a16="http://schemas.microsoft.com/office/drawing/2014/main" id="{70B2B0FB-3C55-0F9A-4F81-C6A50F82359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203113" y="337535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2762;p266">
            <a:extLst>
              <a:ext uri="{FF2B5EF4-FFF2-40B4-BE49-F238E27FC236}">
                <a16:creationId xmlns:a16="http://schemas.microsoft.com/office/drawing/2014/main" id="{A27572CF-C6C8-EB47-A54C-DF7316568976}"/>
              </a:ext>
            </a:extLst>
          </p:cNvPr>
          <p:cNvSpPr txBox="1"/>
          <p:nvPr/>
        </p:nvSpPr>
        <p:spPr>
          <a:xfrm>
            <a:off x="281642" y="3424612"/>
            <a:ext cx="1868148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Documentação, testes unitários e depuração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" name="Google Shape;2771;p266">
            <a:extLst>
              <a:ext uri="{FF2B5EF4-FFF2-40B4-BE49-F238E27FC236}">
                <a16:creationId xmlns:a16="http://schemas.microsoft.com/office/drawing/2014/main" id="{5331BDC3-6F08-4DAF-A13F-63ECD2471F9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5773376" y="38305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2762;p266">
            <a:extLst>
              <a:ext uri="{FF2B5EF4-FFF2-40B4-BE49-F238E27FC236}">
                <a16:creationId xmlns:a16="http://schemas.microsoft.com/office/drawing/2014/main" id="{95064548-B3CF-2FD7-5655-732D8B575323}"/>
              </a:ext>
            </a:extLst>
          </p:cNvPr>
          <p:cNvSpPr txBox="1"/>
          <p:nvPr/>
        </p:nvSpPr>
        <p:spPr>
          <a:xfrm>
            <a:off x="6508097" y="504654"/>
            <a:ext cx="2338863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6" name="Google Shape;2766;p267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2"/>
          <a:stretch/>
        </p:blipFill>
        <p:spPr>
          <a:xfrm rot="-573652">
            <a:off x="5678584" y="2638764"/>
            <a:ext cx="8603297" cy="4647676"/>
          </a:xfrm>
          <a:prstGeom prst="rect">
            <a:avLst/>
          </a:prstGeom>
          <a:noFill/>
          <a:ln>
            <a:noFill/>
          </a:ln>
        </p:spPr>
      </p:pic>
      <p:sp>
        <p:nvSpPr>
          <p:cNvPr id="2767" name="Google Shape;2767;p267"/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8" name="Google Shape;2768;p267"/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4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9" name="Google Shape;2769;p267"/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0" name="Google Shape;2770;p267"/>
          <p:cNvSpPr txBox="1"/>
          <p:nvPr/>
        </p:nvSpPr>
        <p:spPr>
          <a:xfrm>
            <a:off x="3331829" y="5177221"/>
            <a:ext cx="4487736" cy="35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SISANO1C1B4S24A1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267"/>
          <p:cNvSpPr txBox="1"/>
          <p:nvPr/>
        </p:nvSpPr>
        <p:spPr>
          <a:xfrm>
            <a:off x="3331829" y="3203825"/>
            <a:ext cx="435101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 e desafios no terminal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5" name="Google Shape;2775;p267"/>
          <p:cNvSpPr txBox="1"/>
          <p:nvPr/>
        </p:nvSpPr>
        <p:spPr>
          <a:xfrm>
            <a:off x="3331829" y="2792959"/>
            <a:ext cx="2582980" cy="43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267"/>
          <p:cNvSpPr txBox="1"/>
          <p:nvPr/>
        </p:nvSpPr>
        <p:spPr>
          <a:xfrm>
            <a:off x="3331829" y="4333699"/>
            <a:ext cx="4897771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1: Como funciona um programa interativo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58;p266">
            <a:extLst>
              <a:ext uri="{FF2B5EF4-FFF2-40B4-BE49-F238E27FC236}">
                <a16:creationId xmlns:a16="http://schemas.microsoft.com/office/drawing/2014/main" id="{18166F58-664B-9117-BAD7-86BD59A2034A}"/>
              </a:ext>
            </a:extLst>
          </p:cNvPr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759;p266">
            <a:extLst>
              <a:ext uri="{FF2B5EF4-FFF2-40B4-BE49-F238E27FC236}">
                <a16:creationId xmlns:a16="http://schemas.microsoft.com/office/drawing/2014/main" id="{5A6C02A1-F4CB-179C-89DF-05532B467711}"/>
              </a:ext>
            </a:extLst>
          </p:cNvPr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13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2760;p266">
            <a:extLst>
              <a:ext uri="{FF2B5EF4-FFF2-40B4-BE49-F238E27FC236}">
                <a16:creationId xmlns:a16="http://schemas.microsoft.com/office/drawing/2014/main" id="{A55FE87F-648C-6FBD-2356-25B3FC51CB5C}"/>
              </a:ext>
            </a:extLst>
          </p:cNvPr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761;p266">
            <a:extLst>
              <a:ext uri="{FF2B5EF4-FFF2-40B4-BE49-F238E27FC236}">
                <a16:creationId xmlns:a16="http://schemas.microsoft.com/office/drawing/2014/main" id="{CED88C08-50FD-415D-C285-040A6B04FE78}"/>
              </a:ext>
            </a:extLst>
          </p:cNvPr>
          <p:cNvSpPr txBox="1"/>
          <p:nvPr/>
        </p:nvSpPr>
        <p:spPr>
          <a:xfrm>
            <a:off x="2141191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Google Shape;2786;p26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433270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Analisar como diferentes fluxos de interação entre usuário e programa podem ser organizados em atividades com perguntas, respostas e pontuação.</a:t>
            </a:r>
            <a:endParaRPr dirty="0"/>
          </a:p>
        </p:txBody>
      </p:sp>
      <p:sp>
        <p:nvSpPr>
          <p:cNvPr id="2787" name="Google Shape;2787;p26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433270" cy="850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Aplicar repetição, condicionais, funções e vetores simples na construção de programas interativos em terminal.</a:t>
            </a:r>
            <a:endParaRPr dirty="0"/>
          </a:p>
        </p:txBody>
      </p:sp>
      <p:sp>
        <p:nvSpPr>
          <p:cNvPr id="2788" name="Google Shape;2788;p268"/>
          <p:cNvSpPr txBox="1">
            <a:spLocks noGrp="1"/>
          </p:cNvSpPr>
          <p:nvPr>
            <p:ph type="body" idx="3"/>
          </p:nvPr>
        </p:nvSpPr>
        <p:spPr>
          <a:xfrm>
            <a:off x="7467375" y="3257347"/>
            <a:ext cx="4044985" cy="85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Praticar o autocontrole ao revisar regras do jogo ou simulador, mantendo atenção ao fluxo e à coerência das interações.</a:t>
            </a:r>
            <a:endParaRPr dirty="0"/>
          </a:p>
        </p:txBody>
      </p:sp>
      <p:sp>
        <p:nvSpPr>
          <p:cNvPr id="2789" name="Google Shape;2789;p268"/>
          <p:cNvSpPr txBox="1">
            <a:spLocks noGrp="1"/>
          </p:cNvSpPr>
          <p:nvPr>
            <p:ph type="body" idx="4"/>
          </p:nvPr>
        </p:nvSpPr>
        <p:spPr>
          <a:xfrm>
            <a:off x="1467910" y="325734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Computador com internet.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p269"/>
          <p:cNvSpPr txBox="1">
            <a:spLocks noGrp="1"/>
          </p:cNvSpPr>
          <p:nvPr>
            <p:ph type="body" idx="1"/>
          </p:nvPr>
        </p:nvSpPr>
        <p:spPr>
          <a:xfrm>
            <a:off x="3341035" y="2910926"/>
            <a:ext cx="8423100" cy="200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O Kahoot! chegou ao Brasil e hoje reúne milhões de jogadores por aqui. Em 2025, o </a:t>
            </a:r>
            <a:r>
              <a:rPr lang="pt-BR" sz="2000" i="1" dirty="0">
                <a:latin typeface="Poppins"/>
                <a:ea typeface="Poppins"/>
                <a:cs typeface="Poppins"/>
                <a:sym typeface="Poppins"/>
              </a:rPr>
              <a:t>Jornal da USP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 publicou uma matéria sobre gamificação em escolas e o professor Seiji Isotani, do ICMC-USP, explicou que elementos de jogos, como </a:t>
            </a:r>
            <a:r>
              <a:rPr lang="pt-BR" sz="2000" i="1" dirty="0">
                <a:latin typeface="Poppins"/>
                <a:ea typeface="Poppins"/>
                <a:cs typeface="Poppins"/>
                <a:sym typeface="Poppins"/>
              </a:rPr>
              <a:t>quizzes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 interativos e sistemas de pontos, ajudam a engajar porque dão um motivo concreto para querer acertar e continuar.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95" name="Google Shape;2795;p269"/>
          <p:cNvGrpSpPr/>
          <p:nvPr/>
        </p:nvGrpSpPr>
        <p:grpSpPr>
          <a:xfrm>
            <a:off x="11470851" y="-15180"/>
            <a:ext cx="721836" cy="732801"/>
            <a:chOff x="17205424" y="-22770"/>
            <a:chExt cx="1082700" cy="1099146"/>
          </a:xfrm>
        </p:grpSpPr>
        <p:sp>
          <p:nvSpPr>
            <p:cNvPr id="2796" name="Google Shape;2796;p269"/>
            <p:cNvSpPr/>
            <p:nvPr/>
          </p:nvSpPr>
          <p:spPr>
            <a:xfrm flipH="1">
              <a:off x="17208525" y="0"/>
              <a:ext cx="1079474" cy="1076376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9AC2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7" name="Google Shape;2797;p269"/>
            <p:cNvGrpSpPr/>
            <p:nvPr/>
          </p:nvGrpSpPr>
          <p:grpSpPr>
            <a:xfrm>
              <a:off x="17492825" y="308532"/>
              <a:ext cx="573896" cy="683969"/>
              <a:chOff x="16810081" y="921861"/>
              <a:chExt cx="743774" cy="886429"/>
            </a:xfrm>
          </p:grpSpPr>
          <p:grpSp>
            <p:nvGrpSpPr>
              <p:cNvPr id="2798" name="Google Shape;2798;p269"/>
              <p:cNvGrpSpPr/>
              <p:nvPr/>
            </p:nvGrpSpPr>
            <p:grpSpPr>
              <a:xfrm>
                <a:off x="16810084" y="1434434"/>
                <a:ext cx="691713" cy="373856"/>
                <a:chOff x="16866377" y="1492565"/>
                <a:chExt cx="691713" cy="373856"/>
              </a:xfrm>
            </p:grpSpPr>
            <p:sp>
              <p:nvSpPr>
                <p:cNvPr id="2799" name="Google Shape;2799;p269"/>
                <p:cNvSpPr/>
                <p:nvPr/>
              </p:nvSpPr>
              <p:spPr>
                <a:xfrm>
                  <a:off x="17335767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0" name="Google Shape;2800;p269"/>
                <p:cNvSpPr/>
                <p:nvPr/>
              </p:nvSpPr>
              <p:spPr>
                <a:xfrm>
                  <a:off x="16940479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1" name="Google Shape;2801;p269"/>
                <p:cNvSpPr/>
                <p:nvPr/>
              </p:nvSpPr>
              <p:spPr>
                <a:xfrm>
                  <a:off x="17289475" y="1660871"/>
                  <a:ext cx="26861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15" h="148399" extrusionOk="0">
                      <a:moveTo>
                        <a:pt x="253746" y="44101"/>
                      </a:moveTo>
                      <a:cubicBezTo>
                        <a:pt x="232401" y="27476"/>
                        <a:pt x="207702" y="15681"/>
                        <a:pt x="181356" y="9525"/>
                      </a:cubicBezTo>
                      <a:cubicBezTo>
                        <a:pt x="161530" y="3742"/>
                        <a:pt x="141041" y="541"/>
                        <a:pt x="120396" y="0"/>
                      </a:cubicBezTo>
                      <a:cubicBezTo>
                        <a:pt x="99702" y="-45"/>
                        <a:pt x="79130" y="3169"/>
                        <a:pt x="59436" y="9525"/>
                      </a:cubicBezTo>
                      <a:cubicBezTo>
                        <a:pt x="39707" y="14783"/>
                        <a:pt x="20843" y="22868"/>
                        <a:pt x="3429" y="33529"/>
                      </a:cubicBezTo>
                      <a:cubicBezTo>
                        <a:pt x="2286" y="34862"/>
                        <a:pt x="1238" y="36196"/>
                        <a:pt x="0" y="37434"/>
                      </a:cubicBezTo>
                      <a:cubicBezTo>
                        <a:pt x="27701" y="44889"/>
                        <a:pt x="53615" y="57847"/>
                        <a:pt x="76200" y="75534"/>
                      </a:cubicBezTo>
                      <a:cubicBezTo>
                        <a:pt x="94021" y="88541"/>
                        <a:pt x="104425" y="109385"/>
                        <a:pt x="104108" y="131446"/>
                      </a:cubicBezTo>
                      <a:lnTo>
                        <a:pt x="104108" y="148400"/>
                      </a:lnTo>
                      <a:lnTo>
                        <a:pt x="268605" y="148400"/>
                      </a:lnTo>
                      <a:lnTo>
                        <a:pt x="268605" y="73819"/>
                      </a:lnTo>
                      <a:cubicBezTo>
                        <a:pt x="268892" y="62061"/>
                        <a:pt x="263324" y="50927"/>
                        <a:pt x="253746" y="441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2" name="Google Shape;2802;p269"/>
                <p:cNvSpPr/>
                <p:nvPr/>
              </p:nvSpPr>
              <p:spPr>
                <a:xfrm>
                  <a:off x="16866377" y="1660872"/>
                  <a:ext cx="26860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05" h="148399" extrusionOk="0">
                      <a:moveTo>
                        <a:pt x="164687" y="131445"/>
                      </a:moveTo>
                      <a:cubicBezTo>
                        <a:pt x="164708" y="110012"/>
                        <a:pt x="174533" y="89766"/>
                        <a:pt x="191357" y="76486"/>
                      </a:cubicBezTo>
                      <a:lnTo>
                        <a:pt x="192500" y="75534"/>
                      </a:lnTo>
                      <a:lnTo>
                        <a:pt x="193739" y="74676"/>
                      </a:lnTo>
                      <a:cubicBezTo>
                        <a:pt x="216581" y="58427"/>
                        <a:pt x="241848" y="45890"/>
                        <a:pt x="268605" y="37529"/>
                      </a:cubicBezTo>
                      <a:cubicBezTo>
                        <a:pt x="266700" y="35529"/>
                        <a:pt x="264986" y="33433"/>
                        <a:pt x="263176" y="31338"/>
                      </a:cubicBezTo>
                      <a:cubicBezTo>
                        <a:pt x="246437" y="21538"/>
                        <a:pt x="228377" y="14193"/>
                        <a:pt x="209550" y="9525"/>
                      </a:cubicBezTo>
                      <a:cubicBezTo>
                        <a:pt x="189726" y="3734"/>
                        <a:pt x="169235" y="532"/>
                        <a:pt x="148590" y="0"/>
                      </a:cubicBezTo>
                      <a:cubicBezTo>
                        <a:pt x="127896" y="-39"/>
                        <a:pt x="107326" y="3176"/>
                        <a:pt x="87630" y="9525"/>
                      </a:cubicBezTo>
                      <a:cubicBezTo>
                        <a:pt x="61651" y="16693"/>
                        <a:pt x="37144" y="28399"/>
                        <a:pt x="15240" y="44101"/>
                      </a:cubicBezTo>
                      <a:cubicBezTo>
                        <a:pt x="5858" y="51134"/>
                        <a:pt x="236" y="62096"/>
                        <a:pt x="0" y="73819"/>
                      </a:cubicBezTo>
                      <a:lnTo>
                        <a:pt x="0" y="148400"/>
                      </a:lnTo>
                      <a:lnTo>
                        <a:pt x="164687" y="1484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3" name="Google Shape;2803;p269"/>
                <p:cNvSpPr/>
                <p:nvPr/>
              </p:nvSpPr>
              <p:spPr>
                <a:xfrm>
                  <a:off x="17064018" y="1718592"/>
                  <a:ext cx="296430" cy="147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430" h="147829" extrusionOk="0">
                      <a:moveTo>
                        <a:pt x="0" y="147830"/>
                      </a:moveTo>
                      <a:lnTo>
                        <a:pt x="0" y="73725"/>
                      </a:lnTo>
                      <a:cubicBezTo>
                        <a:pt x="45" y="62069"/>
                        <a:pt x="5544" y="51107"/>
                        <a:pt x="14859" y="44102"/>
                      </a:cubicBezTo>
                      <a:cubicBezTo>
                        <a:pt x="36723" y="28334"/>
                        <a:pt x="61243" y="16622"/>
                        <a:pt x="87249" y="9527"/>
                      </a:cubicBezTo>
                      <a:cubicBezTo>
                        <a:pt x="106934" y="3133"/>
                        <a:pt x="127512" y="-82"/>
                        <a:pt x="148209" y="2"/>
                      </a:cubicBezTo>
                      <a:cubicBezTo>
                        <a:pt x="168859" y="486"/>
                        <a:pt x="189355" y="3690"/>
                        <a:pt x="209169" y="9527"/>
                      </a:cubicBezTo>
                      <a:cubicBezTo>
                        <a:pt x="235567" y="15619"/>
                        <a:pt x="260308" y="27421"/>
                        <a:pt x="281654" y="44102"/>
                      </a:cubicBezTo>
                      <a:cubicBezTo>
                        <a:pt x="291195" y="50908"/>
                        <a:pt x="296728" y="62010"/>
                        <a:pt x="296418" y="73725"/>
                      </a:cubicBezTo>
                      <a:lnTo>
                        <a:pt x="296418" y="14783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4" name="Google Shape;2804;p269"/>
                <p:cNvSpPr/>
                <p:nvPr/>
              </p:nvSpPr>
              <p:spPr>
                <a:xfrm>
                  <a:off x="17138123" y="1550192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5"/>
                      </a:moveTo>
                      <a:cubicBezTo>
                        <a:pt x="148209" y="115031"/>
                        <a:pt x="115031" y="148209"/>
                        <a:pt x="74105" y="148209"/>
                      </a:cubicBezTo>
                      <a:cubicBezTo>
                        <a:pt x="33178" y="148209"/>
                        <a:pt x="0" y="115031"/>
                        <a:pt x="0" y="74105"/>
                      </a:cubicBezTo>
                      <a:cubicBezTo>
                        <a:pt x="0" y="33178"/>
                        <a:pt x="33178" y="0"/>
                        <a:pt x="74105" y="0"/>
                      </a:cubicBezTo>
                      <a:cubicBezTo>
                        <a:pt x="115031" y="0"/>
                        <a:pt x="148209" y="33178"/>
                        <a:pt x="148209" y="74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05" name="Google Shape;2805;p269"/>
              <p:cNvGrpSpPr/>
              <p:nvPr/>
            </p:nvGrpSpPr>
            <p:grpSpPr>
              <a:xfrm>
                <a:off x="16810081" y="921861"/>
                <a:ext cx="743774" cy="512573"/>
                <a:chOff x="16933626" y="782036"/>
                <a:chExt cx="743774" cy="512573"/>
              </a:xfrm>
            </p:grpSpPr>
            <p:sp>
              <p:nvSpPr>
                <p:cNvPr id="2806" name="Google Shape;2806;p269"/>
                <p:cNvSpPr/>
                <p:nvPr/>
              </p:nvSpPr>
              <p:spPr>
                <a:xfrm>
                  <a:off x="16933626" y="782036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323850" y="66675"/>
                      </a:moveTo>
                      <a:lnTo>
                        <a:pt x="476250" y="66675"/>
                      </a:ln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95250" y="333375"/>
                      </a:lnTo>
                      <a:lnTo>
                        <a:pt x="95250" y="428625"/>
                      </a:lnTo>
                      <a:lnTo>
                        <a:pt x="190500" y="333375"/>
                      </a:lnTo>
                      <a:lnTo>
                        <a:pt x="247650" y="333375"/>
                      </a:lnTo>
                      <a:lnTo>
                        <a:pt x="247650" y="142875"/>
                      </a:lnTo>
                      <a:cubicBezTo>
                        <a:pt x="247650" y="100965"/>
                        <a:pt x="281940" y="66675"/>
                        <a:pt x="323850" y="666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7" name="Google Shape;2807;p269"/>
                <p:cNvSpPr/>
                <p:nvPr/>
              </p:nvSpPr>
              <p:spPr>
                <a:xfrm>
                  <a:off x="17201150" y="865984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438150" y="0"/>
                      </a:move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285750" y="333375"/>
                      </a:lnTo>
                      <a:lnTo>
                        <a:pt x="381000" y="428625"/>
                      </a:lnTo>
                      <a:lnTo>
                        <a:pt x="381000" y="333375"/>
                      </a:lnTo>
                      <a:lnTo>
                        <a:pt x="438150" y="333375"/>
                      </a:lnTo>
                      <a:cubicBezTo>
                        <a:pt x="459105" y="333375"/>
                        <a:pt x="476250" y="316230"/>
                        <a:pt x="476250" y="295275"/>
                      </a:cubicBez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808" name="Google Shape;2808;p269"/>
            <p:cNvSpPr txBox="1"/>
            <p:nvPr/>
          </p:nvSpPr>
          <p:spPr>
            <a:xfrm>
              <a:off x="17205424" y="-22770"/>
              <a:ext cx="10827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50" rIns="60950" bIns="30450" anchor="t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pt-BR" sz="933" b="1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Diálogo</a:t>
              </a:r>
              <a:endParaRPr sz="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r" rtl="0">
                <a:lnSpc>
                  <a:spcPct val="107000"/>
                </a:lnSpc>
                <a:spcBef>
                  <a:spcPts val="715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1333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2812" name="Google Shape;2812;p269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"/>
          <a:stretch/>
        </p:blipFill>
        <p:spPr>
          <a:xfrm>
            <a:off x="3197385" y="537146"/>
            <a:ext cx="8274500" cy="216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12;p61">
            <a:extLst>
              <a:ext uri="{FF2B5EF4-FFF2-40B4-BE49-F238E27FC236}">
                <a16:creationId xmlns:a16="http://schemas.microsoft.com/office/drawing/2014/main" id="{BD84A421-A55B-2380-E672-BA4C23065690}"/>
              </a:ext>
            </a:extLst>
          </p:cNvPr>
          <p:cNvSpPr/>
          <p:nvPr/>
        </p:nvSpPr>
        <p:spPr>
          <a:xfrm>
            <a:off x="3450425" y="5080876"/>
            <a:ext cx="8020426" cy="1467187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</a:endParaRPr>
          </a:p>
        </p:txBody>
      </p:sp>
      <p:sp>
        <p:nvSpPr>
          <p:cNvPr id="3" name="Google Shape;814;p61">
            <a:extLst>
              <a:ext uri="{FF2B5EF4-FFF2-40B4-BE49-F238E27FC236}">
                <a16:creationId xmlns:a16="http://schemas.microsoft.com/office/drawing/2014/main" id="{B1BA8339-6CBC-5533-9423-4818515CBA7F}"/>
              </a:ext>
            </a:extLst>
          </p:cNvPr>
          <p:cNvSpPr txBox="1"/>
          <p:nvPr/>
        </p:nvSpPr>
        <p:spPr>
          <a:xfrm>
            <a:off x="4649684" y="5177189"/>
            <a:ext cx="2465279" cy="40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07000"/>
              </a:lnSpc>
              <a:buSzPts val="2700"/>
            </a:pPr>
            <a:r>
              <a:rPr lang="pt-BR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Recurso digital</a:t>
            </a:r>
            <a:endParaRPr lang="pt-BR" sz="20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" name="Google Shape;815;p61">
            <a:extLst>
              <a:ext uri="{FF2B5EF4-FFF2-40B4-BE49-F238E27FC236}">
                <a16:creationId xmlns:a16="http://schemas.microsoft.com/office/drawing/2014/main" id="{D92AE846-26FB-BDAF-477A-DEB9140C0819}"/>
              </a:ext>
            </a:extLst>
          </p:cNvPr>
          <p:cNvSpPr/>
          <p:nvPr/>
        </p:nvSpPr>
        <p:spPr>
          <a:xfrm>
            <a:off x="3615692" y="5027589"/>
            <a:ext cx="868725" cy="864592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D555D33-DC54-3268-DAB6-2B08D42FD5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9379" y="5161435"/>
            <a:ext cx="641350" cy="5969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64298CF-2223-EA8C-0953-38A2BB436302}"/>
              </a:ext>
            </a:extLst>
          </p:cNvPr>
          <p:cNvSpPr txBox="1"/>
          <p:nvPr/>
        </p:nvSpPr>
        <p:spPr>
          <a:xfrm>
            <a:off x="4593807" y="5601615"/>
            <a:ext cx="67038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Leia a matéria na íntegra em: </a:t>
            </a:r>
            <a:r>
              <a:rPr lang="pt-BR" sz="160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https://jornal.usp.br/radio-usp/gamificacao-em-sala-de-aula-surge-como-ferramenta-de-motivacao-nas-escolas/</a:t>
            </a:r>
            <a:r>
              <a:rPr lang="pt-BR" sz="160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pt-BR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3">
          <a:extLst>
            <a:ext uri="{FF2B5EF4-FFF2-40B4-BE49-F238E27FC236}">
              <a16:creationId xmlns:a16="http://schemas.microsoft.com/office/drawing/2014/main" id="{26ABADAD-E151-89D1-41AD-23EFC40B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p269">
            <a:extLst>
              <a:ext uri="{FF2B5EF4-FFF2-40B4-BE49-F238E27FC236}">
                <a16:creationId xmlns:a16="http://schemas.microsoft.com/office/drawing/2014/main" id="{32A9890A-1A74-5E35-4748-9795FD0E4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16923" y="2003855"/>
            <a:ext cx="8561575" cy="13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Mas, quando alguém escolhe uma resposta na tela, o que o programa precisa fazer para mostrar o resultado?</a:t>
            </a:r>
            <a:endParaRPr lang="pt-BR" sz="20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A resposta tem que ser recebida, conferida, a pontuação precisa mudar e o resultado precisa voltar para quem está jogando.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pt-BR" sz="2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95" name="Google Shape;2795;p269">
            <a:extLst>
              <a:ext uri="{FF2B5EF4-FFF2-40B4-BE49-F238E27FC236}">
                <a16:creationId xmlns:a16="http://schemas.microsoft.com/office/drawing/2014/main" id="{0A9D66B2-0678-9F8D-2D44-AF28667CD224}"/>
              </a:ext>
            </a:extLst>
          </p:cNvPr>
          <p:cNvGrpSpPr/>
          <p:nvPr/>
        </p:nvGrpSpPr>
        <p:grpSpPr>
          <a:xfrm>
            <a:off x="11470851" y="-15180"/>
            <a:ext cx="721836" cy="732801"/>
            <a:chOff x="17205424" y="-22770"/>
            <a:chExt cx="1082700" cy="1099146"/>
          </a:xfrm>
        </p:grpSpPr>
        <p:sp>
          <p:nvSpPr>
            <p:cNvPr id="2796" name="Google Shape;2796;p269">
              <a:extLst>
                <a:ext uri="{FF2B5EF4-FFF2-40B4-BE49-F238E27FC236}">
                  <a16:creationId xmlns:a16="http://schemas.microsoft.com/office/drawing/2014/main" id="{F6C4BB49-54FB-6E53-5A0E-7A7F4720126A}"/>
                </a:ext>
              </a:extLst>
            </p:cNvPr>
            <p:cNvSpPr/>
            <p:nvPr/>
          </p:nvSpPr>
          <p:spPr>
            <a:xfrm flipH="1">
              <a:off x="17208525" y="0"/>
              <a:ext cx="1079474" cy="1076376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9AC2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7" name="Google Shape;2797;p269">
              <a:extLst>
                <a:ext uri="{FF2B5EF4-FFF2-40B4-BE49-F238E27FC236}">
                  <a16:creationId xmlns:a16="http://schemas.microsoft.com/office/drawing/2014/main" id="{C5593059-C5C8-792C-7A43-BC03883249E3}"/>
                </a:ext>
              </a:extLst>
            </p:cNvPr>
            <p:cNvGrpSpPr/>
            <p:nvPr/>
          </p:nvGrpSpPr>
          <p:grpSpPr>
            <a:xfrm>
              <a:off x="17492825" y="308532"/>
              <a:ext cx="573896" cy="683969"/>
              <a:chOff x="16810081" y="921861"/>
              <a:chExt cx="743774" cy="886429"/>
            </a:xfrm>
          </p:grpSpPr>
          <p:grpSp>
            <p:nvGrpSpPr>
              <p:cNvPr id="2798" name="Google Shape;2798;p269">
                <a:extLst>
                  <a:ext uri="{FF2B5EF4-FFF2-40B4-BE49-F238E27FC236}">
                    <a16:creationId xmlns:a16="http://schemas.microsoft.com/office/drawing/2014/main" id="{0960B94E-29FC-CE68-9772-98D34484679E}"/>
                  </a:ext>
                </a:extLst>
              </p:cNvPr>
              <p:cNvGrpSpPr/>
              <p:nvPr/>
            </p:nvGrpSpPr>
            <p:grpSpPr>
              <a:xfrm>
                <a:off x="16810084" y="1434434"/>
                <a:ext cx="691713" cy="373856"/>
                <a:chOff x="16866377" y="1492565"/>
                <a:chExt cx="691713" cy="373856"/>
              </a:xfrm>
            </p:grpSpPr>
            <p:sp>
              <p:nvSpPr>
                <p:cNvPr id="2799" name="Google Shape;2799;p269">
                  <a:extLst>
                    <a:ext uri="{FF2B5EF4-FFF2-40B4-BE49-F238E27FC236}">
                      <a16:creationId xmlns:a16="http://schemas.microsoft.com/office/drawing/2014/main" id="{744435AF-9765-8044-CB17-E3DC65B92800}"/>
                    </a:ext>
                  </a:extLst>
                </p:cNvPr>
                <p:cNvSpPr/>
                <p:nvPr/>
              </p:nvSpPr>
              <p:spPr>
                <a:xfrm>
                  <a:off x="17335767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0" name="Google Shape;2800;p269">
                  <a:extLst>
                    <a:ext uri="{FF2B5EF4-FFF2-40B4-BE49-F238E27FC236}">
                      <a16:creationId xmlns:a16="http://schemas.microsoft.com/office/drawing/2014/main" id="{434DC542-E2F8-BDDB-CD2E-37D27E986C11}"/>
                    </a:ext>
                  </a:extLst>
                </p:cNvPr>
                <p:cNvSpPr/>
                <p:nvPr/>
              </p:nvSpPr>
              <p:spPr>
                <a:xfrm>
                  <a:off x="16940479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1" name="Google Shape;2801;p269">
                  <a:extLst>
                    <a:ext uri="{FF2B5EF4-FFF2-40B4-BE49-F238E27FC236}">
                      <a16:creationId xmlns:a16="http://schemas.microsoft.com/office/drawing/2014/main" id="{3C2C352A-03EB-D46A-934D-299EFA7DDAD6}"/>
                    </a:ext>
                  </a:extLst>
                </p:cNvPr>
                <p:cNvSpPr/>
                <p:nvPr/>
              </p:nvSpPr>
              <p:spPr>
                <a:xfrm>
                  <a:off x="17289475" y="1660871"/>
                  <a:ext cx="26861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15" h="148399" extrusionOk="0">
                      <a:moveTo>
                        <a:pt x="253746" y="44101"/>
                      </a:moveTo>
                      <a:cubicBezTo>
                        <a:pt x="232401" y="27476"/>
                        <a:pt x="207702" y="15681"/>
                        <a:pt x="181356" y="9525"/>
                      </a:cubicBezTo>
                      <a:cubicBezTo>
                        <a:pt x="161530" y="3742"/>
                        <a:pt x="141041" y="541"/>
                        <a:pt x="120396" y="0"/>
                      </a:cubicBezTo>
                      <a:cubicBezTo>
                        <a:pt x="99702" y="-45"/>
                        <a:pt x="79130" y="3169"/>
                        <a:pt x="59436" y="9525"/>
                      </a:cubicBezTo>
                      <a:cubicBezTo>
                        <a:pt x="39707" y="14783"/>
                        <a:pt x="20843" y="22868"/>
                        <a:pt x="3429" y="33529"/>
                      </a:cubicBezTo>
                      <a:cubicBezTo>
                        <a:pt x="2286" y="34862"/>
                        <a:pt x="1238" y="36196"/>
                        <a:pt x="0" y="37434"/>
                      </a:cubicBezTo>
                      <a:cubicBezTo>
                        <a:pt x="27701" y="44889"/>
                        <a:pt x="53615" y="57847"/>
                        <a:pt x="76200" y="75534"/>
                      </a:cubicBezTo>
                      <a:cubicBezTo>
                        <a:pt x="94021" y="88541"/>
                        <a:pt x="104425" y="109385"/>
                        <a:pt x="104108" y="131446"/>
                      </a:cubicBezTo>
                      <a:lnTo>
                        <a:pt x="104108" y="148400"/>
                      </a:lnTo>
                      <a:lnTo>
                        <a:pt x="268605" y="148400"/>
                      </a:lnTo>
                      <a:lnTo>
                        <a:pt x="268605" y="73819"/>
                      </a:lnTo>
                      <a:cubicBezTo>
                        <a:pt x="268892" y="62061"/>
                        <a:pt x="263324" y="50927"/>
                        <a:pt x="253746" y="441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2" name="Google Shape;2802;p269">
                  <a:extLst>
                    <a:ext uri="{FF2B5EF4-FFF2-40B4-BE49-F238E27FC236}">
                      <a16:creationId xmlns:a16="http://schemas.microsoft.com/office/drawing/2014/main" id="{201FB12D-2451-3A81-2DBA-605ED1899E35}"/>
                    </a:ext>
                  </a:extLst>
                </p:cNvPr>
                <p:cNvSpPr/>
                <p:nvPr/>
              </p:nvSpPr>
              <p:spPr>
                <a:xfrm>
                  <a:off x="16866377" y="1660872"/>
                  <a:ext cx="26860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05" h="148399" extrusionOk="0">
                      <a:moveTo>
                        <a:pt x="164687" y="131445"/>
                      </a:moveTo>
                      <a:cubicBezTo>
                        <a:pt x="164708" y="110012"/>
                        <a:pt x="174533" y="89766"/>
                        <a:pt x="191357" y="76486"/>
                      </a:cubicBezTo>
                      <a:lnTo>
                        <a:pt x="192500" y="75534"/>
                      </a:lnTo>
                      <a:lnTo>
                        <a:pt x="193739" y="74676"/>
                      </a:lnTo>
                      <a:cubicBezTo>
                        <a:pt x="216581" y="58427"/>
                        <a:pt x="241848" y="45890"/>
                        <a:pt x="268605" y="37529"/>
                      </a:cubicBezTo>
                      <a:cubicBezTo>
                        <a:pt x="266700" y="35529"/>
                        <a:pt x="264986" y="33433"/>
                        <a:pt x="263176" y="31338"/>
                      </a:cubicBezTo>
                      <a:cubicBezTo>
                        <a:pt x="246437" y="21538"/>
                        <a:pt x="228377" y="14193"/>
                        <a:pt x="209550" y="9525"/>
                      </a:cubicBezTo>
                      <a:cubicBezTo>
                        <a:pt x="189726" y="3734"/>
                        <a:pt x="169235" y="532"/>
                        <a:pt x="148590" y="0"/>
                      </a:cubicBezTo>
                      <a:cubicBezTo>
                        <a:pt x="127896" y="-39"/>
                        <a:pt x="107326" y="3176"/>
                        <a:pt x="87630" y="9525"/>
                      </a:cubicBezTo>
                      <a:cubicBezTo>
                        <a:pt x="61651" y="16693"/>
                        <a:pt x="37144" y="28399"/>
                        <a:pt x="15240" y="44101"/>
                      </a:cubicBezTo>
                      <a:cubicBezTo>
                        <a:pt x="5858" y="51134"/>
                        <a:pt x="236" y="62096"/>
                        <a:pt x="0" y="73819"/>
                      </a:cubicBezTo>
                      <a:lnTo>
                        <a:pt x="0" y="148400"/>
                      </a:lnTo>
                      <a:lnTo>
                        <a:pt x="164687" y="1484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3" name="Google Shape;2803;p269">
                  <a:extLst>
                    <a:ext uri="{FF2B5EF4-FFF2-40B4-BE49-F238E27FC236}">
                      <a16:creationId xmlns:a16="http://schemas.microsoft.com/office/drawing/2014/main" id="{1B51DF46-DC4D-F12F-BB46-859607297084}"/>
                    </a:ext>
                  </a:extLst>
                </p:cNvPr>
                <p:cNvSpPr/>
                <p:nvPr/>
              </p:nvSpPr>
              <p:spPr>
                <a:xfrm>
                  <a:off x="17064018" y="1718592"/>
                  <a:ext cx="296430" cy="147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430" h="147829" extrusionOk="0">
                      <a:moveTo>
                        <a:pt x="0" y="147830"/>
                      </a:moveTo>
                      <a:lnTo>
                        <a:pt x="0" y="73725"/>
                      </a:lnTo>
                      <a:cubicBezTo>
                        <a:pt x="45" y="62069"/>
                        <a:pt x="5544" y="51107"/>
                        <a:pt x="14859" y="44102"/>
                      </a:cubicBezTo>
                      <a:cubicBezTo>
                        <a:pt x="36723" y="28334"/>
                        <a:pt x="61243" y="16622"/>
                        <a:pt x="87249" y="9527"/>
                      </a:cubicBezTo>
                      <a:cubicBezTo>
                        <a:pt x="106934" y="3133"/>
                        <a:pt x="127512" y="-82"/>
                        <a:pt x="148209" y="2"/>
                      </a:cubicBezTo>
                      <a:cubicBezTo>
                        <a:pt x="168859" y="486"/>
                        <a:pt x="189355" y="3690"/>
                        <a:pt x="209169" y="9527"/>
                      </a:cubicBezTo>
                      <a:cubicBezTo>
                        <a:pt x="235567" y="15619"/>
                        <a:pt x="260308" y="27421"/>
                        <a:pt x="281654" y="44102"/>
                      </a:cubicBezTo>
                      <a:cubicBezTo>
                        <a:pt x="291195" y="50908"/>
                        <a:pt x="296728" y="62010"/>
                        <a:pt x="296418" y="73725"/>
                      </a:cubicBezTo>
                      <a:lnTo>
                        <a:pt x="296418" y="14783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4" name="Google Shape;2804;p269">
                  <a:extLst>
                    <a:ext uri="{FF2B5EF4-FFF2-40B4-BE49-F238E27FC236}">
                      <a16:creationId xmlns:a16="http://schemas.microsoft.com/office/drawing/2014/main" id="{58E85ECB-7293-9AC6-C991-5F27EBCB1D6C}"/>
                    </a:ext>
                  </a:extLst>
                </p:cNvPr>
                <p:cNvSpPr/>
                <p:nvPr/>
              </p:nvSpPr>
              <p:spPr>
                <a:xfrm>
                  <a:off x="17138123" y="1550192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5"/>
                      </a:moveTo>
                      <a:cubicBezTo>
                        <a:pt x="148209" y="115031"/>
                        <a:pt x="115031" y="148209"/>
                        <a:pt x="74105" y="148209"/>
                      </a:cubicBezTo>
                      <a:cubicBezTo>
                        <a:pt x="33178" y="148209"/>
                        <a:pt x="0" y="115031"/>
                        <a:pt x="0" y="74105"/>
                      </a:cubicBezTo>
                      <a:cubicBezTo>
                        <a:pt x="0" y="33178"/>
                        <a:pt x="33178" y="0"/>
                        <a:pt x="74105" y="0"/>
                      </a:cubicBezTo>
                      <a:cubicBezTo>
                        <a:pt x="115031" y="0"/>
                        <a:pt x="148209" y="33178"/>
                        <a:pt x="148209" y="74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05" name="Google Shape;2805;p269">
                <a:extLst>
                  <a:ext uri="{FF2B5EF4-FFF2-40B4-BE49-F238E27FC236}">
                    <a16:creationId xmlns:a16="http://schemas.microsoft.com/office/drawing/2014/main" id="{1BB749D6-08CA-783A-B22E-CFF320D287E0}"/>
                  </a:ext>
                </a:extLst>
              </p:cNvPr>
              <p:cNvGrpSpPr/>
              <p:nvPr/>
            </p:nvGrpSpPr>
            <p:grpSpPr>
              <a:xfrm>
                <a:off x="16810081" y="921861"/>
                <a:ext cx="743774" cy="512573"/>
                <a:chOff x="16933626" y="782036"/>
                <a:chExt cx="743774" cy="512573"/>
              </a:xfrm>
            </p:grpSpPr>
            <p:sp>
              <p:nvSpPr>
                <p:cNvPr id="2806" name="Google Shape;2806;p269">
                  <a:extLst>
                    <a:ext uri="{FF2B5EF4-FFF2-40B4-BE49-F238E27FC236}">
                      <a16:creationId xmlns:a16="http://schemas.microsoft.com/office/drawing/2014/main" id="{2F04D92F-055E-A4C8-6548-AB333ABBF7A4}"/>
                    </a:ext>
                  </a:extLst>
                </p:cNvPr>
                <p:cNvSpPr/>
                <p:nvPr/>
              </p:nvSpPr>
              <p:spPr>
                <a:xfrm>
                  <a:off x="16933626" y="782036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323850" y="66675"/>
                      </a:moveTo>
                      <a:lnTo>
                        <a:pt x="476250" y="66675"/>
                      </a:ln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95250" y="333375"/>
                      </a:lnTo>
                      <a:lnTo>
                        <a:pt x="95250" y="428625"/>
                      </a:lnTo>
                      <a:lnTo>
                        <a:pt x="190500" y="333375"/>
                      </a:lnTo>
                      <a:lnTo>
                        <a:pt x="247650" y="333375"/>
                      </a:lnTo>
                      <a:lnTo>
                        <a:pt x="247650" y="142875"/>
                      </a:lnTo>
                      <a:cubicBezTo>
                        <a:pt x="247650" y="100965"/>
                        <a:pt x="281940" y="66675"/>
                        <a:pt x="323850" y="666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7" name="Google Shape;2807;p269">
                  <a:extLst>
                    <a:ext uri="{FF2B5EF4-FFF2-40B4-BE49-F238E27FC236}">
                      <a16:creationId xmlns:a16="http://schemas.microsoft.com/office/drawing/2014/main" id="{F117C6D5-61F2-A79B-4C2F-843BF4919871}"/>
                    </a:ext>
                  </a:extLst>
                </p:cNvPr>
                <p:cNvSpPr/>
                <p:nvPr/>
              </p:nvSpPr>
              <p:spPr>
                <a:xfrm>
                  <a:off x="17201150" y="865984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438150" y="0"/>
                      </a:move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285750" y="333375"/>
                      </a:lnTo>
                      <a:lnTo>
                        <a:pt x="381000" y="428625"/>
                      </a:lnTo>
                      <a:lnTo>
                        <a:pt x="381000" y="333375"/>
                      </a:lnTo>
                      <a:lnTo>
                        <a:pt x="438150" y="333375"/>
                      </a:lnTo>
                      <a:cubicBezTo>
                        <a:pt x="459105" y="333375"/>
                        <a:pt x="476250" y="316230"/>
                        <a:pt x="476250" y="295275"/>
                      </a:cubicBez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808" name="Google Shape;2808;p269">
              <a:extLst>
                <a:ext uri="{FF2B5EF4-FFF2-40B4-BE49-F238E27FC236}">
                  <a16:creationId xmlns:a16="http://schemas.microsoft.com/office/drawing/2014/main" id="{DBBB6F2F-8C08-2692-FB67-BB203D1CE9F0}"/>
                </a:ext>
              </a:extLst>
            </p:cNvPr>
            <p:cNvSpPr txBox="1"/>
            <p:nvPr/>
          </p:nvSpPr>
          <p:spPr>
            <a:xfrm>
              <a:off x="17205424" y="-22770"/>
              <a:ext cx="10827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50" rIns="60950" bIns="30450" anchor="t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pt-BR" sz="933" b="1" i="0" u="none" strike="noStrike" cap="none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Diálogo</a:t>
              </a:r>
              <a:endParaRPr sz="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r" rtl="0">
                <a:lnSpc>
                  <a:spcPct val="107000"/>
                </a:lnSpc>
                <a:spcBef>
                  <a:spcPts val="715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1333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057AC7-3734-142B-8B60-B27F91990E07}"/>
              </a:ext>
            </a:extLst>
          </p:cNvPr>
          <p:cNvSpPr txBox="1"/>
          <p:nvPr/>
        </p:nvSpPr>
        <p:spPr>
          <a:xfrm>
            <a:off x="3591682" y="3575502"/>
            <a:ext cx="72400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Se vocês fossem explicar para alguém o que o programa precisa fazer entre o clique na resposta e o “acertou/errou” na tela, quais passos listariam?</a:t>
            </a:r>
          </a:p>
        </p:txBody>
      </p:sp>
      <p:sp>
        <p:nvSpPr>
          <p:cNvPr id="4" name="Triângulo 27">
            <a:extLst>
              <a:ext uri="{FF2B5EF4-FFF2-40B4-BE49-F238E27FC236}">
                <a16:creationId xmlns:a16="http://schemas.microsoft.com/office/drawing/2014/main" id="{70644070-7753-D4EA-BA5E-D11E580144BC}"/>
              </a:ext>
            </a:extLst>
          </p:cNvPr>
          <p:cNvSpPr/>
          <p:nvPr/>
        </p:nvSpPr>
        <p:spPr>
          <a:xfrm rot="5400000">
            <a:off x="3411706" y="3664592"/>
            <a:ext cx="195903" cy="156870"/>
          </a:xfrm>
          <a:prstGeom prst="triangl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</p:spTree>
    <p:extLst>
      <p:ext uri="{BB962C8B-B14F-4D97-AF65-F5344CB8AC3E}">
        <p14:creationId xmlns:p14="http://schemas.microsoft.com/office/powerpoint/2010/main" val="785768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57;p62">
            <a:extLst>
              <a:ext uri="{FF2B5EF4-FFF2-40B4-BE49-F238E27FC236}">
                <a16:creationId xmlns:a16="http://schemas.microsoft.com/office/drawing/2014/main" id="{680AFC43-D77B-CAA2-1A8B-C45D458C24A3}"/>
              </a:ext>
            </a:extLst>
          </p:cNvPr>
          <p:cNvSpPr/>
          <p:nvPr/>
        </p:nvSpPr>
        <p:spPr>
          <a:xfrm>
            <a:off x="2686746" y="4782361"/>
            <a:ext cx="5380929" cy="1227979"/>
          </a:xfrm>
          <a:prstGeom prst="rect">
            <a:avLst/>
          </a:prstGeom>
          <a:solidFill>
            <a:srgbClr val="263B4B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</a:endParaRPr>
          </a:p>
        </p:txBody>
      </p:sp>
      <p:sp>
        <p:nvSpPr>
          <p:cNvPr id="5" name="Google Shape;858;p62">
            <a:extLst>
              <a:ext uri="{FF2B5EF4-FFF2-40B4-BE49-F238E27FC236}">
                <a16:creationId xmlns:a16="http://schemas.microsoft.com/office/drawing/2014/main" id="{83E0E296-E7C5-92AC-6EBC-C1F797BC145F}"/>
              </a:ext>
            </a:extLst>
          </p:cNvPr>
          <p:cNvSpPr txBox="1"/>
          <p:nvPr/>
        </p:nvSpPr>
        <p:spPr>
          <a:xfrm>
            <a:off x="3873304" y="4856522"/>
            <a:ext cx="1890015" cy="40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07000"/>
              </a:lnSpc>
              <a:buSzPts val="2700"/>
            </a:pP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Tome nota</a:t>
            </a:r>
            <a:endParaRPr sz="2000" dirty="0"/>
          </a:p>
          <a:p>
            <a:pPr>
              <a:lnSpc>
                <a:spcPct val="107000"/>
              </a:lnSpc>
              <a:spcBef>
                <a:spcPts val="715"/>
              </a:spcBef>
              <a:buSzPts val="2700"/>
            </a:pPr>
            <a:endParaRPr sz="20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" name="Google Shape;859;p62">
            <a:extLst>
              <a:ext uri="{FF2B5EF4-FFF2-40B4-BE49-F238E27FC236}">
                <a16:creationId xmlns:a16="http://schemas.microsoft.com/office/drawing/2014/main" id="{F435B2E9-A9EB-3CB9-13FB-454BB2963184}"/>
              </a:ext>
            </a:extLst>
          </p:cNvPr>
          <p:cNvSpPr/>
          <p:nvPr/>
        </p:nvSpPr>
        <p:spPr>
          <a:xfrm>
            <a:off x="2852011" y="4729074"/>
            <a:ext cx="868725" cy="864592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FD0683A-AF92-09D8-66BB-8BDFC36CBF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2934" y="4905012"/>
            <a:ext cx="548441" cy="503209"/>
          </a:xfrm>
          <a:prstGeom prst="rect">
            <a:avLst/>
          </a:prstGeom>
        </p:spPr>
      </p:pic>
      <p:sp>
        <p:nvSpPr>
          <p:cNvPr id="2818" name="Google Shape;2818;p270"/>
          <p:cNvSpPr txBox="1">
            <a:spLocks noGrp="1"/>
          </p:cNvSpPr>
          <p:nvPr>
            <p:ph type="body" idx="1"/>
          </p:nvPr>
        </p:nvSpPr>
        <p:spPr>
          <a:xfrm>
            <a:off x="2686746" y="834846"/>
            <a:ext cx="8512200" cy="65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Programa que conversa com quem usa</a:t>
            </a:r>
            <a:endParaRPr sz="3200" dirty="0"/>
          </a:p>
        </p:txBody>
      </p:sp>
      <p:sp>
        <p:nvSpPr>
          <p:cNvPr id="2819" name="Google Shape;2819;p270"/>
          <p:cNvSpPr txBox="1"/>
          <p:nvPr/>
        </p:nvSpPr>
        <p:spPr>
          <a:xfrm>
            <a:off x="2686746" y="1737395"/>
            <a:ext cx="467436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Há programas que só calculam e mostram um resultado único. Outros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perguntam, esperam, processam e respondem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novo. Caixa eletrônico, site de compra e </a:t>
            </a:r>
            <a:r>
              <a:rPr lang="pt-BR" sz="2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 tela também fazem essa conversa em etapas.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4" name="Google Shape;2824;p270"/>
          <p:cNvSpPr txBox="1"/>
          <p:nvPr/>
        </p:nvSpPr>
        <p:spPr>
          <a:xfrm>
            <a:off x="3872426" y="5274983"/>
            <a:ext cx="4261924" cy="748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 interativo = </a:t>
            </a:r>
            <a:r>
              <a:rPr lang="pt-BR" sz="1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troca de informações com o usuário em etapas.</a:t>
            </a:r>
            <a:endParaRPr sz="16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Google Shape;136;p4">
            <a:extLst>
              <a:ext uri="{FF2B5EF4-FFF2-40B4-BE49-F238E27FC236}">
                <a16:creationId xmlns:a16="http://schemas.microsoft.com/office/drawing/2014/main" id="{3B57B30B-4D89-EDE7-7A5A-0EA5BD167615}"/>
              </a:ext>
            </a:extLst>
          </p:cNvPr>
          <p:cNvSpPr txBox="1"/>
          <p:nvPr/>
        </p:nvSpPr>
        <p:spPr>
          <a:xfrm>
            <a:off x="8168724" y="2085344"/>
            <a:ext cx="3747052" cy="3201603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lang="pt-BR" sz="2200" b="1" dirty="0">
                <a:latin typeface="Poppins"/>
                <a:ea typeface="Poppins"/>
                <a:cs typeface="Poppins"/>
                <a:sym typeface="Poppins"/>
              </a:rPr>
              <a:t>Exemplo:</a:t>
            </a: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 no caixa eletrônico você escolhe “saldo”; o sistema processa e devolve o valor. No </a:t>
            </a:r>
            <a:r>
              <a:rPr lang="pt-BR" sz="22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, você digita a resposta; o sistema confere e devolve o feedback.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496C3F2-FC15-8E92-20EF-954CE315E090}"/>
              </a:ext>
            </a:extLst>
          </p:cNvPr>
          <p:cNvGrpSpPr/>
          <p:nvPr/>
        </p:nvGrpSpPr>
        <p:grpSpPr>
          <a:xfrm>
            <a:off x="7837229" y="1737395"/>
            <a:ext cx="3484995" cy="728133"/>
            <a:chOff x="12518550" y="1441559"/>
            <a:chExt cx="5227493" cy="1092200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5F21CB7E-1C62-B795-22A6-51CDE8749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18550" y="1441559"/>
              <a:ext cx="5207000" cy="1092200"/>
            </a:xfrm>
            <a:prstGeom prst="rect">
              <a:avLst/>
            </a:prstGeom>
          </p:spPr>
        </p:pic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A61D2ADA-6A0E-28E9-9CD6-3CD61351FF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690124" y="1574173"/>
              <a:ext cx="749300" cy="72390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93E21C14-A2CD-684A-A560-1B8B4104C14A}"/>
                </a:ext>
              </a:extLst>
            </p:cNvPr>
            <p:cNvSpPr txBox="1"/>
            <p:nvPr/>
          </p:nvSpPr>
          <p:spPr>
            <a:xfrm>
              <a:off x="13963023" y="1780400"/>
              <a:ext cx="3783020" cy="3130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DESTAQUE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271"/>
          <p:cNvSpPr txBox="1"/>
          <p:nvPr/>
        </p:nvSpPr>
        <p:spPr>
          <a:xfrm>
            <a:off x="3245126" y="1953190"/>
            <a:ext cx="7337149" cy="21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lvl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</a:pPr>
            <a:r>
              <a:rPr lang="pt-BR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input()</a:t>
            </a:r>
            <a:b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mostra uma mensagem e guarda o que a pessoa digitou.</a:t>
            </a:r>
            <a:endParaRPr sz="15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88900" lvl="0">
              <a:spcAft>
                <a:spcPts val="1200"/>
              </a:spcAft>
              <a:buClr>
                <a:schemeClr val="dk1"/>
              </a:buClr>
              <a:buSzPts val="2200"/>
            </a:pPr>
            <a:r>
              <a:rPr lang="pt-BR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/ else</a:t>
            </a:r>
            <a:b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decide qual mensagem devolver.</a:t>
            </a:r>
            <a:endParaRPr sz="15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88900" lvl="0">
              <a:spcAft>
                <a:spcPts val="1200"/>
              </a:spcAft>
              <a:buClr>
                <a:schemeClr val="dk1"/>
              </a:buClr>
              <a:buSzPts val="2200"/>
            </a:pPr>
            <a:r>
              <a:rPr lang="pt-BR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print()</a:t>
            </a:r>
            <a:b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mostra o resultado na tela.</a:t>
            </a:r>
            <a:endParaRPr sz="15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2" name="Google Shape;2832;p271"/>
          <p:cNvSpPr txBox="1"/>
          <p:nvPr/>
        </p:nvSpPr>
        <p:spPr>
          <a:xfrm>
            <a:off x="2625715" y="4361819"/>
            <a:ext cx="6192079" cy="15696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resposta </a:t>
            </a:r>
            <a:r>
              <a:rPr lang="pt-BR" sz="1800" dirty="0">
                <a:solidFill>
                  <a:srgbClr val="D4D4D4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800" dirty="0">
                <a:solidFill>
                  <a:srgbClr val="DCDCAA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800" dirty="0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"Quanto e 7 + 3? "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dirty="0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resposta </a:t>
            </a:r>
            <a:r>
              <a:rPr lang="pt-BR" sz="1800" dirty="0">
                <a:solidFill>
                  <a:srgbClr val="D4D4D4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800" dirty="0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"10"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00" dirty="0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800" dirty="0">
                <a:solidFill>
                  <a:srgbClr val="DCDCAA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800" dirty="0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"Voce acertou!"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dirty="0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C586C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00" dirty="0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800" dirty="0">
                <a:solidFill>
                  <a:srgbClr val="DCDCAA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800" dirty="0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"Voce errou!"</a:t>
            </a:r>
            <a:r>
              <a:rPr lang="pt-BR" sz="1800" dirty="0">
                <a:solidFill>
                  <a:srgbClr val="BBBEB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dirty="0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8B2BD1-BAC6-8D88-F0A9-DC408DA54B5A}"/>
              </a:ext>
            </a:extLst>
          </p:cNvPr>
          <p:cNvSpPr txBox="1"/>
          <p:nvPr/>
        </p:nvSpPr>
        <p:spPr>
          <a:xfrm>
            <a:off x="2686746" y="3902851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</a:p>
        </p:txBody>
      </p:sp>
      <p:sp>
        <p:nvSpPr>
          <p:cNvPr id="5" name="Google Shape;563;p14">
            <a:extLst>
              <a:ext uri="{FF2B5EF4-FFF2-40B4-BE49-F238E27FC236}">
                <a16:creationId xmlns:a16="http://schemas.microsoft.com/office/drawing/2014/main" id="{DC7ADE7F-FB28-8DF2-77B9-4B6A5644821B}"/>
              </a:ext>
            </a:extLst>
          </p:cNvPr>
          <p:cNvSpPr/>
          <p:nvPr/>
        </p:nvSpPr>
        <p:spPr>
          <a:xfrm>
            <a:off x="2797165" y="2031817"/>
            <a:ext cx="475293" cy="474340"/>
          </a:xfrm>
          <a:prstGeom prst="ellipse">
            <a:avLst/>
          </a:prstGeom>
          <a:solidFill>
            <a:srgbClr val="529AC2"/>
          </a:solidFill>
          <a:ln w="25400" cap="flat" cmpd="sng">
            <a:solidFill>
              <a:srgbClr val="529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800"/>
            </a:pPr>
            <a:endParaRPr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696BC34-6207-1636-47A7-371534C4CB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5075" y="2100712"/>
            <a:ext cx="400050" cy="336550"/>
          </a:xfrm>
          <a:prstGeom prst="rect">
            <a:avLst/>
          </a:prstGeom>
        </p:spPr>
      </p:pic>
      <p:sp>
        <p:nvSpPr>
          <p:cNvPr id="11" name="Google Shape;563;p14">
            <a:extLst>
              <a:ext uri="{FF2B5EF4-FFF2-40B4-BE49-F238E27FC236}">
                <a16:creationId xmlns:a16="http://schemas.microsoft.com/office/drawing/2014/main" id="{A4582CF0-AAF9-3175-1918-08B5762E34CB}"/>
              </a:ext>
            </a:extLst>
          </p:cNvPr>
          <p:cNvSpPr/>
          <p:nvPr/>
        </p:nvSpPr>
        <p:spPr>
          <a:xfrm>
            <a:off x="2797165" y="2650723"/>
            <a:ext cx="475293" cy="474340"/>
          </a:xfrm>
          <a:prstGeom prst="ellipse">
            <a:avLst/>
          </a:prstGeom>
          <a:solidFill>
            <a:srgbClr val="529AC2"/>
          </a:solidFill>
          <a:ln w="25400" cap="flat" cmpd="sng">
            <a:solidFill>
              <a:srgbClr val="529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800"/>
            </a:pPr>
            <a:endParaRPr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67F07A2A-63A5-77A2-B039-1E76FB07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5075" y="2719618"/>
            <a:ext cx="400050" cy="336550"/>
          </a:xfrm>
          <a:prstGeom prst="rect">
            <a:avLst/>
          </a:prstGeom>
        </p:spPr>
      </p:pic>
      <p:sp>
        <p:nvSpPr>
          <p:cNvPr id="15" name="Google Shape;563;p14">
            <a:extLst>
              <a:ext uri="{FF2B5EF4-FFF2-40B4-BE49-F238E27FC236}">
                <a16:creationId xmlns:a16="http://schemas.microsoft.com/office/drawing/2014/main" id="{06C5B3D7-C176-CB61-B64F-BD9099D77EBC}"/>
              </a:ext>
            </a:extLst>
          </p:cNvPr>
          <p:cNvSpPr/>
          <p:nvPr/>
        </p:nvSpPr>
        <p:spPr>
          <a:xfrm>
            <a:off x="2802133" y="3338445"/>
            <a:ext cx="475293" cy="474340"/>
          </a:xfrm>
          <a:prstGeom prst="ellipse">
            <a:avLst/>
          </a:prstGeom>
          <a:solidFill>
            <a:srgbClr val="529AC2"/>
          </a:solidFill>
          <a:ln w="25400" cap="flat" cmpd="sng">
            <a:solidFill>
              <a:srgbClr val="529A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800"/>
            </a:pPr>
            <a:endParaRPr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D3CB2FED-ED83-9120-B2F9-7B96EDB4A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0043" y="3407340"/>
            <a:ext cx="400050" cy="336550"/>
          </a:xfrm>
          <a:prstGeom prst="rect">
            <a:avLst/>
          </a:prstGeom>
        </p:spPr>
      </p:pic>
      <p:sp>
        <p:nvSpPr>
          <p:cNvPr id="19" name="Google Shape;2850;p271">
            <a:extLst>
              <a:ext uri="{FF2B5EF4-FFF2-40B4-BE49-F238E27FC236}">
                <a16:creationId xmlns:a16="http://schemas.microsoft.com/office/drawing/2014/main" id="{45DEC941-E853-C85F-D0DE-8A6619411600}"/>
              </a:ext>
            </a:extLst>
          </p:cNvPr>
          <p:cNvSpPr txBox="1"/>
          <p:nvPr/>
        </p:nvSpPr>
        <p:spPr>
          <a:xfrm>
            <a:off x="2625715" y="5949363"/>
            <a:ext cx="657175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Code.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2818;p270">
            <a:extLst>
              <a:ext uri="{FF2B5EF4-FFF2-40B4-BE49-F238E27FC236}">
                <a16:creationId xmlns:a16="http://schemas.microsoft.com/office/drawing/2014/main" id="{7558B347-458C-8C1E-140E-5BA63111F7D7}"/>
              </a:ext>
            </a:extLst>
          </p:cNvPr>
          <p:cNvSpPr txBox="1">
            <a:spLocks/>
          </p:cNvSpPr>
          <p:nvPr/>
        </p:nvSpPr>
        <p:spPr>
          <a:xfrm>
            <a:off x="2686746" y="834846"/>
            <a:ext cx="7485954" cy="65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Como o programa pergunta, decide e responde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8" name="Google Shape;2838;p272"/>
          <p:cNvSpPr txBox="1"/>
          <p:nvPr/>
        </p:nvSpPr>
        <p:spPr>
          <a:xfrm>
            <a:off x="2686745" y="2408000"/>
            <a:ext cx="5075711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+mj-lt"/>
              <a:buAutoNum type="arabicPeriod"/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Perguntar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input(...)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+mj-lt"/>
              <a:buAutoNum type="arabicPeriod"/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Receber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guarda em resposta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+mj-lt"/>
              <a:buAutoNum type="arabicPeriod"/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Verificar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if compara com "10"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+mj-lt"/>
              <a:buAutoNum type="arabicPeriod"/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Responder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print com o feedback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0" name="Google Shape;2840;p272"/>
          <p:cNvSpPr txBox="1"/>
          <p:nvPr/>
        </p:nvSpPr>
        <p:spPr>
          <a:xfrm>
            <a:off x="8946149" y="4774197"/>
            <a:ext cx="3322051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1" name="Google Shape;2841;p272" title="Generatedimage_1785840844979.png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33201" y="2373076"/>
            <a:ext cx="4558799" cy="240112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D02088C-5E48-7A81-130E-50F716464854}"/>
              </a:ext>
            </a:extLst>
          </p:cNvPr>
          <p:cNvSpPr txBox="1"/>
          <p:nvPr/>
        </p:nvSpPr>
        <p:spPr>
          <a:xfrm>
            <a:off x="2686745" y="1672989"/>
            <a:ext cx="85122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No código anterior, cada pedaço tem um papel. O 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percorre 4 etapas:</a:t>
            </a:r>
          </a:p>
        </p:txBody>
      </p:sp>
      <p:sp>
        <p:nvSpPr>
          <p:cNvPr id="2" name="Google Shape;136;p4">
            <a:extLst>
              <a:ext uri="{FF2B5EF4-FFF2-40B4-BE49-F238E27FC236}">
                <a16:creationId xmlns:a16="http://schemas.microsoft.com/office/drawing/2014/main" id="{8C2E276D-A51E-A730-AF6F-C2E223A4F5CC}"/>
              </a:ext>
            </a:extLst>
          </p:cNvPr>
          <p:cNvSpPr txBox="1"/>
          <p:nvPr/>
        </p:nvSpPr>
        <p:spPr>
          <a:xfrm>
            <a:off x="2764640" y="4924827"/>
            <a:ext cx="5359288" cy="1271844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defRPr/>
            </a:pPr>
            <a:r>
              <a:rPr lang="pt-BR" sz="2200" b="1" dirty="0">
                <a:latin typeface="Poppins"/>
                <a:ea typeface="Poppins"/>
                <a:cs typeface="Poppins"/>
                <a:sym typeface="Poppins"/>
              </a:rPr>
              <a:t>Exemplo:</a:t>
            </a: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 digitar 10 ou 9 muda só o resultado; o caminho é o mesmo.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B57E602-A887-4802-885A-0E3CD72F43E4}"/>
              </a:ext>
            </a:extLst>
          </p:cNvPr>
          <p:cNvGrpSpPr/>
          <p:nvPr/>
        </p:nvGrpSpPr>
        <p:grpSpPr>
          <a:xfrm>
            <a:off x="2433146" y="4576878"/>
            <a:ext cx="3484995" cy="728133"/>
            <a:chOff x="12518550" y="1441559"/>
            <a:chExt cx="5227493" cy="109220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670CA80A-24FB-8571-B690-BD7D84D1C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18550" y="1441559"/>
              <a:ext cx="5207000" cy="1092200"/>
            </a:xfrm>
            <a:prstGeom prst="rect">
              <a:avLst/>
            </a:prstGeom>
          </p:spPr>
        </p:pic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407929A1-1E00-ABCD-3AF4-5B457C5FBB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690124" y="1574173"/>
              <a:ext cx="749300" cy="723900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7F0E83B-EC39-FB95-EBC1-6AB7D971090D}"/>
                </a:ext>
              </a:extLst>
            </p:cNvPr>
            <p:cNvSpPr txBox="1"/>
            <p:nvPr/>
          </p:nvSpPr>
          <p:spPr>
            <a:xfrm>
              <a:off x="13963023" y="1780400"/>
              <a:ext cx="3783020" cy="3130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DESTAQUE</a:t>
              </a:r>
            </a:p>
          </p:txBody>
        </p:sp>
      </p:grpSp>
      <p:sp>
        <p:nvSpPr>
          <p:cNvPr id="5" name="Google Shape;2818;p270">
            <a:extLst>
              <a:ext uri="{FF2B5EF4-FFF2-40B4-BE49-F238E27FC236}">
                <a16:creationId xmlns:a16="http://schemas.microsoft.com/office/drawing/2014/main" id="{51C5D0D0-43EC-45A4-DA97-6090E775F6F8}"/>
              </a:ext>
            </a:extLst>
          </p:cNvPr>
          <p:cNvSpPr txBox="1">
            <a:spLocks/>
          </p:cNvSpPr>
          <p:nvPr/>
        </p:nvSpPr>
        <p:spPr>
          <a:xfrm>
            <a:off x="2686745" y="834846"/>
            <a:ext cx="7228779" cy="43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 caminho de uma pergunta</a:t>
            </a:r>
            <a:endParaRPr lang="pt-BR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p273"/>
          <p:cNvSpPr/>
          <p:nvPr/>
        </p:nvSpPr>
        <p:spPr>
          <a:xfrm>
            <a:off x="3026388" y="3246338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2" name="Google Shape;2852;p273"/>
          <p:cNvSpPr/>
          <p:nvPr/>
        </p:nvSpPr>
        <p:spPr>
          <a:xfrm>
            <a:off x="6738425" y="3233075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3" name="Google Shape;2853;p273"/>
          <p:cNvSpPr/>
          <p:nvPr/>
        </p:nvSpPr>
        <p:spPr>
          <a:xfrm>
            <a:off x="3013506" y="433563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4" name="Google Shape;2854;p273"/>
          <p:cNvSpPr/>
          <p:nvPr/>
        </p:nvSpPr>
        <p:spPr>
          <a:xfrm>
            <a:off x="6739928" y="432236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6" name="Google Shape;2856;p273"/>
          <p:cNvSpPr txBox="1">
            <a:spLocks noGrp="1"/>
          </p:cNvSpPr>
          <p:nvPr>
            <p:ph type="body" idx="1"/>
          </p:nvPr>
        </p:nvSpPr>
        <p:spPr>
          <a:xfrm>
            <a:off x="2989945" y="1214798"/>
            <a:ext cx="7107300" cy="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/>
              <a:t>Em um </a:t>
            </a:r>
            <a:r>
              <a:rPr lang="pt-BR" sz="3200" i="1" dirty="0"/>
              <a:t>quiz</a:t>
            </a:r>
            <a:r>
              <a:rPr lang="pt-BR" sz="3200" dirty="0"/>
              <a:t> no terminal, qual ordem descreve melhor o fluxo de uma pergunta?</a:t>
            </a:r>
            <a:endParaRPr sz="3200" dirty="0"/>
          </a:p>
        </p:txBody>
      </p:sp>
      <p:sp>
        <p:nvSpPr>
          <p:cNvPr id="2857" name="Google Shape;2857;p273"/>
          <p:cNvSpPr txBox="1"/>
          <p:nvPr/>
        </p:nvSpPr>
        <p:spPr>
          <a:xfrm>
            <a:off x="2989945" y="4433896"/>
            <a:ext cx="3442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Verificar, perguntar, receber, responder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8" name="Google Shape;2858;p273"/>
          <p:cNvSpPr txBox="1"/>
          <p:nvPr/>
        </p:nvSpPr>
        <p:spPr>
          <a:xfrm>
            <a:off x="3061327" y="3354120"/>
            <a:ext cx="3325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Receber, perguntar, responder, verificar</a:t>
            </a:r>
            <a:endParaRPr sz="2000" dirty="0"/>
          </a:p>
        </p:txBody>
      </p:sp>
      <p:sp>
        <p:nvSpPr>
          <p:cNvPr id="2859" name="Google Shape;2859;p273"/>
          <p:cNvSpPr txBox="1"/>
          <p:nvPr/>
        </p:nvSpPr>
        <p:spPr>
          <a:xfrm>
            <a:off x="6741425" y="3340857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Perguntar, receber, verificar, responder</a:t>
            </a:r>
            <a:endParaRPr sz="2000" dirty="0"/>
          </a:p>
        </p:txBody>
      </p:sp>
      <p:sp>
        <p:nvSpPr>
          <p:cNvPr id="2860" name="Google Shape;2860;p273"/>
          <p:cNvSpPr txBox="1"/>
          <p:nvPr/>
        </p:nvSpPr>
        <p:spPr>
          <a:xfrm>
            <a:off x="6738425" y="4420624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Responder, verificar, receber, perguntar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9728EFD9-AD2C-A2EC-D89C-09295ED03031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49CB87AC-87D8-9F32-8345-F049742DC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E0219369-9E94-E704-F570-AD5D1F39A5AE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Google Shape;2865;p274"/>
          <p:cNvSpPr txBox="1"/>
          <p:nvPr/>
        </p:nvSpPr>
        <p:spPr>
          <a:xfrm>
            <a:off x="1625600" y="1295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274"/>
          <p:cNvSpPr txBox="1"/>
          <p:nvPr/>
        </p:nvSpPr>
        <p:spPr>
          <a:xfrm>
            <a:off x="723900" y="125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7" name="Google Shape;2867;p274"/>
          <p:cNvSpPr txBox="1"/>
          <p:nvPr/>
        </p:nvSpPr>
        <p:spPr>
          <a:xfrm>
            <a:off x="1054100" y="14859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0" name="Google Shape;2870;p274"/>
          <p:cNvSpPr/>
          <p:nvPr/>
        </p:nvSpPr>
        <p:spPr>
          <a:xfrm>
            <a:off x="2437471" y="3352444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274"/>
          <p:cNvSpPr/>
          <p:nvPr/>
        </p:nvSpPr>
        <p:spPr>
          <a:xfrm>
            <a:off x="2437471" y="4430149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274"/>
          <p:cNvSpPr/>
          <p:nvPr/>
        </p:nvSpPr>
        <p:spPr>
          <a:xfrm>
            <a:off x="10227893" y="4420624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3" name="Google Shape;2873;p274"/>
          <p:cNvSpPr/>
          <p:nvPr/>
        </p:nvSpPr>
        <p:spPr>
          <a:xfrm rot="-3044895">
            <a:off x="10272403" y="3429518"/>
            <a:ext cx="385473" cy="265854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D83C9779-5B34-7055-255D-3E8B4DE84665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8C9AE6E-68C9-26A7-D124-ACE78535C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8" name="Google Shape;833;p62">
            <a:extLst>
              <a:ext uri="{FF2B5EF4-FFF2-40B4-BE49-F238E27FC236}">
                <a16:creationId xmlns:a16="http://schemas.microsoft.com/office/drawing/2014/main" id="{93AF6964-A1AC-BECA-B7A7-E7FA894B2EC8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3" name="Google Shape;2851;p273">
            <a:extLst>
              <a:ext uri="{FF2B5EF4-FFF2-40B4-BE49-F238E27FC236}">
                <a16:creationId xmlns:a16="http://schemas.microsoft.com/office/drawing/2014/main" id="{9B600D79-1DC0-BB91-C8B7-4AFB06BE1934}"/>
              </a:ext>
            </a:extLst>
          </p:cNvPr>
          <p:cNvSpPr/>
          <p:nvPr/>
        </p:nvSpPr>
        <p:spPr>
          <a:xfrm>
            <a:off x="3026388" y="3246338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852;p273">
            <a:extLst>
              <a:ext uri="{FF2B5EF4-FFF2-40B4-BE49-F238E27FC236}">
                <a16:creationId xmlns:a16="http://schemas.microsoft.com/office/drawing/2014/main" id="{ABBAFB0F-18F8-C6A8-BDE2-17B9C77CE0F6}"/>
              </a:ext>
            </a:extLst>
          </p:cNvPr>
          <p:cNvSpPr/>
          <p:nvPr/>
        </p:nvSpPr>
        <p:spPr>
          <a:xfrm>
            <a:off x="6738425" y="3233075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853;p273">
            <a:extLst>
              <a:ext uri="{FF2B5EF4-FFF2-40B4-BE49-F238E27FC236}">
                <a16:creationId xmlns:a16="http://schemas.microsoft.com/office/drawing/2014/main" id="{6F237ACB-BBF2-0357-4050-11B72E66F385}"/>
              </a:ext>
            </a:extLst>
          </p:cNvPr>
          <p:cNvSpPr/>
          <p:nvPr/>
        </p:nvSpPr>
        <p:spPr>
          <a:xfrm>
            <a:off x="3013506" y="433563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854;p273">
            <a:extLst>
              <a:ext uri="{FF2B5EF4-FFF2-40B4-BE49-F238E27FC236}">
                <a16:creationId xmlns:a16="http://schemas.microsoft.com/office/drawing/2014/main" id="{DD2BE090-E1E8-6C57-F632-EBF6469E599D}"/>
              </a:ext>
            </a:extLst>
          </p:cNvPr>
          <p:cNvSpPr/>
          <p:nvPr/>
        </p:nvSpPr>
        <p:spPr>
          <a:xfrm>
            <a:off x="6739928" y="432236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856;p273">
            <a:extLst>
              <a:ext uri="{FF2B5EF4-FFF2-40B4-BE49-F238E27FC236}">
                <a16:creationId xmlns:a16="http://schemas.microsoft.com/office/drawing/2014/main" id="{FCFAE279-C34C-16D9-274D-88A695970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945" y="1214798"/>
            <a:ext cx="7107300" cy="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/>
              <a:t>Em um </a:t>
            </a:r>
            <a:r>
              <a:rPr lang="pt-BR" sz="3200" i="1" dirty="0"/>
              <a:t>quiz</a:t>
            </a:r>
            <a:r>
              <a:rPr lang="pt-BR" sz="3200" dirty="0"/>
              <a:t> no terminal, qual ordem descreve melhor o fluxo de uma pergunta?</a:t>
            </a:r>
            <a:endParaRPr sz="3200" dirty="0"/>
          </a:p>
        </p:txBody>
      </p:sp>
      <p:sp>
        <p:nvSpPr>
          <p:cNvPr id="11" name="Google Shape;2857;p273">
            <a:extLst>
              <a:ext uri="{FF2B5EF4-FFF2-40B4-BE49-F238E27FC236}">
                <a16:creationId xmlns:a16="http://schemas.microsoft.com/office/drawing/2014/main" id="{CDAAD252-D8D7-406C-F7FA-BCF1FCEADE64}"/>
              </a:ext>
            </a:extLst>
          </p:cNvPr>
          <p:cNvSpPr txBox="1"/>
          <p:nvPr/>
        </p:nvSpPr>
        <p:spPr>
          <a:xfrm>
            <a:off x="2989945" y="4433896"/>
            <a:ext cx="3442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Verificar, perguntar, receber, responder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858;p273">
            <a:extLst>
              <a:ext uri="{FF2B5EF4-FFF2-40B4-BE49-F238E27FC236}">
                <a16:creationId xmlns:a16="http://schemas.microsoft.com/office/drawing/2014/main" id="{74D67CA6-1DAF-4357-3198-203CA6F674D7}"/>
              </a:ext>
            </a:extLst>
          </p:cNvPr>
          <p:cNvSpPr txBox="1"/>
          <p:nvPr/>
        </p:nvSpPr>
        <p:spPr>
          <a:xfrm>
            <a:off x="3061327" y="3354120"/>
            <a:ext cx="3325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Receber, perguntar, responder, verificar</a:t>
            </a:r>
            <a:endParaRPr sz="2000" dirty="0"/>
          </a:p>
        </p:txBody>
      </p:sp>
      <p:sp>
        <p:nvSpPr>
          <p:cNvPr id="13" name="Google Shape;2859;p273">
            <a:extLst>
              <a:ext uri="{FF2B5EF4-FFF2-40B4-BE49-F238E27FC236}">
                <a16:creationId xmlns:a16="http://schemas.microsoft.com/office/drawing/2014/main" id="{ACF42B33-E7AD-3FF5-357A-07A17E22A1C3}"/>
              </a:ext>
            </a:extLst>
          </p:cNvPr>
          <p:cNvSpPr txBox="1"/>
          <p:nvPr/>
        </p:nvSpPr>
        <p:spPr>
          <a:xfrm>
            <a:off x="6741425" y="3340857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Perguntar, receber, verificar, responder</a:t>
            </a:r>
            <a:endParaRPr sz="2000" dirty="0"/>
          </a:p>
        </p:txBody>
      </p:sp>
      <p:sp>
        <p:nvSpPr>
          <p:cNvPr id="14" name="Google Shape;2860;p273">
            <a:extLst>
              <a:ext uri="{FF2B5EF4-FFF2-40B4-BE49-F238E27FC236}">
                <a16:creationId xmlns:a16="http://schemas.microsoft.com/office/drawing/2014/main" id="{E9841EB1-120B-607D-6D9E-B840F6F4CB92}"/>
              </a:ext>
            </a:extLst>
          </p:cNvPr>
          <p:cNvSpPr txBox="1"/>
          <p:nvPr/>
        </p:nvSpPr>
        <p:spPr>
          <a:xfrm>
            <a:off x="6738425" y="4420624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Responder, verificar, receber, perguntar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57;p62">
            <a:extLst>
              <a:ext uri="{FF2B5EF4-FFF2-40B4-BE49-F238E27FC236}">
                <a16:creationId xmlns:a16="http://schemas.microsoft.com/office/drawing/2014/main" id="{1B1E397A-F7D7-F3F3-5272-690C89FB79E3}"/>
              </a:ext>
            </a:extLst>
          </p:cNvPr>
          <p:cNvSpPr/>
          <p:nvPr/>
        </p:nvSpPr>
        <p:spPr>
          <a:xfrm>
            <a:off x="2705428" y="4272759"/>
            <a:ext cx="8838898" cy="1442242"/>
          </a:xfrm>
          <a:prstGeom prst="rect">
            <a:avLst/>
          </a:prstGeom>
          <a:solidFill>
            <a:srgbClr val="263B4B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</a:endParaRPr>
          </a:p>
        </p:txBody>
      </p:sp>
      <p:sp>
        <p:nvSpPr>
          <p:cNvPr id="2890" name="Google Shape;2890;p275"/>
          <p:cNvSpPr txBox="1"/>
          <p:nvPr/>
        </p:nvSpPr>
        <p:spPr>
          <a:xfrm>
            <a:off x="2686746" y="1721358"/>
            <a:ext cx="9000429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sistemas interativos, como </a:t>
            </a:r>
            <a:r>
              <a:rPr lang="pt-BR" sz="2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quizzes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 jogos, o programa deve reter informações que mudam conforme as ações do usuário (ex.: pontuação acumulada).</a:t>
            </a:r>
          </a:p>
          <a:p>
            <a:pPr lvl="0" algn="l" rtl="0"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Isso fica numa variável (por exemplo, pontos) que inicia em zero e é atualizada a cada acerto, mantendo o histórico da sessão.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5" name="Google Shape;2895;p275"/>
          <p:cNvSpPr txBox="1"/>
          <p:nvPr/>
        </p:nvSpPr>
        <p:spPr>
          <a:xfrm>
            <a:off x="3958520" y="4898618"/>
            <a:ext cx="7366705" cy="64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variável de estado =</a:t>
            </a:r>
            <a:r>
              <a:rPr lang="pt-BR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informação que muda durante a interação e precisa sobreviver de uma pergunta para a outra.</a:t>
            </a:r>
            <a:endParaRPr sz="18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858;p62">
            <a:extLst>
              <a:ext uri="{FF2B5EF4-FFF2-40B4-BE49-F238E27FC236}">
                <a16:creationId xmlns:a16="http://schemas.microsoft.com/office/drawing/2014/main" id="{4F2820EF-5861-B3F8-2F54-1D2F8BF6CC72}"/>
              </a:ext>
            </a:extLst>
          </p:cNvPr>
          <p:cNvSpPr txBox="1"/>
          <p:nvPr/>
        </p:nvSpPr>
        <p:spPr>
          <a:xfrm>
            <a:off x="4006287" y="4346919"/>
            <a:ext cx="1890015" cy="40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07000"/>
              </a:lnSpc>
              <a:buSzPts val="2700"/>
            </a:pP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Tome nota</a:t>
            </a:r>
            <a:endParaRPr sz="2000" dirty="0"/>
          </a:p>
          <a:p>
            <a:pPr>
              <a:lnSpc>
                <a:spcPct val="107000"/>
              </a:lnSpc>
              <a:spcBef>
                <a:spcPts val="715"/>
              </a:spcBef>
              <a:buSzPts val="2700"/>
            </a:pPr>
            <a:endParaRPr sz="20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" name="Google Shape;859;p62">
            <a:extLst>
              <a:ext uri="{FF2B5EF4-FFF2-40B4-BE49-F238E27FC236}">
                <a16:creationId xmlns:a16="http://schemas.microsoft.com/office/drawing/2014/main" id="{A0B0D468-C924-3033-2B42-F95393FEA665}"/>
              </a:ext>
            </a:extLst>
          </p:cNvPr>
          <p:cNvSpPr/>
          <p:nvPr/>
        </p:nvSpPr>
        <p:spPr>
          <a:xfrm>
            <a:off x="2870694" y="4219471"/>
            <a:ext cx="868725" cy="864592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3C25566-C8A3-B287-F334-3DC8FCE876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1617" y="4395409"/>
            <a:ext cx="548441" cy="503209"/>
          </a:xfrm>
          <a:prstGeom prst="rect">
            <a:avLst/>
          </a:prstGeom>
        </p:spPr>
      </p:pic>
      <p:sp>
        <p:nvSpPr>
          <p:cNvPr id="15" name="Google Shape;2818;p270">
            <a:extLst>
              <a:ext uri="{FF2B5EF4-FFF2-40B4-BE49-F238E27FC236}">
                <a16:creationId xmlns:a16="http://schemas.microsoft.com/office/drawing/2014/main" id="{4A16CFB6-EAB3-C4FB-DCBD-802716D26BFB}"/>
              </a:ext>
            </a:extLst>
          </p:cNvPr>
          <p:cNvSpPr txBox="1">
            <a:spLocks/>
          </p:cNvSpPr>
          <p:nvPr/>
        </p:nvSpPr>
        <p:spPr>
          <a:xfrm>
            <a:off x="2686746" y="834846"/>
            <a:ext cx="6628704" cy="43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Variável de estado</a:t>
            </a:r>
            <a:endParaRPr lang="pt-BR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p276"/>
          <p:cNvSpPr txBox="1"/>
          <p:nvPr/>
        </p:nvSpPr>
        <p:spPr>
          <a:xfrm>
            <a:off x="7787426" y="1819139"/>
            <a:ext cx="4175332" cy="295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pontos </a:t>
            </a:r>
            <a:r>
              <a:rPr lang="pt-BR" sz="1800" dirty="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80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800" dirty="0">
              <a:solidFill>
                <a:srgbClr val="BBBE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resposta </a:t>
            </a:r>
            <a:r>
              <a:rPr lang="pt-BR" sz="1800" dirty="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80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800" dirty="0">
                <a:solidFill>
                  <a:srgbClr val="A5D6FF"/>
                </a:solidFill>
                <a:latin typeface="Courier New"/>
                <a:ea typeface="Courier New"/>
                <a:cs typeface="Courier New"/>
                <a:sym typeface="Courier New"/>
              </a:rPr>
              <a:t>"Quanto é 5 + 5? "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dirty="0">
              <a:solidFill>
                <a:srgbClr val="BBBE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 resposta </a:t>
            </a:r>
            <a:r>
              <a:rPr lang="pt-BR" sz="1800" dirty="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800" dirty="0">
                <a:solidFill>
                  <a:srgbClr val="A5D6FF"/>
                </a:solidFill>
                <a:latin typeface="Courier New"/>
                <a:ea typeface="Courier New"/>
                <a:cs typeface="Courier New"/>
                <a:sym typeface="Courier New"/>
              </a:rPr>
              <a:t>"10"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00" dirty="0">
              <a:solidFill>
                <a:srgbClr val="BBBE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80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800" dirty="0">
                <a:solidFill>
                  <a:srgbClr val="A5D6FF"/>
                </a:solidFill>
                <a:latin typeface="Courier New"/>
                <a:ea typeface="Courier New"/>
                <a:cs typeface="Courier New"/>
                <a:sym typeface="Courier New"/>
              </a:rPr>
              <a:t>"Certo!"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dirty="0">
              <a:solidFill>
                <a:srgbClr val="BBBE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    pontos </a:t>
            </a:r>
            <a:r>
              <a:rPr lang="pt-BR" sz="1800" dirty="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 pontos </a:t>
            </a:r>
            <a:r>
              <a:rPr lang="pt-BR" sz="1800" dirty="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800" dirty="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dirty="0">
              <a:solidFill>
                <a:srgbClr val="B5CEA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00" dirty="0">
              <a:solidFill>
                <a:srgbClr val="BBBE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80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800" dirty="0">
                <a:solidFill>
                  <a:srgbClr val="A5D6FF"/>
                </a:solidFill>
                <a:latin typeface="Courier New"/>
                <a:ea typeface="Courier New"/>
                <a:cs typeface="Courier New"/>
                <a:sym typeface="Courier New"/>
              </a:rPr>
              <a:t>"Errado!"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dirty="0">
              <a:solidFill>
                <a:srgbClr val="BBBEB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800" dirty="0">
                <a:solidFill>
                  <a:srgbClr val="A5D6FF"/>
                </a:solidFill>
                <a:latin typeface="Courier New"/>
                <a:ea typeface="Courier New"/>
                <a:cs typeface="Courier New"/>
                <a:sym typeface="Courier New"/>
              </a:rPr>
              <a:t>"Sua pontuação:"</a:t>
            </a:r>
            <a:r>
              <a:rPr lang="pt-BR" sz="1800" dirty="0">
                <a:solidFill>
                  <a:srgbClr val="BBBEBF"/>
                </a:solidFill>
                <a:latin typeface="Courier New"/>
                <a:ea typeface="Courier New"/>
                <a:cs typeface="Courier New"/>
                <a:sym typeface="Courier New"/>
              </a:rPr>
              <a:t>, pontos)</a:t>
            </a:r>
            <a:endParaRPr sz="24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850;p271">
            <a:extLst>
              <a:ext uri="{FF2B5EF4-FFF2-40B4-BE49-F238E27FC236}">
                <a16:creationId xmlns:a16="http://schemas.microsoft.com/office/drawing/2014/main" id="{BCB3EA2B-393F-4BCE-3CA0-83D74F495CBD}"/>
              </a:ext>
            </a:extLst>
          </p:cNvPr>
          <p:cNvSpPr txBox="1"/>
          <p:nvPr/>
        </p:nvSpPr>
        <p:spPr>
          <a:xfrm>
            <a:off x="7768376" y="4786645"/>
            <a:ext cx="4051695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Code.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6;p4">
            <a:extLst>
              <a:ext uri="{FF2B5EF4-FFF2-40B4-BE49-F238E27FC236}">
                <a16:creationId xmlns:a16="http://schemas.microsoft.com/office/drawing/2014/main" id="{16D6B149-BB11-42FC-9302-583CAF77ECB7}"/>
              </a:ext>
            </a:extLst>
          </p:cNvPr>
          <p:cNvSpPr txBox="1"/>
          <p:nvPr/>
        </p:nvSpPr>
        <p:spPr>
          <a:xfrm>
            <a:off x="2694325" y="4693918"/>
            <a:ext cx="5011144" cy="1416499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>
              <a:spcBef>
                <a:spcPts val="1200"/>
              </a:spcBef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Sem pontos, o programa até responde “certo/errado”, mas não consegue mostrar um placar no fim.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F9142187-583A-61CE-9948-7CD11C8291DD}"/>
              </a:ext>
            </a:extLst>
          </p:cNvPr>
          <p:cNvGrpSpPr/>
          <p:nvPr/>
        </p:nvGrpSpPr>
        <p:grpSpPr>
          <a:xfrm>
            <a:off x="2362832" y="4345969"/>
            <a:ext cx="3484995" cy="728133"/>
            <a:chOff x="12518550" y="1441559"/>
            <a:chExt cx="5227493" cy="109220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C1E8D09A-72AC-32C5-D259-B841E5B5B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18550" y="1441559"/>
              <a:ext cx="5207000" cy="1092200"/>
            </a:xfrm>
            <a:prstGeom prst="rect">
              <a:avLst/>
            </a:prstGeom>
          </p:spPr>
        </p:pic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BD6C551F-9D82-CC49-830C-6BE4A1DD1F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90124" y="1574173"/>
              <a:ext cx="749300" cy="723900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15B9185-B3AA-C4F0-61FF-D715DF04D95D}"/>
                </a:ext>
              </a:extLst>
            </p:cNvPr>
            <p:cNvSpPr txBox="1"/>
            <p:nvPr/>
          </p:nvSpPr>
          <p:spPr>
            <a:xfrm>
              <a:off x="13963023" y="1780400"/>
              <a:ext cx="3783020" cy="3130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DESTAQUE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C958DE9-0867-8182-78BC-FCB924203841}"/>
              </a:ext>
            </a:extLst>
          </p:cNvPr>
          <p:cNvSpPr txBox="1"/>
          <p:nvPr/>
        </p:nvSpPr>
        <p:spPr>
          <a:xfrm>
            <a:off x="2580281" y="1710347"/>
            <a:ext cx="501114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latin typeface="Poppins" panose="00000500000000000000" pitchFamily="2" charset="0"/>
                <a:cs typeface="Poppins" panose="00000500000000000000" pitchFamily="2" charset="0"/>
              </a:rPr>
              <a:t>Além de uma resposta isolada, o </a:t>
            </a:r>
            <a:r>
              <a:rPr lang="pt-BR" sz="2200" i="1" dirty="0">
                <a:latin typeface="Poppins" panose="00000500000000000000" pitchFamily="2" charset="0"/>
                <a:cs typeface="Poppins" panose="00000500000000000000" pitchFamily="2" charset="0"/>
              </a:rPr>
              <a:t>quiz</a:t>
            </a:r>
            <a:r>
              <a:rPr lang="pt-BR" sz="2200" dirty="0">
                <a:latin typeface="Poppins" panose="00000500000000000000" pitchFamily="2" charset="0"/>
                <a:cs typeface="Poppins" panose="00000500000000000000" pitchFamily="2" charset="0"/>
              </a:rPr>
              <a:t> precisa lembrar quantos pontos a pessoa já fez.</a:t>
            </a:r>
          </a:p>
          <a:p>
            <a:pPr>
              <a:spcBef>
                <a:spcPts val="1200"/>
              </a:spcBef>
            </a:pPr>
            <a:r>
              <a:rPr lang="pt-BR" sz="2200" dirty="0">
                <a:latin typeface="Poppins" panose="00000500000000000000" pitchFamily="2" charset="0"/>
                <a:cs typeface="Poppins" panose="00000500000000000000" pitchFamily="2" charset="0"/>
              </a:rPr>
              <a:t>Isso fica numa </a:t>
            </a:r>
            <a:r>
              <a:rPr lang="pt-BR" sz="2200" b="1" dirty="0">
                <a:latin typeface="Poppins" panose="00000500000000000000" pitchFamily="2" charset="0"/>
                <a:cs typeface="Poppins" panose="00000500000000000000" pitchFamily="2" charset="0"/>
              </a:rPr>
              <a:t>variável</a:t>
            </a:r>
            <a:r>
              <a:rPr lang="pt-BR" sz="2200" dirty="0">
                <a:latin typeface="Poppins" panose="00000500000000000000" pitchFamily="2" charset="0"/>
                <a:cs typeface="Poppins" panose="00000500000000000000" pitchFamily="2" charset="0"/>
              </a:rPr>
              <a:t> (por exemplo, pontos) que começa em zero e muda ao longo do jogo.</a:t>
            </a:r>
          </a:p>
        </p:txBody>
      </p:sp>
      <p:sp>
        <p:nvSpPr>
          <p:cNvPr id="2" name="Google Shape;2818;p270">
            <a:extLst>
              <a:ext uri="{FF2B5EF4-FFF2-40B4-BE49-F238E27FC236}">
                <a16:creationId xmlns:a16="http://schemas.microsoft.com/office/drawing/2014/main" id="{638904A8-EF8E-2AE8-1F32-F2D62FA16340}"/>
              </a:ext>
            </a:extLst>
          </p:cNvPr>
          <p:cNvSpPr txBox="1">
            <a:spLocks/>
          </p:cNvSpPr>
          <p:nvPr/>
        </p:nvSpPr>
        <p:spPr>
          <a:xfrm>
            <a:off x="2534346" y="823862"/>
            <a:ext cx="9657654" cy="43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Guardando informações durante a interação</a:t>
            </a:r>
            <a:endParaRPr lang="pt-BR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p277"/>
          <p:cNvSpPr txBox="1"/>
          <p:nvPr/>
        </p:nvSpPr>
        <p:spPr>
          <a:xfrm>
            <a:off x="2686746" y="1761150"/>
            <a:ext cx="8857554" cy="239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coordenação pediu um </a:t>
            </a:r>
            <a:r>
              <a:rPr lang="pt-BR" sz="22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3 perguntas para a feira de ciências.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pergunta tem uma resposta certa.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acerto vale 1 ponto.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final, o programa mostra a pontuação total do jogador.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4E5BCEC-547C-32FB-034F-59C154A4E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6343" y="5789562"/>
            <a:ext cx="1744133" cy="406400"/>
          </a:xfrm>
          <a:prstGeom prst="rect">
            <a:avLst/>
          </a:prstGeom>
        </p:spPr>
      </p:pic>
      <p:grpSp>
        <p:nvGrpSpPr>
          <p:cNvPr id="3" name="Gráfico 85">
            <a:extLst>
              <a:ext uri="{FF2B5EF4-FFF2-40B4-BE49-F238E27FC236}">
                <a16:creationId xmlns:a16="http://schemas.microsoft.com/office/drawing/2014/main" id="{F2295280-3A54-C989-AEBC-6BA5FCC82022}"/>
              </a:ext>
            </a:extLst>
          </p:cNvPr>
          <p:cNvGrpSpPr/>
          <p:nvPr/>
        </p:nvGrpSpPr>
        <p:grpSpPr>
          <a:xfrm>
            <a:off x="10609969" y="5873809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4" name="Forma Livre 150">
              <a:extLst>
                <a:ext uri="{FF2B5EF4-FFF2-40B4-BE49-F238E27FC236}">
                  <a16:creationId xmlns:a16="http://schemas.microsoft.com/office/drawing/2014/main" id="{E679F038-084D-90B7-9FDA-7D376B38FDEC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" name="Forma Livre 151">
              <a:extLst>
                <a:ext uri="{FF2B5EF4-FFF2-40B4-BE49-F238E27FC236}">
                  <a16:creationId xmlns:a16="http://schemas.microsoft.com/office/drawing/2014/main" id="{492EE82C-7AAA-8896-4593-3F3200F5ACD7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6" name="Forma Livre 152">
              <a:extLst>
                <a:ext uri="{FF2B5EF4-FFF2-40B4-BE49-F238E27FC236}">
                  <a16:creationId xmlns:a16="http://schemas.microsoft.com/office/drawing/2014/main" id="{D97D35C8-1416-21D1-6CE3-95E205930EB9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7" name="Forma Livre 153">
              <a:extLst>
                <a:ext uri="{FF2B5EF4-FFF2-40B4-BE49-F238E27FC236}">
                  <a16:creationId xmlns:a16="http://schemas.microsoft.com/office/drawing/2014/main" id="{B91F487A-8D51-7277-F204-2BDB9E79E9BF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8" name="Forma Livre 154">
              <a:extLst>
                <a:ext uri="{FF2B5EF4-FFF2-40B4-BE49-F238E27FC236}">
                  <a16:creationId xmlns:a16="http://schemas.microsoft.com/office/drawing/2014/main" id="{0BF6ED94-FC0F-58AE-3136-25C6201034D7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9" name="Forma Livre 155">
              <a:extLst>
                <a:ext uri="{FF2B5EF4-FFF2-40B4-BE49-F238E27FC236}">
                  <a16:creationId xmlns:a16="http://schemas.microsoft.com/office/drawing/2014/main" id="{95AD6ED2-F809-91C4-C05B-2151379F5DCD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10" name="Forma Livre 156">
              <a:extLst>
                <a:ext uri="{FF2B5EF4-FFF2-40B4-BE49-F238E27FC236}">
                  <a16:creationId xmlns:a16="http://schemas.microsoft.com/office/drawing/2014/main" id="{A18DEB73-0DE9-0598-173F-682AA3999AAF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11" name="Forma Livre 157">
              <a:extLst>
                <a:ext uri="{FF2B5EF4-FFF2-40B4-BE49-F238E27FC236}">
                  <a16:creationId xmlns:a16="http://schemas.microsoft.com/office/drawing/2014/main" id="{87249770-A6D4-CAF3-903A-A03828E99D81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</p:grpSp>
      <p:sp>
        <p:nvSpPr>
          <p:cNvPr id="12" name="Google Shape;2818;p270">
            <a:extLst>
              <a:ext uri="{FF2B5EF4-FFF2-40B4-BE49-F238E27FC236}">
                <a16:creationId xmlns:a16="http://schemas.microsoft.com/office/drawing/2014/main" id="{5957C099-5658-E888-9263-D42FAFF3F3ED}"/>
              </a:ext>
            </a:extLst>
          </p:cNvPr>
          <p:cNvSpPr txBox="1">
            <a:spLocks/>
          </p:cNvSpPr>
          <p:nvPr/>
        </p:nvSpPr>
        <p:spPr>
          <a:xfrm>
            <a:off x="2686746" y="834846"/>
            <a:ext cx="7530680" cy="43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Desenhando o fluxo de um </a:t>
            </a:r>
            <a:r>
              <a:rPr lang="pt-BR" sz="3200" b="1" i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endParaRPr lang="pt-BR" sz="3200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58;p35">
            <a:extLst>
              <a:ext uri="{FF2B5EF4-FFF2-40B4-BE49-F238E27FC236}">
                <a16:creationId xmlns:a16="http://schemas.microsoft.com/office/drawing/2014/main" id="{C88081F9-0FF5-74E0-C593-732A4D7BBAF1}"/>
              </a:ext>
            </a:extLst>
          </p:cNvPr>
          <p:cNvSpPr txBox="1"/>
          <p:nvPr/>
        </p:nvSpPr>
        <p:spPr>
          <a:xfrm>
            <a:off x="526578" y="3037884"/>
            <a:ext cx="3502237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tabLst/>
              <a:defRPr/>
            </a:pPr>
            <a:r>
              <a:rPr kumimoji="0" lang="pt-BR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Desenhando o fluxo de um </a:t>
            </a:r>
            <a:r>
              <a:rPr kumimoji="0" lang="pt-BR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quiz</a:t>
            </a:r>
          </a:p>
        </p:txBody>
      </p:sp>
      <p:sp>
        <p:nvSpPr>
          <p:cNvPr id="54" name="Espaço Reservado para Texto 36">
            <a:extLst>
              <a:ext uri="{FF2B5EF4-FFF2-40B4-BE49-F238E27FC236}">
                <a16:creationId xmlns:a16="http://schemas.microsoft.com/office/drawing/2014/main" id="{5CD15BD1-82DF-AB7F-13A7-CDFD73EE1AD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07001" y="1103242"/>
            <a:ext cx="6035675" cy="430769"/>
          </a:xfrm>
          <a:prstGeom prst="rect">
            <a:avLst/>
          </a:prstGeom>
        </p:spPr>
        <p:txBody>
          <a:bodyPr/>
          <a:lstStyle>
            <a:lvl1pPr>
              <a:defRPr sz="1900">
                <a:latin typeface="Poppins" pitchFamily="2" charset="77"/>
                <a:cs typeface="Poppins" pitchFamily="2" charset="77"/>
              </a:defRPr>
            </a:lvl1pPr>
          </a:lstStyle>
          <a:p>
            <a:pPr lvl="0">
              <a:spcAft>
                <a:spcPts val="600"/>
              </a:spcAft>
            </a:pPr>
            <a:r>
              <a:rPr lang="pt-BR" sz="1500" dirty="0"/>
              <a:t>Leiam as 3 perguntas abaixo.</a:t>
            </a:r>
          </a:p>
          <a:p>
            <a:pPr lvl="0">
              <a:spcAft>
                <a:spcPts val="600"/>
              </a:spcAft>
            </a:pPr>
            <a:endParaRPr lang="pt-BR" sz="1500" dirty="0"/>
          </a:p>
        </p:txBody>
      </p:sp>
      <p:sp>
        <p:nvSpPr>
          <p:cNvPr id="55" name="Espaço Reservado para Texto 36">
            <a:extLst>
              <a:ext uri="{FF2B5EF4-FFF2-40B4-BE49-F238E27FC236}">
                <a16:creationId xmlns:a16="http://schemas.microsoft.com/office/drawing/2014/main" id="{F3F22897-1A10-F27B-43F7-FB47984968B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207001" y="1850207"/>
            <a:ext cx="6035675" cy="1253761"/>
          </a:xfrm>
          <a:prstGeom prst="rect">
            <a:avLst/>
          </a:prstGeom>
        </p:spPr>
        <p:txBody>
          <a:bodyPr/>
          <a:lstStyle>
            <a:lvl1pPr>
              <a:defRPr sz="1900">
                <a:latin typeface="Poppins" pitchFamily="2" charset="77"/>
                <a:cs typeface="Poppins" pitchFamily="2" charset="77"/>
              </a:defRPr>
            </a:lvl1pPr>
          </a:lstStyle>
          <a:p>
            <a:pPr lvl="0">
              <a:spcAft>
                <a:spcPts val="600"/>
              </a:spcAft>
            </a:pPr>
            <a:r>
              <a:rPr lang="pt-BR" sz="1500" dirty="0"/>
              <a:t>Perguntas do </a:t>
            </a:r>
            <a:r>
              <a:rPr lang="pt-BR" sz="1500" i="1" dirty="0"/>
              <a:t>quiz</a:t>
            </a:r>
            <a:r>
              <a:rPr lang="pt-BR" sz="1500" dirty="0"/>
              <a:t>:</a:t>
            </a:r>
          </a:p>
          <a:p>
            <a:pPr marL="285750" lvl="0" indent="-285750">
              <a:spcAft>
                <a:spcPts val="600"/>
              </a:spcAft>
              <a:buBlip>
                <a:blip r:embed="rId3"/>
              </a:buBlip>
            </a:pPr>
            <a:r>
              <a:rPr lang="pt-BR" sz="1500" dirty="0"/>
              <a:t>Qual é a capital do Brasil?</a:t>
            </a:r>
          </a:p>
          <a:p>
            <a:pPr marL="285750" lvl="0" indent="-285750">
              <a:spcAft>
                <a:spcPts val="600"/>
              </a:spcAft>
              <a:buBlip>
                <a:blip r:embed="rId3"/>
              </a:buBlip>
            </a:pPr>
            <a:r>
              <a:rPr lang="pt-BR" sz="1500" dirty="0"/>
              <a:t>Quantos planetas existem no sistema solar?</a:t>
            </a:r>
          </a:p>
          <a:p>
            <a:pPr marL="285750" lvl="0" indent="-285750">
              <a:spcAft>
                <a:spcPts val="600"/>
              </a:spcAft>
              <a:buBlip>
                <a:blip r:embed="rId3"/>
              </a:buBlip>
            </a:pPr>
            <a:r>
              <a:rPr lang="pt-BR" sz="1500" dirty="0"/>
              <a:t>Qual é o maior oceano do mundo?</a:t>
            </a:r>
          </a:p>
          <a:p>
            <a:pPr lvl="0">
              <a:spcAft>
                <a:spcPts val="600"/>
              </a:spcAft>
            </a:pPr>
            <a:endParaRPr lang="pt-BR" sz="1500" dirty="0"/>
          </a:p>
        </p:txBody>
      </p:sp>
      <p:sp>
        <p:nvSpPr>
          <p:cNvPr id="56" name="Espaço Reservado para Texto 36">
            <a:extLst>
              <a:ext uri="{FF2B5EF4-FFF2-40B4-BE49-F238E27FC236}">
                <a16:creationId xmlns:a16="http://schemas.microsoft.com/office/drawing/2014/main" id="{33264860-C175-72B4-B119-0CC3196F7C1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07001" y="3279913"/>
            <a:ext cx="6739834" cy="1253761"/>
          </a:xfrm>
          <a:prstGeom prst="rect">
            <a:avLst/>
          </a:prstGeom>
        </p:spPr>
        <p:txBody>
          <a:bodyPr/>
          <a:lstStyle>
            <a:lvl1pPr>
              <a:defRPr sz="1900">
                <a:latin typeface="Poppins" pitchFamily="2" charset="77"/>
                <a:cs typeface="Poppins" pitchFamily="2" charset="77"/>
              </a:defRPr>
            </a:lvl1pPr>
          </a:lstStyle>
          <a:p>
            <a:pPr lvl="0">
              <a:spcAft>
                <a:spcPts val="600"/>
              </a:spcAft>
            </a:pPr>
            <a:r>
              <a:rPr lang="pt-BR" sz="1500" dirty="0"/>
              <a:t>Para cada pergunta, escrevam as 4 etapas do fluxo interativo: </a:t>
            </a:r>
          </a:p>
          <a:p>
            <a:pPr marL="285750" lvl="0" indent="-285750">
              <a:buBlip>
                <a:blip r:embed="rId3"/>
              </a:buBlip>
            </a:pPr>
            <a:r>
              <a:rPr lang="pt-BR" sz="1500" dirty="0"/>
              <a:t>O que o programa pergunta</a:t>
            </a:r>
          </a:p>
          <a:p>
            <a:pPr marL="285750" lvl="0" indent="-285750">
              <a:buBlip>
                <a:blip r:embed="rId3"/>
              </a:buBlip>
            </a:pPr>
            <a:r>
              <a:rPr lang="pt-BR" sz="1500" dirty="0"/>
              <a:t>O que recebe</a:t>
            </a:r>
          </a:p>
          <a:p>
            <a:pPr marL="285750" lvl="0" indent="-285750">
              <a:buBlip>
                <a:blip r:embed="rId3"/>
              </a:buBlip>
            </a:pPr>
            <a:r>
              <a:rPr lang="pt-BR" sz="1500" dirty="0"/>
              <a:t>O que verifica </a:t>
            </a:r>
          </a:p>
          <a:p>
            <a:pPr marL="285750" lvl="0" indent="-285750">
              <a:buBlip>
                <a:blip r:embed="rId3"/>
              </a:buBlip>
            </a:pPr>
            <a:r>
              <a:rPr lang="pt-BR" sz="1500" dirty="0"/>
              <a:t>O que responde</a:t>
            </a:r>
          </a:p>
          <a:p>
            <a:pPr lvl="0">
              <a:spcAft>
                <a:spcPts val="600"/>
              </a:spcAft>
            </a:pPr>
            <a:endParaRPr lang="pt-BR" sz="1500" dirty="0"/>
          </a:p>
        </p:txBody>
      </p:sp>
      <p:sp>
        <p:nvSpPr>
          <p:cNvPr id="57" name="Espaço Reservado para Texto 36">
            <a:extLst>
              <a:ext uri="{FF2B5EF4-FFF2-40B4-BE49-F238E27FC236}">
                <a16:creationId xmlns:a16="http://schemas.microsoft.com/office/drawing/2014/main" id="{2338F1AC-510F-6804-E2C2-F05AB90BCB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7000" y="4666367"/>
            <a:ext cx="6035675" cy="306793"/>
          </a:xfrm>
          <a:prstGeom prst="rect">
            <a:avLst/>
          </a:prstGeom>
        </p:spPr>
        <p:txBody>
          <a:bodyPr/>
          <a:lstStyle>
            <a:lvl1pPr>
              <a:defRPr sz="1900">
                <a:latin typeface="Poppins" pitchFamily="2" charset="77"/>
                <a:cs typeface="Poppins" pitchFamily="2" charset="77"/>
              </a:defRPr>
            </a:lvl1pPr>
          </a:lstStyle>
          <a:p>
            <a:pPr lvl="0">
              <a:spcAft>
                <a:spcPts val="600"/>
              </a:spcAft>
            </a:pPr>
            <a:r>
              <a:rPr lang="pt-BR" sz="1500" dirty="0"/>
              <a:t>Preencham o quadro de registro:</a:t>
            </a:r>
          </a:p>
        </p:txBody>
      </p:sp>
      <p:grpSp>
        <p:nvGrpSpPr>
          <p:cNvPr id="2" name="Google Shape;474;p35">
            <a:extLst>
              <a:ext uri="{FF2B5EF4-FFF2-40B4-BE49-F238E27FC236}">
                <a16:creationId xmlns:a16="http://schemas.microsoft.com/office/drawing/2014/main" id="{67E0B0D9-1C0A-40C3-AEB6-37E1772518B9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3" name="Google Shape;475;p35">
              <a:extLst>
                <a:ext uri="{FF2B5EF4-FFF2-40B4-BE49-F238E27FC236}">
                  <a16:creationId xmlns:a16="http://schemas.microsoft.com/office/drawing/2014/main" id="{92165062-55B3-331D-1917-3BF72AB4ED90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476;p35">
              <a:extLst>
                <a:ext uri="{FF2B5EF4-FFF2-40B4-BE49-F238E27FC236}">
                  <a16:creationId xmlns:a16="http://schemas.microsoft.com/office/drawing/2014/main" id="{AE6E4354-A76B-E41C-682B-3BB1F5FE8C47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477;p35">
              <a:extLst>
                <a:ext uri="{FF2B5EF4-FFF2-40B4-BE49-F238E27FC236}">
                  <a16:creationId xmlns:a16="http://schemas.microsoft.com/office/drawing/2014/main" id="{31F944EF-CD09-912C-EDED-C5BCAB7EFA8D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478;p35">
              <a:extLst>
                <a:ext uri="{FF2B5EF4-FFF2-40B4-BE49-F238E27FC236}">
                  <a16:creationId xmlns:a16="http://schemas.microsoft.com/office/drawing/2014/main" id="{A846AB43-7521-02E1-5226-B14D9329B605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" name="Google Shape;479;p35">
              <a:extLst>
                <a:ext uri="{FF2B5EF4-FFF2-40B4-BE49-F238E27FC236}">
                  <a16:creationId xmlns:a16="http://schemas.microsoft.com/office/drawing/2014/main" id="{16255BE4-6331-4442-EBBA-4674CD896DA3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20" name="Google Shape;480;p35">
                <a:extLst>
                  <a:ext uri="{FF2B5EF4-FFF2-40B4-BE49-F238E27FC236}">
                    <a16:creationId xmlns:a16="http://schemas.microsoft.com/office/drawing/2014/main" id="{0199600B-AB7E-D69C-F54E-96FBC81AD98F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481;p35">
                <a:extLst>
                  <a:ext uri="{FF2B5EF4-FFF2-40B4-BE49-F238E27FC236}">
                    <a16:creationId xmlns:a16="http://schemas.microsoft.com/office/drawing/2014/main" id="{8C4BC4EF-3F5D-3EBA-B82D-8758FA71088F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482;p35">
                <a:extLst>
                  <a:ext uri="{FF2B5EF4-FFF2-40B4-BE49-F238E27FC236}">
                    <a16:creationId xmlns:a16="http://schemas.microsoft.com/office/drawing/2014/main" id="{79886546-6662-9336-4B6E-3095F1580B0A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83;p35">
                <a:extLst>
                  <a:ext uri="{FF2B5EF4-FFF2-40B4-BE49-F238E27FC236}">
                    <a16:creationId xmlns:a16="http://schemas.microsoft.com/office/drawing/2014/main" id="{50DFD857-F89C-8999-CC7D-465B48AC5550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484;p35">
                <a:extLst>
                  <a:ext uri="{FF2B5EF4-FFF2-40B4-BE49-F238E27FC236}">
                    <a16:creationId xmlns:a16="http://schemas.microsoft.com/office/drawing/2014/main" id="{EAB6B002-40CE-A319-D50D-B37CF8C4A179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485;p35">
                <a:extLst>
                  <a:ext uri="{FF2B5EF4-FFF2-40B4-BE49-F238E27FC236}">
                    <a16:creationId xmlns:a16="http://schemas.microsoft.com/office/drawing/2014/main" id="{BBF2DA84-E09E-8FBC-1F7A-8DCA6EA899BD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486;p35">
                <a:extLst>
                  <a:ext uri="{FF2B5EF4-FFF2-40B4-BE49-F238E27FC236}">
                    <a16:creationId xmlns:a16="http://schemas.microsoft.com/office/drawing/2014/main" id="{B46964FF-FD9B-4332-820B-B8762FDAB980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487;p35">
                <a:extLst>
                  <a:ext uri="{FF2B5EF4-FFF2-40B4-BE49-F238E27FC236}">
                    <a16:creationId xmlns:a16="http://schemas.microsoft.com/office/drawing/2014/main" id="{22FEA136-5A87-6CC6-2665-934BCF12C769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488;p35">
                <a:extLst>
                  <a:ext uri="{FF2B5EF4-FFF2-40B4-BE49-F238E27FC236}">
                    <a16:creationId xmlns:a16="http://schemas.microsoft.com/office/drawing/2014/main" id="{2A06129F-FE13-B2A4-BBC0-CD7AEE55405D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489;p35">
                <a:extLst>
                  <a:ext uri="{FF2B5EF4-FFF2-40B4-BE49-F238E27FC236}">
                    <a16:creationId xmlns:a16="http://schemas.microsoft.com/office/drawing/2014/main" id="{151759E7-66FB-738D-8846-00B13A94620C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" name="Google Shape;490;p35">
            <a:extLst>
              <a:ext uri="{FF2B5EF4-FFF2-40B4-BE49-F238E27FC236}">
                <a16:creationId xmlns:a16="http://schemas.microsoft.com/office/drawing/2014/main" id="{40A0AE5A-FE00-5064-C24B-DD50190CBEDF}"/>
              </a:ext>
            </a:extLst>
          </p:cNvPr>
          <p:cNvGrpSpPr/>
          <p:nvPr/>
        </p:nvGrpSpPr>
        <p:grpSpPr>
          <a:xfrm>
            <a:off x="454351" y="5173639"/>
            <a:ext cx="304639" cy="301465"/>
            <a:chOff x="6941066" y="2777637"/>
            <a:chExt cx="456958" cy="452197"/>
          </a:xfrm>
          <a:noFill/>
        </p:grpSpPr>
        <p:grpSp>
          <p:nvGrpSpPr>
            <p:cNvPr id="61" name="Google Shape;491;p35">
              <a:extLst>
                <a:ext uri="{FF2B5EF4-FFF2-40B4-BE49-F238E27FC236}">
                  <a16:creationId xmlns:a16="http://schemas.microsoft.com/office/drawing/2014/main" id="{FE8A9737-A246-E1CF-6A54-656D03A6EC4D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72" name="Google Shape;492;p35">
                <a:extLst>
                  <a:ext uri="{FF2B5EF4-FFF2-40B4-BE49-F238E27FC236}">
                    <a16:creationId xmlns:a16="http://schemas.microsoft.com/office/drawing/2014/main" id="{3E71315B-4A0E-8B80-220E-C7909783670F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493;p35">
                <a:extLst>
                  <a:ext uri="{FF2B5EF4-FFF2-40B4-BE49-F238E27FC236}">
                    <a16:creationId xmlns:a16="http://schemas.microsoft.com/office/drawing/2014/main" id="{F1F85193-6C8B-9C51-FE5D-7C007C18AA80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" name="Google Shape;494;p35">
              <a:extLst>
                <a:ext uri="{FF2B5EF4-FFF2-40B4-BE49-F238E27FC236}">
                  <a16:creationId xmlns:a16="http://schemas.microsoft.com/office/drawing/2014/main" id="{B8413C3B-82A5-1EA0-0696-28E9E9468FF8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70" name="Google Shape;495;p35">
                <a:extLst>
                  <a:ext uri="{FF2B5EF4-FFF2-40B4-BE49-F238E27FC236}">
                    <a16:creationId xmlns:a16="http://schemas.microsoft.com/office/drawing/2014/main" id="{270F5B64-CB9D-8518-24B6-C6ABEF4E532E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496;p35">
                <a:extLst>
                  <a:ext uri="{FF2B5EF4-FFF2-40B4-BE49-F238E27FC236}">
                    <a16:creationId xmlns:a16="http://schemas.microsoft.com/office/drawing/2014/main" id="{1F97AC65-4BCE-005E-B133-858E478C0589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" name="Google Shape;497;p35">
              <a:extLst>
                <a:ext uri="{FF2B5EF4-FFF2-40B4-BE49-F238E27FC236}">
                  <a16:creationId xmlns:a16="http://schemas.microsoft.com/office/drawing/2014/main" id="{6B3A1E72-425B-D56D-B29B-04032EBAF40D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67" name="Google Shape;498;p35">
                <a:extLst>
                  <a:ext uri="{FF2B5EF4-FFF2-40B4-BE49-F238E27FC236}">
                    <a16:creationId xmlns:a16="http://schemas.microsoft.com/office/drawing/2014/main" id="{EC05AFE0-97D8-A932-AF15-2F0B798D7319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499;p35">
                <a:extLst>
                  <a:ext uri="{FF2B5EF4-FFF2-40B4-BE49-F238E27FC236}">
                    <a16:creationId xmlns:a16="http://schemas.microsoft.com/office/drawing/2014/main" id="{4EBEC151-1595-19F7-0732-2797BC88C24B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500;p35">
                <a:extLst>
                  <a:ext uri="{FF2B5EF4-FFF2-40B4-BE49-F238E27FC236}">
                    <a16:creationId xmlns:a16="http://schemas.microsoft.com/office/drawing/2014/main" id="{8BEABF70-57D2-2757-C27D-2033FF3C29A1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501;p35">
              <a:extLst>
                <a:ext uri="{FF2B5EF4-FFF2-40B4-BE49-F238E27FC236}">
                  <a16:creationId xmlns:a16="http://schemas.microsoft.com/office/drawing/2014/main" id="{C55A54B7-E7C4-C233-BBA2-4BD7AFCADAAC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65" name="Google Shape;502;p35">
                <a:extLst>
                  <a:ext uri="{FF2B5EF4-FFF2-40B4-BE49-F238E27FC236}">
                    <a16:creationId xmlns:a16="http://schemas.microsoft.com/office/drawing/2014/main" id="{D99034F1-C8A5-CA28-9700-200EB32239E2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503;p35">
                <a:extLst>
                  <a:ext uri="{FF2B5EF4-FFF2-40B4-BE49-F238E27FC236}">
                    <a16:creationId xmlns:a16="http://schemas.microsoft.com/office/drawing/2014/main" id="{06A038D5-09F9-D343-7B6F-8523BC696A3A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" name="Espaço Reservado para Texto 60">
            <a:extLst>
              <a:ext uri="{FF2B5EF4-FFF2-40B4-BE49-F238E27FC236}">
                <a16:creationId xmlns:a16="http://schemas.microsoft.com/office/drawing/2014/main" id="{2AFC25BB-58BD-F4B4-BF81-FF900F5173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lvl1pPr>
              <a:defRPr sz="1700" b="1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1100" dirty="0"/>
              <a:t>Em duplas</a:t>
            </a:r>
          </a:p>
        </p:txBody>
      </p:sp>
      <p:sp>
        <p:nvSpPr>
          <p:cNvPr id="77" name="Espaço Reservado para Texto 60">
            <a:extLst>
              <a:ext uri="{FF2B5EF4-FFF2-40B4-BE49-F238E27FC236}">
                <a16:creationId xmlns:a16="http://schemas.microsoft.com/office/drawing/2014/main" id="{20B4121B-1F35-DFEE-3F95-CA47B89536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8473" y="4765206"/>
            <a:ext cx="1180177" cy="306793"/>
          </a:xfrm>
          <a:prstGeom prst="rect">
            <a:avLst/>
          </a:prstGeom>
        </p:spPr>
        <p:txBody>
          <a:bodyPr anchor="ctr"/>
          <a:lstStyle>
            <a:lvl1pPr>
              <a:defRPr sz="1700" b="1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1100" dirty="0"/>
              <a:t>20 minutos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A62280C-1C05-65CE-3BC6-149D5BB8B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342" y="4962346"/>
            <a:ext cx="5565920" cy="108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05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p279"/>
          <p:cNvSpPr txBox="1"/>
          <p:nvPr/>
        </p:nvSpPr>
        <p:spPr>
          <a:xfrm>
            <a:off x="2705491" y="802958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Expectativas de respostas</a:t>
            </a:r>
            <a:endParaRPr sz="3200" dirty="0"/>
          </a:p>
        </p:txBody>
      </p:sp>
      <p:graphicFrame>
        <p:nvGraphicFramePr>
          <p:cNvPr id="2934" name="Google Shape;2934;p279"/>
          <p:cNvGraphicFramePr/>
          <p:nvPr>
            <p:extLst>
              <p:ext uri="{D42A27DB-BD31-4B8C-83A1-F6EECF244321}">
                <p14:modId xmlns:p14="http://schemas.microsoft.com/office/powerpoint/2010/main" val="3723786895"/>
              </p:ext>
            </p:extLst>
          </p:nvPr>
        </p:nvGraphicFramePr>
        <p:xfrm>
          <a:off x="247651" y="1979209"/>
          <a:ext cx="11658600" cy="3934120"/>
        </p:xfrm>
        <a:graphic>
          <a:graphicData uri="http://schemas.openxmlformats.org/drawingml/2006/table">
            <a:tbl>
              <a:tblPr>
                <a:noFill/>
                <a:tableStyleId>{41BAB36B-2DCC-4F31-B811-377A76DFCB47}</a:tableStyleId>
              </a:tblPr>
              <a:tblGrid>
                <a:gridCol w="1766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9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7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6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2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endParaRPr sz="18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1800" u="none" strike="noStrike" cap="none" dirty="0">
                        <a:latin typeface="Poppins Light"/>
                        <a:ea typeface="Poppins Light"/>
                        <a:cs typeface="Poppins Light"/>
                        <a:sym typeface="Poppins Light"/>
                      </a:endParaRPr>
                    </a:p>
                  </a:txBody>
                  <a:tcPr marL="114575" marR="114575" marT="114575" marB="11457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 que o programa pergunta </a:t>
                      </a:r>
                      <a:endParaRPr sz="1800" u="none" strike="noStrike" cap="none" dirty="0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 que recebe </a:t>
                      </a:r>
                      <a:endParaRPr sz="1800" b="1" u="none" strike="noStrike" cap="none" dirty="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 que verifica </a:t>
                      </a:r>
                      <a:endParaRPr sz="1800" u="none" strike="noStrike" cap="none" dirty="0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 b="1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 que responde</a:t>
                      </a:r>
                      <a:endParaRPr sz="1800" u="none" strike="noStrike" cap="none" dirty="0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800" b="1" u="none" strike="noStrike" cap="none" dirty="0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"Qual é a capital do Brasil?"</a:t>
                      </a:r>
                      <a:endParaRPr sz="18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resposta do usuário (texto) </a:t>
                      </a:r>
                      <a:endParaRPr sz="1800" i="0" u="none" strike="noStrike" cap="none" dirty="0">
                        <a:solidFill>
                          <a:srgbClr val="00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 a resposta é "Brasília" </a:t>
                      </a:r>
                      <a:endParaRPr sz="18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"Certo!" ou "Errado!" e atualiza pontos </a:t>
                      </a:r>
                      <a:endParaRPr sz="18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800" u="none" strike="noStrike" cap="none" dirty="0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"Quantos planetas existem no sistema solar?" </a:t>
                      </a:r>
                      <a:endParaRPr sz="18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resposta do usuário (texto) </a:t>
                      </a:r>
                      <a:endParaRPr sz="1800" i="0" u="none" strike="noStrike" cap="none" dirty="0">
                        <a:solidFill>
                          <a:srgbClr val="00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 a resposta é "8" </a:t>
                      </a:r>
                      <a:endParaRPr sz="18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"Certo!" ou "Errado!" e atualiza pontos </a:t>
                      </a:r>
                      <a:endParaRPr sz="18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8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800" u="none" strike="noStrike" cap="none" dirty="0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"Qual é o maior oceano do mundo?" </a:t>
                      </a:r>
                      <a:endParaRPr sz="18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resposta do usuário (texto) </a:t>
                      </a:r>
                      <a:endParaRPr sz="1800" i="0" u="none" strike="noStrike" cap="none" dirty="0">
                        <a:solidFill>
                          <a:srgbClr val="00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 a resposta é "Pacífico" </a:t>
                      </a:r>
                      <a:endParaRPr sz="18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"Certo!" ou "Errado!" e atualiza pontos </a:t>
                      </a:r>
                      <a:endParaRPr sz="1800"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p280"/>
          <p:cNvSpPr txBox="1"/>
          <p:nvPr/>
        </p:nvSpPr>
        <p:spPr>
          <a:xfrm>
            <a:off x="2705490" y="1743801"/>
            <a:ext cx="9181709" cy="3801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pergunta do </a:t>
            </a:r>
            <a:r>
              <a:rPr lang="pt-BR" sz="2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segue as 4 etapas de um programa interativo. O programa mostra a pergunta na tela usando input, o usuário digita a resposta, o programa verifica com if se a resposta bate com a resposta certa e responde com print dizendo se acertou ou errou.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600"/>
              </a:spcAft>
              <a:buClr>
                <a:schemeClr val="dk1"/>
              </a:buClr>
              <a:buSzPct val="1000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variável “pontos” começa em 0 antes da primeira pergunta. 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>
              <a:spcAft>
                <a:spcPts val="600"/>
              </a:spcAft>
              <a:buClr>
                <a:schemeClr val="dk1"/>
              </a:buClr>
              <a:buSzPct val="1000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o jogador acertar a pergunta 1, “pontos” aumenta para 1. 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>
              <a:spcAft>
                <a:spcPts val="600"/>
              </a:spcAft>
              <a:buClr>
                <a:schemeClr val="dk1"/>
              </a:buClr>
              <a:buSzPct val="1000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errar a pergunta 2, “pontos” continua em 1. 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>
              <a:spcAft>
                <a:spcPts val="600"/>
              </a:spcAft>
              <a:buClr>
                <a:schemeClr val="dk1"/>
              </a:buClr>
              <a:buSzPct val="1000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acertar a pergunta 3, “pontos” vai para 2. 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600"/>
              </a:spcAft>
              <a:buClr>
                <a:schemeClr val="dk1"/>
              </a:buClr>
              <a:buSzPct val="1000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final, o programa mostra “Sua pontuação: X“, onde X é o total de acertos.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2933;p279">
            <a:extLst>
              <a:ext uri="{FF2B5EF4-FFF2-40B4-BE49-F238E27FC236}">
                <a16:creationId xmlns:a16="http://schemas.microsoft.com/office/drawing/2014/main" id="{72798C8C-E4BE-BBD3-1E00-5060436839CE}"/>
              </a:ext>
            </a:extLst>
          </p:cNvPr>
          <p:cNvSpPr txBox="1"/>
          <p:nvPr/>
        </p:nvSpPr>
        <p:spPr>
          <a:xfrm>
            <a:off x="2705491" y="802958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Expectativas de respostas</a:t>
            </a:r>
            <a:endParaRPr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5" name="Google Shape;2945;p281" title="diagrama (2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833" y="243149"/>
            <a:ext cx="5578341" cy="6052876"/>
          </a:xfrm>
          <a:prstGeom prst="rect">
            <a:avLst/>
          </a:prstGeom>
          <a:noFill/>
          <a:ln>
            <a:noFill/>
          </a:ln>
        </p:spPr>
      </p:pic>
      <p:sp>
        <p:nvSpPr>
          <p:cNvPr id="2946" name="Google Shape;2946;p281"/>
          <p:cNvSpPr txBox="1"/>
          <p:nvPr/>
        </p:nvSpPr>
        <p:spPr>
          <a:xfrm>
            <a:off x="5648849" y="6260938"/>
            <a:ext cx="4761975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1" name="Google Shape;2951;p282"/>
          <p:cNvSpPr txBox="1">
            <a:spLocks noGrp="1"/>
          </p:cNvSpPr>
          <p:nvPr>
            <p:ph type="body" idx="1"/>
          </p:nvPr>
        </p:nvSpPr>
        <p:spPr>
          <a:xfrm>
            <a:off x="5589300" y="1257917"/>
            <a:ext cx="5869276" cy="253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Como fazer ENTRADA DE DADOS com PYTHON (input)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No vídeo, você vê a função input em ação: como pedir um valor no terminal, como passar uma mensagem de orientação e como guardar a resposta numa variável para usar com print. É um reforço curto do que a aula usa no fluxo perguntar → receber.</a:t>
            </a:r>
            <a:endParaRPr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PROGRAMADOR VIKING. Python input(): como fazer entrada de dados com Python. Disponível em: </a:t>
            </a:r>
            <a:r>
              <a:rPr lang="pt-BR" sz="1800" dirty="0">
                <a:hlinkClick r:id="rId3"/>
              </a:rPr>
              <a:t>https://www.youtube.com/watch?v=HjA2QAk1Duo</a:t>
            </a:r>
            <a:r>
              <a:rPr lang="pt-BR" sz="1800" dirty="0"/>
              <a:t>. Acesso em: 15 ago. 2026.</a:t>
            </a:r>
            <a:r>
              <a:rPr lang="pt-BR" sz="1800" u="sng" dirty="0">
                <a:solidFill>
                  <a:schemeClr val="hlink"/>
                </a:solidFill>
                <a:hlinkClick r:id="rId3"/>
              </a:rPr>
              <a:t> </a:t>
            </a:r>
            <a:endParaRPr sz="1800" dirty="0"/>
          </a:p>
        </p:txBody>
      </p:sp>
      <p:sp>
        <p:nvSpPr>
          <p:cNvPr id="2952" name="Google Shape;2952;p282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p283"/>
          <p:cNvSpPr txBox="1">
            <a:spLocks noGrp="1"/>
          </p:cNvSpPr>
          <p:nvPr>
            <p:ph type="body" idx="1"/>
          </p:nvPr>
        </p:nvSpPr>
        <p:spPr>
          <a:xfrm>
            <a:off x="555150" y="1587499"/>
            <a:ext cx="11081700" cy="326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LOPES, E. Entrada e saída de dados no Python. </a:t>
            </a:r>
            <a:r>
              <a:rPr lang="pt-BR" b="1" dirty="0"/>
              <a:t>Python Academy</a:t>
            </a:r>
            <a:r>
              <a:rPr lang="pt-BR" dirty="0"/>
              <a:t>, 30 maio 2026. Disponível em: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https://pythonacademy.com.br/blog/input-e-print-entrada-e-saida-de-dados-no-python</a:t>
            </a:r>
            <a:r>
              <a:rPr lang="pt-BR" dirty="0"/>
              <a:t>. </a:t>
            </a:r>
            <a:br>
              <a:rPr lang="pt-BR" dirty="0"/>
            </a:br>
            <a:r>
              <a:rPr lang="pt-BR" dirty="0"/>
              <a:t>Acesso em: 02 ago. 2026.</a:t>
            </a:r>
          </a:p>
          <a:p>
            <a:pPr marL="0" lvl="0" indent="0"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LOPES, I. Gamificação em sala de aula surge como ferramenta de motivação nas escolas. </a:t>
            </a:r>
            <a:r>
              <a:rPr lang="pt-BR" b="1" dirty="0"/>
              <a:t>Jornal da USP</a:t>
            </a:r>
            <a:r>
              <a:rPr lang="pt-BR" dirty="0"/>
              <a:t>, 04 abr. 2025.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https://jornal.usp.br/radio-usp/gamificacao-em-sala-de-aula-surge-como-ferramenta-de-motivacao-nas-escolas/</a:t>
            </a:r>
            <a:r>
              <a:rPr lang="pt-BR" dirty="0"/>
              <a:t>. Acesso em: 02 ago. 2026.</a:t>
            </a:r>
          </a:p>
          <a:p>
            <a:pPr marL="0" lvl="0" indent="0"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LOPES, M. Kahoot!: como usar para deixar suas aulas mais divertidas. </a:t>
            </a:r>
            <a:r>
              <a:rPr lang="pt-BR" b="1" dirty="0"/>
              <a:t>Porvir</a:t>
            </a:r>
            <a:r>
              <a:rPr lang="pt-BR" dirty="0"/>
              <a:t>, 21 mar. 2025. Disponível em: 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https://porvir.org/kahoot-como-usar-para-deixar-suas-aulas-mais-divertidas/</a:t>
            </a:r>
            <a:r>
              <a:rPr lang="pt-BR" dirty="0"/>
              <a:t>. </a:t>
            </a:r>
            <a:br>
              <a:rPr lang="pt-BR" dirty="0"/>
            </a:br>
            <a:r>
              <a:rPr lang="pt-BR" dirty="0"/>
              <a:t>Acesso em: 02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" name="Google Shape;2969;p285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0" name="Google Shape;2970;p285"/>
          <p:cNvSpPr txBox="1"/>
          <p:nvPr/>
        </p:nvSpPr>
        <p:spPr>
          <a:xfrm>
            <a:off x="985520" y="7957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6 e 7</a:t>
            </a:r>
            <a:endParaRPr dirty="0"/>
          </a:p>
        </p:txBody>
      </p:sp>
      <p:cxnSp>
        <p:nvCxnSpPr>
          <p:cNvPr id="2971" name="Google Shape;2971;p285"/>
          <p:cNvCxnSpPr>
            <a:cxnSpLocks/>
          </p:cNvCxnSpPr>
          <p:nvPr/>
        </p:nvCxnSpPr>
        <p:spPr>
          <a:xfrm flipV="1">
            <a:off x="690895" y="1036415"/>
            <a:ext cx="0" cy="35452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73" name="Google Shape;2973;p285"/>
          <p:cNvSpPr/>
          <p:nvPr/>
        </p:nvSpPr>
        <p:spPr>
          <a:xfrm>
            <a:off x="497841" y="2328031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4" name="Google Shape;2974;p285"/>
          <p:cNvSpPr/>
          <p:nvPr/>
        </p:nvSpPr>
        <p:spPr>
          <a:xfrm>
            <a:off x="497841" y="13186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5" name="Google Shape;2975;p285"/>
          <p:cNvSpPr/>
          <p:nvPr/>
        </p:nvSpPr>
        <p:spPr>
          <a:xfrm>
            <a:off x="569897" y="14171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6" name="Google Shape;2976;p285"/>
          <p:cNvSpPr/>
          <p:nvPr/>
        </p:nvSpPr>
        <p:spPr>
          <a:xfrm>
            <a:off x="566852" y="2406461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7" name="Google Shape;2977;p285"/>
          <p:cNvSpPr txBox="1"/>
          <p:nvPr/>
        </p:nvSpPr>
        <p:spPr>
          <a:xfrm>
            <a:off x="956025" y="1352400"/>
            <a:ext cx="10726500" cy="298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abra pelo caso do Kahoot! e pela matéria da USP para situar a turma num </a:t>
            </a:r>
            <a:r>
              <a:rPr lang="pt-BR" sz="1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real, com pontos e feedback. Ainda não diga “programa interativo”: o objetivo é ouvir, nas palavras dos estudantes, o que precisa acontecer entre a resposta do jogador e o resultado na tela.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1000" dirty="0">
                <a:latin typeface="Poppins"/>
                <a:ea typeface="Poppins"/>
                <a:cs typeface="Poppins"/>
                <a:sym typeface="Poppins"/>
              </a:rPr>
            </a:b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7 minutos.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conduza a discussão com a turma toda;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ouça as contribuições em voz alta e vá organizando no quadro os passos que a turma sugerir. 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caso e a tensão da matéria (receber, conferir, pontuar, mostrar);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em seguida, lance a pergunta do material e recolha respostas da turma, agrupando no quadro o que for aparecendo;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 alguém falar só de cores ou ranking do Kahoot!, redirecione: o que o programa precisa fazer com a resposta?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1000" b="1" dirty="0"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passos do tipo: perguntar, receber, verificar, dar ponto e mostrar resultado;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menções à interface do Kahoot! são bem-vindas como ponto de partida, desde que voltem para a lógica por baixo.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8" name="Google Shape;2978;p285"/>
          <p:cNvSpPr/>
          <p:nvPr/>
        </p:nvSpPr>
        <p:spPr>
          <a:xfrm>
            <a:off x="497841" y="1865253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9" name="Google Shape;2979;p2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958959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0" name="Google Shape;2980;p285"/>
          <p:cNvGrpSpPr/>
          <p:nvPr/>
        </p:nvGrpSpPr>
        <p:grpSpPr>
          <a:xfrm>
            <a:off x="497841" y="2945550"/>
            <a:ext cx="386100" cy="382500"/>
            <a:chOff x="497841" y="3037886"/>
            <a:chExt cx="386100" cy="382500"/>
          </a:xfrm>
        </p:grpSpPr>
        <p:sp>
          <p:nvSpPr>
            <p:cNvPr id="2981" name="Google Shape;2981;p285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82" name="Google Shape;2982;p285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83" name="Google Shape;2983;p285"/>
          <p:cNvGrpSpPr/>
          <p:nvPr/>
        </p:nvGrpSpPr>
        <p:grpSpPr>
          <a:xfrm>
            <a:off x="497841" y="3709198"/>
            <a:ext cx="386100" cy="382500"/>
            <a:chOff x="497841" y="3801694"/>
            <a:chExt cx="386100" cy="382500"/>
          </a:xfrm>
        </p:grpSpPr>
        <p:sp>
          <p:nvSpPr>
            <p:cNvPr id="2984" name="Google Shape;2984;p285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72" name="Google Shape;2972;p285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" name="Google Shape;2990;p286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1" name="Google Shape;2991;p286"/>
          <p:cNvSpPr txBox="1"/>
          <p:nvPr/>
        </p:nvSpPr>
        <p:spPr>
          <a:xfrm>
            <a:off x="985526" y="795750"/>
            <a:ext cx="7586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8 a 10, 13 e 14</a:t>
            </a:r>
            <a:endParaRPr dirty="0"/>
          </a:p>
        </p:txBody>
      </p:sp>
      <p:sp>
        <p:nvSpPr>
          <p:cNvPr id="2992" name="Google Shape;2992;p286"/>
          <p:cNvSpPr txBox="1"/>
          <p:nvPr/>
        </p:nvSpPr>
        <p:spPr>
          <a:xfrm>
            <a:off x="956024" y="1352400"/>
            <a:ext cx="10978793" cy="367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conduza o bloco como um fio único: primeiro, a ideia de programa que conversa com quem usa; depois, o código mínimo (input / if / print) como tradução dessa conversa; em seguida, as 4 etapas nomeadas sobre esse código; por fim, o salto para o que o programa precisa lembrar (pontos) e o exemplo com placar. O código é ilustração, não laboratório: não peça que digitem o programa nesta aula.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br>
              <a:rPr lang="pt-BR" sz="1000" b="1" dirty="0"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18 minutos.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a turma participando. A cada ideia nova, peça que antecipem o próximo passo antes de avançar;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nos exemplos de código, peça a dois ou três estudantes que digam o que acontece se digitar o valor certo e o valor errado.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comece pelo contraste entre programa que só calcula e programa que pergunta, espera, processa e responde, usando caixa eletrônico, site de compra ou </a:t>
            </a:r>
            <a:r>
              <a:rPr lang="pt-BR" sz="1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mostre o exemplo do 7 + 3 e enfatize que input devolve texto: comparar com "10" funciona porque os dois lados são texto;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em seguida, amarre as 4 etapas (perguntar, receber, verificar, responder) às linhas desse mesmo código e teste oralmente os caminhos 10 e 9: o fluxo é o mesmo; muda só o feedback;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passe então para o estado: uma resposta isolada não basta para um </a:t>
            </a:r>
            <a:r>
              <a:rPr lang="pt-BR" sz="1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 o programa precisa guardar pontos de uma pergunta para a outra;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feche com o exemplo do 5 + 5, destacando pontos = 0 e pontos = pontos + 1, e simule acerto e erro até o print final do placar. Retome o fio: conversa com o usuário → etapas no código → memória do jogo.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pt-BR" sz="1000" dirty="0"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reconheçam a ordem perguntar → receber → verificar → responder; que vejam pontos como memória do jogo (não some no erro); e que percebam, no exemplo com placar, que o print final depende do caminho do if. Erro comum: achar que o foco da aula é decorar sintaxe nova; redirecione para o fluxo e para o que precisa ser lembrado.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993" name="Google Shape;2993;p286"/>
          <p:cNvCxnSpPr>
            <a:cxnSpLocks/>
          </p:cNvCxnSpPr>
          <p:nvPr/>
        </p:nvCxnSpPr>
        <p:spPr>
          <a:xfrm flipV="1">
            <a:off x="690750" y="817775"/>
            <a:ext cx="0" cy="47216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94" name="Google Shape;2994;p286"/>
          <p:cNvSpPr/>
          <p:nvPr/>
        </p:nvSpPr>
        <p:spPr>
          <a:xfrm>
            <a:off x="497841" y="2252280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5" name="Google Shape;2995;p286"/>
          <p:cNvSpPr/>
          <p:nvPr/>
        </p:nvSpPr>
        <p:spPr>
          <a:xfrm>
            <a:off x="497841" y="13186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6" name="Google Shape;2996;p286"/>
          <p:cNvSpPr/>
          <p:nvPr/>
        </p:nvSpPr>
        <p:spPr>
          <a:xfrm>
            <a:off x="569897" y="14171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286"/>
          <p:cNvSpPr/>
          <p:nvPr/>
        </p:nvSpPr>
        <p:spPr>
          <a:xfrm>
            <a:off x="566852" y="2330710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p286"/>
          <p:cNvSpPr/>
          <p:nvPr/>
        </p:nvSpPr>
        <p:spPr>
          <a:xfrm>
            <a:off x="497841" y="1854106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9" name="Google Shape;2999;p2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947812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0" name="Google Shape;3000;p286"/>
          <p:cNvGrpSpPr/>
          <p:nvPr/>
        </p:nvGrpSpPr>
        <p:grpSpPr>
          <a:xfrm>
            <a:off x="497841" y="2875489"/>
            <a:ext cx="386100" cy="382500"/>
            <a:chOff x="497841" y="3037886"/>
            <a:chExt cx="386100" cy="382500"/>
          </a:xfrm>
        </p:grpSpPr>
        <p:sp>
          <p:nvSpPr>
            <p:cNvPr id="3001" name="Google Shape;3001;p286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2" name="Google Shape;3002;p286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03" name="Google Shape;3003;p286"/>
          <p:cNvGrpSpPr/>
          <p:nvPr/>
        </p:nvGrpSpPr>
        <p:grpSpPr>
          <a:xfrm>
            <a:off x="497841" y="4227004"/>
            <a:ext cx="386100" cy="382500"/>
            <a:chOff x="497841" y="3801694"/>
            <a:chExt cx="386100" cy="382500"/>
          </a:xfrm>
        </p:grpSpPr>
        <p:sp>
          <p:nvSpPr>
            <p:cNvPr id="3004" name="Google Shape;3004;p286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5" name="Google Shape;3005;p286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p287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2" name="Google Shape;3012;p287"/>
          <p:cNvSpPr txBox="1"/>
          <p:nvPr/>
        </p:nvSpPr>
        <p:spPr>
          <a:xfrm>
            <a:off x="985520" y="7957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11 e 12</a:t>
            </a:r>
            <a:endParaRPr dirty="0"/>
          </a:p>
        </p:txBody>
      </p:sp>
      <p:cxnSp>
        <p:nvCxnSpPr>
          <p:cNvPr id="3013" name="Google Shape;3013;p287"/>
          <p:cNvCxnSpPr>
            <a:cxnSpLocks/>
          </p:cNvCxnSpPr>
          <p:nvPr/>
        </p:nvCxnSpPr>
        <p:spPr>
          <a:xfrm flipV="1">
            <a:off x="690895" y="1036115"/>
            <a:ext cx="0" cy="218333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16" name="Google Shape;3016;p287"/>
          <p:cNvSpPr/>
          <p:nvPr/>
        </p:nvSpPr>
        <p:spPr>
          <a:xfrm>
            <a:off x="497841" y="1798836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8" name="Google Shape;3018;p287"/>
          <p:cNvSpPr txBox="1"/>
          <p:nvPr/>
        </p:nvSpPr>
        <p:spPr>
          <a:xfrm>
            <a:off x="985523" y="1432475"/>
            <a:ext cx="10234161" cy="1600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é mobilizar os estudantes em relação aos conhecimentos apresentados e construídos em aula. É registro.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 minutos.</a:t>
            </a:r>
            <a:endParaRPr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</a:br>
            <a:endParaRPr sz="1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Expectativas de respostas:</a:t>
            </a:r>
            <a:endParaRPr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Alternativa correta: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Perguntar, receber, verificar, responder.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Feedback: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o programa mostra a pergunta, guarda o que a pessoa digitou, confere com a resposta certa e só então devolve o feedback. Essa ordem evita processar algo que ainda não foi digitado.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3019" name="Google Shape;3019;p2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892542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0" name="Google Shape;3020;p287"/>
          <p:cNvGrpSpPr/>
          <p:nvPr/>
        </p:nvGrpSpPr>
        <p:grpSpPr>
          <a:xfrm>
            <a:off x="497841" y="2296744"/>
            <a:ext cx="386100" cy="382500"/>
            <a:chOff x="497841" y="3801694"/>
            <a:chExt cx="386100" cy="382500"/>
          </a:xfrm>
        </p:grpSpPr>
        <p:sp>
          <p:nvSpPr>
            <p:cNvPr id="3021" name="Google Shape;3021;p287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14" name="Google Shape;3014;p287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oogle Shape;3580;p335">
            <a:extLst>
              <a:ext uri="{FF2B5EF4-FFF2-40B4-BE49-F238E27FC236}">
                <a16:creationId xmlns:a16="http://schemas.microsoft.com/office/drawing/2014/main" id="{9536AF03-EC65-513B-5342-54E24A3B74EC}"/>
              </a:ext>
            </a:extLst>
          </p:cNvPr>
          <p:cNvGrpSpPr/>
          <p:nvPr/>
        </p:nvGrpSpPr>
        <p:grpSpPr>
          <a:xfrm>
            <a:off x="497841" y="1356704"/>
            <a:ext cx="386100" cy="382500"/>
            <a:chOff x="497841" y="1318604"/>
            <a:chExt cx="386100" cy="382500"/>
          </a:xfrm>
        </p:grpSpPr>
        <p:sp>
          <p:nvSpPr>
            <p:cNvPr id="4" name="Google Shape;3581;p335">
              <a:extLst>
                <a:ext uri="{FF2B5EF4-FFF2-40B4-BE49-F238E27FC236}">
                  <a16:creationId xmlns:a16="http://schemas.microsoft.com/office/drawing/2014/main" id="{CF4B15FC-9E98-7DFD-897C-24A443DF674F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3582;p335">
              <a:extLst>
                <a:ext uri="{FF2B5EF4-FFF2-40B4-BE49-F238E27FC236}">
                  <a16:creationId xmlns:a16="http://schemas.microsoft.com/office/drawing/2014/main" id="{2FF6F523-AFAA-E922-1335-C1F5ECD1F323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p288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8" name="Google Shape;3028;p288"/>
          <p:cNvSpPr txBox="1"/>
          <p:nvPr/>
        </p:nvSpPr>
        <p:spPr>
          <a:xfrm>
            <a:off x="955053" y="779375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15 a 18</a:t>
            </a:r>
            <a:endParaRPr dirty="0"/>
          </a:p>
        </p:txBody>
      </p:sp>
      <p:sp>
        <p:nvSpPr>
          <p:cNvPr id="3029" name="Google Shape;3029;p288"/>
          <p:cNvSpPr txBox="1"/>
          <p:nvPr/>
        </p:nvSpPr>
        <p:spPr>
          <a:xfrm>
            <a:off x="985519" y="1372059"/>
            <a:ext cx="10636581" cy="4370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essa atividade tem como objetivo fazer os estudantes pensarem no fluxo completo de um </a:t>
            </a:r>
            <a:r>
              <a:rPr lang="pt-BR" sz="1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antes de escrever código. Eles vão descrever, passo a passo, o que acontece em cada pergunta de um </a:t>
            </a:r>
            <a:r>
              <a:rPr lang="pt-BR" sz="1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de 3 questões. O foco está em separar as 4 etapas do fluxo interativo para cada pergunta, sem precisar programar ainda. Garanta que cada dupla preencha o quadro de registro identificando: o que o programa pergunta, o que recebe, o que verifica e o que responde.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20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1000" b="1" dirty="0"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as duplas formadas na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Ponto de partida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cada dupla precisa do quadro de registro e das perguntas do </a:t>
            </a:r>
            <a:r>
              <a:rPr lang="pt-BR" sz="1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Podem copiar do slide ou você pode imprimir e distribuir.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cenário do </a:t>
            </a:r>
            <a:r>
              <a:rPr lang="pt-BR" sz="1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da feira de ciências. Leia junto com a turma as 3 perguntas e as instruções;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confirme que todos entenderam que precisam preencher o quadro descrevendo as 4 etapas para cada pergunta;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deixe que trabalhem em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duplas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por cerca de 7 minutos. Circule pela sala observando como estão preenchendo o quadro;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 alguma dupla estiver com dificuldade, faça perguntas-guia: “O que o programa precisa mostrar na tela na Etapa 1?", “De onde vem a resposta na Etapa 2?", “O que o programa precisa comparar na Etapa 3?". Reserve os últimos 3 minutos para revisão coletiva;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peça que uma dupla apresente o preenchimento da primeira pergunta e explique cada etapa. Corrija, se necessário.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primeira pergunta (capital do Brasil) deve ser respondida corretamente pela maioria das duplas. A resposta certa é “Brasília”. O ponto de atenção aqui é se os estudantes identificam que a verificação compara a resposta do usuário com a resposta certa usando if. Alguns podem escrever "o programa vê se acertou" sem detalhar como. Peça que especifiquem: "compara com o quê?". A segunda pergunta (planetas do sistema solar) pode gerar discussão sobre Plutão. A resposta esperada é “8”, mas alguns estudantes podem escrever “9” se lembrarem do antigo ensino. Você pode usar isso para mostrar que o programa só compara com a resposta que foi definida como correta. Se o programador colocou "8", então "9" será considerado errado. A terceira pergunta (maior oceano) deve ser respondida como "Pacífico". O ponto de atenção aqui é a acentuação. Se o programa compara com “Pacífico” e o usuário digita "pacifico" (sem acento), o programa considera errado. Esse é um bom momento para mencionar que o computador compara texto de forma exata, mas sem entrar em soluções técnicas como lower() ou casefold(). Apenas registre a observação para retomar em aulas futuras.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030" name="Google Shape;3030;p288"/>
          <p:cNvCxnSpPr>
            <a:cxnSpLocks/>
          </p:cNvCxnSpPr>
          <p:nvPr/>
        </p:nvCxnSpPr>
        <p:spPr>
          <a:xfrm flipV="1">
            <a:off x="690895" y="1036273"/>
            <a:ext cx="0" cy="50361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032" name="Google Shape;3032;p288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033" name="Google Shape;3033;p288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288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5" name="Google Shape;3035;p288"/>
          <p:cNvGrpSpPr/>
          <p:nvPr/>
        </p:nvGrpSpPr>
        <p:grpSpPr>
          <a:xfrm>
            <a:off x="497841" y="2357694"/>
            <a:ext cx="386100" cy="382500"/>
            <a:chOff x="497841" y="2265726"/>
            <a:chExt cx="386100" cy="382500"/>
          </a:xfrm>
        </p:grpSpPr>
        <p:sp>
          <p:nvSpPr>
            <p:cNvPr id="3036" name="Google Shape;3036;p288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p288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8" name="Google Shape;3038;p288"/>
          <p:cNvGrpSpPr/>
          <p:nvPr/>
        </p:nvGrpSpPr>
        <p:grpSpPr>
          <a:xfrm>
            <a:off x="497841" y="4196223"/>
            <a:ext cx="386100" cy="382500"/>
            <a:chOff x="497841" y="3801694"/>
            <a:chExt cx="386100" cy="382500"/>
          </a:xfrm>
        </p:grpSpPr>
        <p:sp>
          <p:nvSpPr>
            <p:cNvPr id="3039" name="Google Shape;3039;p288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31" name="Google Shape;3031;p288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0" name="Google Shape;3040;p288"/>
          <p:cNvGrpSpPr/>
          <p:nvPr/>
        </p:nvGrpSpPr>
        <p:grpSpPr>
          <a:xfrm>
            <a:off x="497841" y="1879325"/>
            <a:ext cx="386100" cy="382500"/>
            <a:chOff x="497841" y="1802325"/>
            <a:chExt cx="386100" cy="382500"/>
          </a:xfrm>
        </p:grpSpPr>
        <p:sp>
          <p:nvSpPr>
            <p:cNvPr id="3041" name="Google Shape;3041;p288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42" name="Google Shape;3042;p28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3" name="Google Shape;3043;p288"/>
          <p:cNvGrpSpPr/>
          <p:nvPr/>
        </p:nvGrpSpPr>
        <p:grpSpPr>
          <a:xfrm>
            <a:off x="497841" y="3006012"/>
            <a:ext cx="386100" cy="382500"/>
            <a:chOff x="497841" y="3037886"/>
            <a:chExt cx="386100" cy="382500"/>
          </a:xfrm>
        </p:grpSpPr>
        <p:sp>
          <p:nvSpPr>
            <p:cNvPr id="3044" name="Google Shape;3044;p288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45" name="Google Shape;3045;p288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p289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2" name="Google Shape;3052;p289"/>
          <p:cNvSpPr txBox="1"/>
          <p:nvPr/>
        </p:nvSpPr>
        <p:spPr>
          <a:xfrm>
            <a:off x="985527" y="795750"/>
            <a:ext cx="8560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19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3" name="Google Shape;3053;p289"/>
          <p:cNvSpPr txBox="1"/>
          <p:nvPr/>
        </p:nvSpPr>
        <p:spPr>
          <a:xfrm>
            <a:off x="985519" y="1352395"/>
            <a:ext cx="10783800" cy="290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nós aprendemos hoje?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tem o objetivo de reforçar e esclarecer os principais conceitos discutidos, incentivando os estudantes a recordarem e articularem os principais pontos da aula.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 se encaixa no contexto maior da aula e na vida profissional.</a:t>
            </a:r>
            <a:b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 esperado: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054" name="Google Shape;3054;p289"/>
          <p:cNvCxnSpPr>
            <a:cxnSpLocks/>
          </p:cNvCxnSpPr>
          <p:nvPr/>
        </p:nvCxnSpPr>
        <p:spPr>
          <a:xfrm flipV="1">
            <a:off x="689683" y="1087715"/>
            <a:ext cx="0" cy="353783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056" name="Google Shape;3056;p289"/>
          <p:cNvGrpSpPr/>
          <p:nvPr/>
        </p:nvGrpSpPr>
        <p:grpSpPr>
          <a:xfrm>
            <a:off x="496633" y="1318604"/>
            <a:ext cx="386100" cy="382500"/>
            <a:chOff x="497841" y="1318604"/>
            <a:chExt cx="386100" cy="382500"/>
          </a:xfrm>
        </p:grpSpPr>
        <p:sp>
          <p:nvSpPr>
            <p:cNvPr id="3057" name="Google Shape;3057;p289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p289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9" name="Google Shape;3059;p289"/>
          <p:cNvGrpSpPr/>
          <p:nvPr/>
        </p:nvGrpSpPr>
        <p:grpSpPr>
          <a:xfrm>
            <a:off x="496633" y="2262893"/>
            <a:ext cx="386100" cy="382500"/>
            <a:chOff x="497841" y="2265726"/>
            <a:chExt cx="386100" cy="382500"/>
          </a:xfrm>
        </p:grpSpPr>
        <p:sp>
          <p:nvSpPr>
            <p:cNvPr id="3060" name="Google Shape;3060;p289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289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2" name="Google Shape;3062;p289"/>
          <p:cNvGrpSpPr/>
          <p:nvPr/>
        </p:nvGrpSpPr>
        <p:grpSpPr>
          <a:xfrm>
            <a:off x="496633" y="3009311"/>
            <a:ext cx="386100" cy="382500"/>
            <a:chOff x="497841" y="3037886"/>
            <a:chExt cx="386100" cy="382500"/>
          </a:xfrm>
        </p:grpSpPr>
        <p:sp>
          <p:nvSpPr>
            <p:cNvPr id="3063" name="Google Shape;3063;p289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64" name="Google Shape;3064;p289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5" name="Google Shape;3065;p289"/>
          <p:cNvGrpSpPr/>
          <p:nvPr/>
        </p:nvGrpSpPr>
        <p:grpSpPr>
          <a:xfrm>
            <a:off x="496633" y="3935044"/>
            <a:ext cx="386100" cy="382500"/>
            <a:chOff x="497841" y="3801694"/>
            <a:chExt cx="386100" cy="382500"/>
          </a:xfrm>
        </p:grpSpPr>
        <p:sp>
          <p:nvSpPr>
            <p:cNvPr id="3066" name="Google Shape;3066;p289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55" name="Google Shape;3055;p289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7" name="Google Shape;3067;p289"/>
          <p:cNvGrpSpPr/>
          <p:nvPr/>
        </p:nvGrpSpPr>
        <p:grpSpPr>
          <a:xfrm>
            <a:off x="496633" y="1849950"/>
            <a:ext cx="386100" cy="382500"/>
            <a:chOff x="497841" y="1802325"/>
            <a:chExt cx="386100" cy="382500"/>
          </a:xfrm>
        </p:grpSpPr>
        <p:sp>
          <p:nvSpPr>
            <p:cNvPr id="3068" name="Google Shape;3068;p289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69" name="Google Shape;3069;p28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0" name="Google Shape;3070;p289"/>
          <p:cNvSpPr/>
          <p:nvPr/>
        </p:nvSpPr>
        <p:spPr>
          <a:xfrm>
            <a:off x="0" y="47479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1" name="Google Shape;3071;p289"/>
          <p:cNvSpPr txBox="1"/>
          <p:nvPr/>
        </p:nvSpPr>
        <p:spPr>
          <a:xfrm>
            <a:off x="985520" y="47581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20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2" name="Google Shape;3072;p289"/>
          <p:cNvCxnSpPr>
            <a:cxnSpLocks/>
          </p:cNvCxnSpPr>
          <p:nvPr/>
        </p:nvCxnSpPr>
        <p:spPr>
          <a:xfrm flipV="1">
            <a:off x="689683" y="4998614"/>
            <a:ext cx="0" cy="153553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74" name="Google Shape;3074;p289"/>
          <p:cNvSpPr/>
          <p:nvPr/>
        </p:nvSpPr>
        <p:spPr>
          <a:xfrm>
            <a:off x="496633" y="52810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5" name="Google Shape;3075;p289"/>
          <p:cNvSpPr/>
          <p:nvPr/>
        </p:nvSpPr>
        <p:spPr>
          <a:xfrm>
            <a:off x="570811" y="53795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6" name="Google Shape;3076;p289"/>
          <p:cNvSpPr txBox="1"/>
          <p:nvPr/>
        </p:nvSpPr>
        <p:spPr>
          <a:xfrm>
            <a:off x="985524" y="5314800"/>
            <a:ext cx="10220955" cy="98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apresenta recursos extraclasse para que os estudantes complementem sua formação. Incentive-os a continuarem explorando o tema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minuto.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3" name="Google Shape;3073;p289"/>
          <p:cNvSpPr/>
          <p:nvPr/>
        </p:nvSpPr>
        <p:spPr>
          <a:xfrm>
            <a:off x="496633" y="581971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7" name="Google Shape;3077;p28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461" y="5913420"/>
            <a:ext cx="154445" cy="1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2963</Words>
  <Application>Microsoft Office PowerPoint</Application>
  <PresentationFormat>Ecrã Panorâmico</PresentationFormat>
  <Paragraphs>246</Paragraphs>
  <Slides>28</Slides>
  <Notes>28</Notes>
  <HiddenSlides>9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28</vt:i4>
      </vt:variant>
    </vt:vector>
  </HeadingPairs>
  <TitlesOfParts>
    <vt:vector size="37" baseType="lpstr">
      <vt:lpstr>Calibri</vt:lpstr>
      <vt:lpstr>Poppins Light</vt:lpstr>
      <vt:lpstr>Poppins</vt:lpstr>
      <vt:lpstr>Poppins Medium</vt:lpstr>
      <vt:lpstr>Courier New</vt:lpstr>
      <vt:lpstr>Arial</vt:lpstr>
      <vt:lpstr>Poppins Bold</vt:lpstr>
      <vt:lpstr>Office Theme</vt:lpstr>
      <vt:lpstr>2_Office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21</cp:revision>
  <dcterms:modified xsi:type="dcterms:W3CDTF">2026-08-25T17:38:57Z</dcterms:modified>
</cp:coreProperties>
</file>