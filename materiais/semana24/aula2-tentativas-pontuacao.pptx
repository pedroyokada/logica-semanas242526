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07" r:id="rId1"/>
  </p:sldMasterIdLst>
  <p:notesMasterIdLst>
    <p:notesMasterId r:id="rId21"/>
  </p:notesMasterIdLst>
  <p:sldIdLst>
    <p:sldId id="283" r:id="rId2"/>
    <p:sldId id="284" r:id="rId3"/>
    <p:sldId id="570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</p:sldIdLst>
  <p:sldSz cx="12192000" cy="6858000"/>
  <p:notesSz cx="6858000" cy="9144000"/>
  <p:embeddedFontLst>
    <p:embeddedFont>
      <p:font typeface="Poppins" panose="00000500000000000000" pitchFamily="2" charset="0"/>
      <p:regular r:id="rId22"/>
      <p:bold r:id="rId23"/>
      <p:italic r:id="rId24"/>
      <p:boldItalic r:id="rId25"/>
    </p:embeddedFont>
    <p:embeddedFont>
      <p:font typeface="Poppins Light" panose="00000400000000000000" pitchFamily="2" charset="0"/>
      <p:regular r:id="rId26"/>
      <p:bold r:id="rId27"/>
      <p:italic r:id="rId28"/>
      <p:boldItalic r:id="rId29"/>
    </p:embeddedFont>
    <p:embeddedFont>
      <p:font typeface="Poppins Medium" panose="00000600000000000000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Aula 2" id="{B86FB552-9B24-4844-90D0-6954282C4F0D}">
          <p14:sldIdLst>
            <p14:sldId id="283"/>
            <p14:sldId id="284"/>
            <p14:sldId id="570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</p14:sldIdLst>
        </p14:section>
      </p14:sectionLst>
    </p:ext>
    <p:ext uri="{EFAFB233-063F-42B5-8137-9DF3F51BA10A}">
      <p15:sldGuideLst xmlns:p15="http://schemas.microsoft.com/office/powerpoint/2012/main">
        <p15:guide id="1" pos="454">
          <p15:clr>
            <a:srgbClr val="747775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6DAB643-D88A-3E75-0270-FC2E3B49D3D7}" name="kym melo" initials="km" userId="cd73f0512394dcac" providerId="Windows Live"/>
  <p188:author id="{F5B7B953-1DF4-8E25-2FD7-461A6661F625}" name="user" initials="u" userId="user" providerId="None"/>
  <p188:author id="{5AA0A968-BEAC-3578-99DE-8E24331D5246}" name="Yasmin Aquino" initials="YA" userId="S::yasmin.aquino@vanzolini-ead.org.br::762970ba-864f-4cc2-a808-be1e8c01dea3" providerId="AD"/>
  <p188:author id="{377AEB95-F34C-FEB2-A03E-D3DA85656470}" name="Izabella Saadi Cerutti" initials="IS" userId="4295702eb40843b9" providerId="Windows Live"/>
  <p188:author id="{B165D799-BC8C-90BE-92C0-3CED3306CB02}" name="Daniel Paiva" initials="DP" userId="8a33842c199de2dd" providerId="Windows Live"/>
  <p188:author id="{4BD3CBB0-6750-1FDD-67D3-2ACB669506AF}" name="Soraia Novaes" initials="SN" userId="S::soraia.novaes@apoiofde.sp.gov.br::f517fece-32b1-4449-a5a1-33836cdfbea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9AC2"/>
    <a:srgbClr val="285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1BAB36B-2DCC-4F31-B811-377A76DFCB47}">
  <a:tblStyle styleId="{41BAB36B-2DCC-4F31-B811-377A76DFCB4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58" autoAdjust="0"/>
    <p:restoredTop sz="88545" autoAdjust="0"/>
  </p:normalViewPr>
  <p:slideViewPr>
    <p:cSldViewPr snapToGrid="0">
      <p:cViewPr varScale="1">
        <p:scale>
          <a:sx n="94" d="100"/>
          <a:sy n="94" d="100"/>
        </p:scale>
        <p:origin x="1362" y="90"/>
      </p:cViewPr>
      <p:guideLst>
        <p:guide pos="454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4" name="Google Shape;308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085" name="Google Shape;3085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3086" name="Google Shape;3086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Google Shape;3089;g3f62d4c3bae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090" name="Google Shape;3090;g3f62d4c3bae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6" name="Google Shape;2726;g3f3af8d0963_0_9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2727" name="Google Shape;2727;g3f3af8d0963_0_9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2728" name="Google Shape;2728;g3f3af8d0963_0_9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36153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5" name="Google Shape;3135;g3f62d4c3bae_0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136" name="Google Shape;3136;g3f62d4c3ba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4" name="Google Shape;3154;g3f62d4c3bae_0_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155" name="Google Shape;3155;g3f62d4c3bae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3" name="Google Shape;3163;g3f6172b20c7_0_4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164" name="Google Shape;3164;g3f6172b20c7_0_4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165" name="Google Shape;3165;g3f6172b20c7_0_4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0" name="Google Shape;3170;g3f3daee0cbd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171" name="Google Shape;3171;g3f3daee0cbd_0_1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172" name="Google Shape;3172;g3f3daee0cbd_0_1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0" name="Google Shape;3180;g3f58166c373_0_1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181" name="Google Shape;3181;g3f58166c373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" name="Google Shape;3194;g3f6172b20c7_0_10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195" name="Google Shape;3195;g3f6172b20c7_0_10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3" name="Google Shape;3213;g3f6522e2993_2_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214" name="Google Shape;3214;g3f6522e2993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6" name="Google Shape;3236;g3f58166c373_0_1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30400" lvl="0" indent="-2286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endParaRPr dirty="0"/>
          </a:p>
        </p:txBody>
      </p:sp>
      <p:sp>
        <p:nvSpPr>
          <p:cNvPr id="3237" name="Google Shape;3237;g3f58166c373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2" name="Google Shape;3242;g3f58166c373_0_1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243" name="Google Shape;3243;g3f58166c373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8" name="Google Shape;3248;g3f58166c373_0_1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249" name="Google Shape;3249;g3f58166c373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4" name="Google Shape;3254;g3f58166c373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255" name="Google Shape;3255;g3f58166c373_0_1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3256" name="Google Shape;3256;g3f58166c373_0_1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9" name="Google Shape;3259;g3f58166c373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260" name="Google Shape;3260;g3f58166c373_0_2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3261" name="Google Shape;3261;g3f58166c373_0_2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3" name="Google Shape;3283;g3f3daee0cbd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284" name="Google Shape;3284;g3f3daee0cbd_0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3285" name="Google Shape;3285;g3f3daee0cbd_0_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" name="Google Shape;3307;g3f58166c373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308" name="Google Shape;3308;g3f58166c373_0_1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3309" name="Google Shape;3309;g3f58166c373_0_1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3" name="Google Shape;3323;g3f58166c373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324" name="Google Shape;3324;g3f58166c373_0_2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3325" name="Google Shape;3325;g3f58166c373_0_2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5" name="Google Shape;335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356" name="Google Shape;3356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3357" name="Google Shape;3357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6.emf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0.png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5802699" y="1543035"/>
            <a:ext cx="4205858" cy="3044205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2149362" y="2398780"/>
            <a:ext cx="3401671" cy="157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6069602" y="2317274"/>
            <a:ext cx="3578455" cy="570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6116400" y="2896479"/>
            <a:ext cx="3673776" cy="96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2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9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5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"/>
          <p:cNvGrpSpPr/>
          <p:nvPr/>
        </p:nvGrpSpPr>
        <p:grpSpPr>
          <a:xfrm>
            <a:off x="9766737" y="6378809"/>
            <a:ext cx="2435595" cy="499855"/>
            <a:chOff x="14634602" y="9537218"/>
            <a:chExt cx="3653392" cy="749782"/>
          </a:xfrm>
        </p:grpSpPr>
        <p:pic>
          <p:nvPicPr>
            <p:cNvPr id="20" name="Google Shape;20;p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3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24;p3"/>
          <p:cNvGrpSpPr/>
          <p:nvPr/>
        </p:nvGrpSpPr>
        <p:grpSpPr>
          <a:xfrm>
            <a:off x="10400796" y="6090630"/>
            <a:ext cx="1791203" cy="767370"/>
            <a:chOff x="10400796" y="6090630"/>
            <a:chExt cx="1791203" cy="767370"/>
          </a:xfrm>
        </p:grpSpPr>
        <p:sp>
          <p:nvSpPr>
            <p:cNvPr id="25" name="Google Shape;25;p3"/>
            <p:cNvSpPr/>
            <p:nvPr/>
          </p:nvSpPr>
          <p:spPr>
            <a:xfrm>
              <a:off x="10400796" y="6090630"/>
              <a:ext cx="1791203" cy="76737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11842890" y="6090630"/>
              <a:ext cx="349109" cy="30614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3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6" cy="6964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29" name="Google Shape;29;p3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4" name="Google Shape;34;p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575" cy="360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5"/>
          <p:cNvCxnSpPr/>
          <p:nvPr/>
        </p:nvCxnSpPr>
        <p:spPr>
          <a:xfrm>
            <a:off x="6090044" y="840916"/>
            <a:ext cx="0" cy="5101049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37;p5"/>
          <p:cNvSpPr txBox="1"/>
          <p:nvPr/>
        </p:nvSpPr>
        <p:spPr>
          <a:xfrm>
            <a:off x="1428809" y="885957"/>
            <a:ext cx="4084090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38;p5"/>
          <p:cNvSpPr txBox="1"/>
          <p:nvPr/>
        </p:nvSpPr>
        <p:spPr>
          <a:xfrm>
            <a:off x="7467011" y="885654"/>
            <a:ext cx="4301563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1433188" y="2758358"/>
            <a:ext cx="3369028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5"/>
          <p:cNvSpPr txBox="1"/>
          <p:nvPr/>
        </p:nvSpPr>
        <p:spPr>
          <a:xfrm>
            <a:off x="1445466" y="4783002"/>
            <a:ext cx="3267249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7495847" y="2754156"/>
            <a:ext cx="4381080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1395562" y="5212846"/>
            <a:ext cx="1723806" cy="2923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3"/>
          </p:nvPr>
        </p:nvSpPr>
        <p:spPr>
          <a:xfrm>
            <a:off x="7496211" y="3346822"/>
            <a:ext cx="4044985" cy="159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4"/>
          </p:nvPr>
        </p:nvSpPr>
        <p:spPr>
          <a:xfrm>
            <a:off x="1443515" y="3337166"/>
            <a:ext cx="4044985" cy="1045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/>
          <p:nvPr/>
        </p:nvSpPr>
        <p:spPr>
          <a:xfrm>
            <a:off x="13188461" y="446722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34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538284" y="960081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14540" y="2813434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5"/>
          <p:cNvGrpSpPr/>
          <p:nvPr/>
        </p:nvGrpSpPr>
        <p:grpSpPr>
          <a:xfrm>
            <a:off x="632680" y="2944105"/>
            <a:ext cx="486839" cy="481169"/>
            <a:chOff x="8278989" y="8660410"/>
            <a:chExt cx="569755" cy="563121"/>
          </a:xfrm>
        </p:grpSpPr>
        <p:grpSp>
          <p:nvGrpSpPr>
            <p:cNvPr id="57" name="Google Shape;57;p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58" name="Google Shape;58;p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" name="Google Shape;60;p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5"/>
          <p:cNvSpPr/>
          <p:nvPr/>
        </p:nvSpPr>
        <p:spPr>
          <a:xfrm>
            <a:off x="516205" y="4833450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917" y="499193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6537750" y="974816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6643328" y="1077215"/>
            <a:ext cx="472784" cy="435244"/>
            <a:chOff x="8560697" y="2808577"/>
            <a:chExt cx="496370" cy="456957"/>
          </a:xfrm>
        </p:grpSpPr>
        <p:sp>
          <p:nvSpPr>
            <p:cNvPr id="67" name="Google Shape;67;p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" name="Google Shape;68;p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9" name="Google Shape;69;p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5" name="Google Shape;75;p5"/>
          <p:cNvSpPr/>
          <p:nvPr/>
        </p:nvSpPr>
        <p:spPr>
          <a:xfrm>
            <a:off x="6566586" y="2817907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666822" y="2925825"/>
            <a:ext cx="458663" cy="458561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5"/>
          <p:cNvGrpSpPr/>
          <p:nvPr/>
        </p:nvGrpSpPr>
        <p:grpSpPr>
          <a:xfrm>
            <a:off x="664474" y="1066003"/>
            <a:ext cx="428502" cy="428501"/>
            <a:chOff x="9358184" y="2764785"/>
            <a:chExt cx="495514" cy="495513"/>
          </a:xfrm>
        </p:grpSpPr>
        <p:grpSp>
          <p:nvGrpSpPr>
            <p:cNvPr id="78" name="Google Shape;78;p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79" name="Google Shape;79;p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2" name="Google Shape;82;p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375" cy="3739091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5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200184" y="44804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"/>
          <p:cNvSpPr txBox="1"/>
          <p:nvPr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8" name="Google Shape;108;p9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9" name="Google Shape;109;p9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0" name="Google Shape;110;p9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" name="Google Shape;112;p9"/>
          <p:cNvSpPr txBox="1"/>
          <p:nvPr/>
        </p:nvSpPr>
        <p:spPr>
          <a:xfrm>
            <a:off x="4603178" y="173762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4574825" y="293423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4574825" y="413084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9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0"/>
          <p:cNvSpPr/>
          <p:nvPr/>
        </p:nvSpPr>
        <p:spPr>
          <a:xfrm>
            <a:off x="5260792" y="304269"/>
            <a:ext cx="6553729" cy="556821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2" name="Google Shape;122;p10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832" cy="4145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7" name="Google Shape;127;p11"/>
          <p:cNvSpPr txBox="1"/>
          <p:nvPr/>
        </p:nvSpPr>
        <p:spPr>
          <a:xfrm>
            <a:off x="632648" y="1011053"/>
            <a:ext cx="6345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2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31" name="Google Shape;131;p12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2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2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1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625132" y="2553290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</a:t>
            </a:r>
            <a:r>
              <a:rPr lang="pt-BR" sz="3000" b="1" i="0" u="none" strike="noStrike" cap="none" dirty="0">
                <a:solidFill>
                  <a:srgbClr val="FF161F"/>
                </a:solidFill>
                <a:highlight>
                  <a:srgbClr val="00FFFF"/>
                </a:highlight>
                <a:latin typeface="Poppins"/>
                <a:ea typeface="Poppins"/>
                <a:cs typeface="Poppins"/>
                <a:sym typeface="Poppins"/>
              </a:rPr>
              <a:t>professor</a:t>
            </a:r>
            <a:endParaRPr sz="1400" b="0" i="0" u="none" strike="noStrike" cap="none" dirty="0">
              <a:solidFill>
                <a:srgbClr val="000000"/>
              </a:solidFill>
              <a:highlight>
                <a:srgbClr val="00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/>
          <p:nvPr/>
        </p:nvSpPr>
        <p:spPr>
          <a:xfrm>
            <a:off x="3426936" y="0"/>
            <a:ext cx="8781698" cy="68860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55" name="Google Shape;155;p1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6" name="Google Shape;156;p1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57" name="Google Shape;157;p1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58" name="Google Shape;158;p1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1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p1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1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66" name="Google Shape;166;p1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74" name="Google Shape;174;p16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75" name="Google Shape;175;p16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76" name="Google Shape;176;p16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77" name="Google Shape;177;p16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16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" name="Google Shape;181;p16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" name="Google Shape;183;p16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16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85" name="Google Shape;185;p1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" name="Google Shape;191;p17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308" cy="126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8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062" cy="1732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" name="Google Shape;200;p18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640" cy="348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782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9" name="Google Shape;209;p19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6924" cy="35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" name="Google Shape;210;p19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89" cy="242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" name="Google Shape;211;p19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793" cy="321627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12" name="Google Shape;212;p19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783" cy="1189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716" cy="295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716" cy="3736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717" cy="369979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31" name="Google Shape;231;p21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785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" name="Google Shape;232;p21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785" cy="31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p23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" name="Google Shape;254;p24"/>
          <p:cNvCxnSpPr/>
          <p:nvPr/>
        </p:nvCxnSpPr>
        <p:spPr>
          <a:xfrm rot="10800000">
            <a:off x="4997465" y="2618483"/>
            <a:ext cx="6017865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5" name="Google Shape;255;p24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56" name="Google Shape;256;p24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055" cy="11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7" name="Google Shape;257;p24"/>
          <p:cNvCxnSpPr/>
          <p:nvPr/>
        </p:nvCxnSpPr>
        <p:spPr>
          <a:xfrm rot="10800000">
            <a:off x="4997465" y="4669769"/>
            <a:ext cx="5961159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8" name="Google Shape;258;p24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59" name="Google Shape;259;p24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053" cy="1130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0" name="Google Shape;260;p24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6" cy="61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5" cy="82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" name="Google Shape;266;p25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7" name="Google Shape;267;p25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8" name="Google Shape;268;p25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" name="Google Shape;269;p25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0" name="Google Shape;270;p25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1" name="Google Shape;271;p2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7" name="Google Shape;277;p26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78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8" name="Google Shape;278;p26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76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9" name="Google Shape;279;p26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0" name="Google Shape;280;p26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6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1" name="Google Shape;281;p26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2" name="Google Shape;282;p26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7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87" cy="238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9" name="Google Shape;289;p27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55" cy="78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0" name="Google Shape;290;p27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083" cy="1879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1" name="Google Shape;291;p27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" name="Google Shape;292;p27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055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3" name="Google Shape;293;p27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246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4" name="Google Shape;294;p27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537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1" name="Google Shape;301;p2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2" name="Google Shape;302;p2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3" name="Google Shape;303;p2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4" name="Google Shape;304;p2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5" name="Google Shape;305;p2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6" name="Google Shape;306;p2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8"/>
          <p:cNvSpPr txBox="1"/>
          <p:nvPr/>
        </p:nvSpPr>
        <p:spPr>
          <a:xfrm>
            <a:off x="473493" y="697144"/>
            <a:ext cx="1829795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30"/>
          <p:cNvGrpSpPr/>
          <p:nvPr/>
        </p:nvGrpSpPr>
        <p:grpSpPr>
          <a:xfrm>
            <a:off x="0" y="0"/>
            <a:ext cx="8566485" cy="5808133"/>
            <a:chOff x="0" y="0"/>
            <a:chExt cx="8566485" cy="5808133"/>
          </a:xfrm>
        </p:grpSpPr>
        <p:sp>
          <p:nvSpPr>
            <p:cNvPr id="313" name="Google Shape;313;p30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6" name="Google Shape;316;p30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23" cy="3128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7" name="Google Shape;317;p30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91" cy="40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1" name="Google Shape;321;p32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2" name="Google Shape;322;p32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3" name="Google Shape;323;p32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3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9" name="Google Shape;329;p33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1" name="Google Shape;331;p33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4" name="Google Shape;334;p33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9" name="Google Shape;339;p3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0" name="Google Shape;340;p3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4"/>
          <p:cNvSpPr txBox="1"/>
          <p:nvPr/>
        </p:nvSpPr>
        <p:spPr>
          <a:xfrm>
            <a:off x="4535254" y="1129596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34"/>
          <p:cNvCxnSpPr/>
          <p:nvPr/>
        </p:nvCxnSpPr>
        <p:spPr>
          <a:xfrm>
            <a:off x="4535253" y="1685408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3" name="Google Shape;343;p34"/>
          <p:cNvSpPr txBox="1"/>
          <p:nvPr/>
        </p:nvSpPr>
        <p:spPr>
          <a:xfrm>
            <a:off x="4535254" y="2594775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34"/>
          <p:cNvCxnSpPr/>
          <p:nvPr/>
        </p:nvCxnSpPr>
        <p:spPr>
          <a:xfrm>
            <a:off x="4535253" y="3150587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5" name="Google Shape;345;p34"/>
          <p:cNvSpPr txBox="1"/>
          <p:nvPr/>
        </p:nvSpPr>
        <p:spPr>
          <a:xfrm>
            <a:off x="4535254" y="4059954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34"/>
          <p:cNvCxnSpPr/>
          <p:nvPr/>
        </p:nvCxnSpPr>
        <p:spPr>
          <a:xfrm>
            <a:off x="4535253" y="461576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7" name="Google Shape;347;p34"/>
          <p:cNvSpPr txBox="1"/>
          <p:nvPr/>
        </p:nvSpPr>
        <p:spPr>
          <a:xfrm>
            <a:off x="4535254" y="5525133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34"/>
          <p:cNvCxnSpPr/>
          <p:nvPr/>
        </p:nvCxnSpPr>
        <p:spPr>
          <a:xfrm>
            <a:off x="4535253" y="608094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9" name="Google Shape;349;p3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0" name="Google Shape;350;p3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1" name="Google Shape;351;p3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2" name="Google Shape;352;p3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3" name="Google Shape;353;p3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35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59" name="Google Shape;359;p35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233" cy="406823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60" name="Google Shape;360;p35"/>
          <p:cNvSpPr txBox="1"/>
          <p:nvPr/>
        </p:nvSpPr>
        <p:spPr>
          <a:xfrm>
            <a:off x="4676921" y="734022"/>
            <a:ext cx="5440600" cy="718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5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5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78" cy="4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7" name="Google Shape;367;p3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53" cy="2612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8" name="Google Shape;368;p3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665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9" name="Google Shape;369;p3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4" name="Google Shape;374;p37"/>
          <p:cNvCxnSpPr/>
          <p:nvPr/>
        </p:nvCxnSpPr>
        <p:spPr>
          <a:xfrm>
            <a:off x="460698" y="3353252"/>
            <a:ext cx="11844716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375" name="Google Shape;375;p3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2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6" name="Google Shape;376;p3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432" cy="41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7" name="Google Shape;377;p3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Google Shape;383;p38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84" name="Google Shape;384;p38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5" name="Google Shape;385;p38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6" name="Google Shape;386;p38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7" name="Google Shape;387;p38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388" name="Google Shape;388;p3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89" name="Google Shape;389;p3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90" name="Google Shape;390;p3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91" name="Google Shape;391;p3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92" name="Google Shape;392;p3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3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8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8" name="Google Shape;398;p39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99" name="Google Shape;399;p39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0" name="Google Shape;400;p39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1" name="Google Shape;401;p39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2" name="Google Shape;402;p39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03" name="Google Shape;403;p3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04" name="Google Shape;404;p3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05" name="Google Shape;405;p3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06" name="Google Shape;406;p3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07" name="Google Shape;407;p3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8" name="Google Shape;408;p3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3" name="Google Shape;413;p40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14" name="Google Shape;414;p40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5" name="Google Shape;415;p40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6" name="Google Shape;416;p40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7" name="Google Shape;417;p40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18" name="Google Shape;418;p4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19" name="Google Shape;419;p4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20" name="Google Shape;420;p4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21" name="Google Shape;421;p4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22" name="Google Shape;422;p4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3" name="Google Shape;423;p4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424" name="Google Shape;424;p40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25" name="Google Shape;425;p40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0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" name="Google Shape;430;p41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31" name="Google Shape;431;p41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2" name="Google Shape;432;p41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3" name="Google Shape;433;p41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4" name="Google Shape;434;p41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35" name="Google Shape;435;p4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36" name="Google Shape;436;p4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37" name="Google Shape;437;p4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38" name="Google Shape;438;p4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39" name="Google Shape;439;p4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0" name="Google Shape;440;p4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441" name="Google Shape;441;p41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42" name="Google Shape;442;p41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1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" name="Google Shape;447;p42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48" name="Google Shape;448;p42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49" name="Google Shape;449;p42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0" name="Google Shape;450;p42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1" name="Google Shape;451;p42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2" name="Google Shape;452;p4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53" name="Google Shape;453;p4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54" name="Google Shape;454;p4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55" name="Google Shape;455;p4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56" name="Google Shape;456;p4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7" name="Google Shape;457;p4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458" name="Google Shape;458;p42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9" name="Google Shape;459;p4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65" name="Google Shape;465;p4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66" name="Google Shape;466;p4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67" name="Google Shape;467;p4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468" name="Google Shape;468;p43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69" name="Google Shape;469;p4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4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1" name="Google Shape;471;p4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72" name="Google Shape;472;p4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3" name="Google Shape;473;p4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4" name="Google Shape;474;p4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5" name="Google Shape;475;p4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6" name="Google Shape;476;p4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7" name="Google Shape;477;p43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3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4" name="Google Shape;484;p4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5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5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5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595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96" name="Google Shape;496;p46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7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182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00" name="Google Shape;500;p4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8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7" name="Google Shape;507;p48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441" cy="166793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508" name="Google Shape;508;p48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8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9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68" cy="3295901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514" name="Google Shape;514;p49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1" cy="27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5" name="Google Shape;515;p49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1" cy="13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6" name="Google Shape;516;p4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0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20" cy="520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2" name="Google Shape;522;p50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789" cy="376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3" name="Google Shape;523;p50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75" cy="376111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524" name="Google Shape;524;p50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50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5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0" name="Google Shape;530;p5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1" name="Google Shape;531;p5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2" name="Google Shape;532;p51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51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3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53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3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8" name="Google Shape;548;p5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9" name="Google Shape;549;p5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5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2" name="Google Shape;552;p5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3" name="Google Shape;553;p53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53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54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54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5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0" name="Google Shape;560;p5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1" name="Google Shape;561;p5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5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5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4" name="Google Shape;564;p5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5" name="Google Shape;565;p54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54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54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54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5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68"/>
          <a:stretch/>
        </p:blipFill>
        <p:spPr>
          <a:xfrm>
            <a:off x="428798" y="386760"/>
            <a:ext cx="3243277" cy="3243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572" name="Google Shape;572;p55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4" name="Google Shape;574;p5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5" name="Google Shape;575;p5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6" name="Google Shape;576;p5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7" name="Google Shape;577;p55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55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56" descr="Câmera fotográfica preta&#10;&#10;Descrição gerada automaticamente"/>
          <p:cNvSpPr/>
          <p:nvPr/>
        </p:nvSpPr>
        <p:spPr>
          <a:xfrm>
            <a:off x="428798" y="386760"/>
            <a:ext cx="3243277" cy="32432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2" name="Google Shape;582;p56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56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4" name="Google Shape;584;p56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5" name="Google Shape;585;p56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6" name="Google Shape;586;p56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7" name="Google Shape;587;p56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56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57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730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2" name="Google Shape;592;p5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57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633" cy="37814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594" name="Google Shape;594;p57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6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5" name="Google Shape;595;p5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7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9" name="Google Shape;599;p58"/>
          <p:cNvCxnSpPr/>
          <p:nvPr/>
        </p:nvCxnSpPr>
        <p:spPr>
          <a:xfrm>
            <a:off x="343022" y="609127"/>
            <a:ext cx="7496113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0" name="Google Shape;600;p58"/>
          <p:cNvSpPr txBox="1"/>
          <p:nvPr/>
        </p:nvSpPr>
        <p:spPr>
          <a:xfrm>
            <a:off x="343021" y="409155"/>
            <a:ext cx="4153598" cy="233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9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6_Layout Personalizado"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61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61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66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dirty="0"/>
          </a:p>
        </p:txBody>
      </p:sp>
      <p:sp>
        <p:nvSpPr>
          <p:cNvPr id="608" name="Google Shape;608;p61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34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dirty="0"/>
          </a:p>
        </p:txBody>
      </p:sp>
      <p:sp>
        <p:nvSpPr>
          <p:cNvPr id="609" name="Google Shape;609;p61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dirty="0"/>
          </a:p>
        </p:txBody>
      </p:sp>
      <p:pic>
        <p:nvPicPr>
          <p:cNvPr id="610" name="Google Shape;610;p61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5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5_Layout Personalizado"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6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3" name="Google Shape;613;p62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614" name="Google Shape;614;p62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5" name="Google Shape;615;p62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6" name="Google Shape;616;p6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7" name="Google Shape;617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8" name="Google Shape;618;p62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619" name="Google Shape;619;p62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62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21" name="Google Shape;621;p62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5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2" name="Google Shape;622;p62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623" name="Google Shape;623;p62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62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62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3_Atividade_embranco"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628" name="Google Shape;628;p63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3_1. Conteudo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0" name="Google Shape;630;p64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1" name="Google Shape;631;p64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2" name="Google Shape;632;p64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3" name="Google Shape;633;p64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4" name="Google Shape;634;p64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5" name="Google Shape;635;p64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6" name="Google Shape;636;p64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64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dirty="0"/>
          </a:p>
        </p:txBody>
      </p:sp>
      <p:sp>
        <p:nvSpPr>
          <p:cNvPr id="638" name="Google Shape;638;p64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9" name="Google Shape;639;p64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0" name="Google Shape;640;p64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1" name="Google Shape;641;p64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642" name="Google Shape;642;p64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643" name="Google Shape;643;p6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4" name="Google Shape;644;p64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5" name="Google Shape;645;p64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6" name="Google Shape;646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6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64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64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0" name="Google Shape;650;p64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651" name="Google Shape;651;p64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652" name="Google Shape;652;p64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64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4" name="Google Shape;654;p64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64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64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7" name="Google Shape;657;p64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8" name="Google Shape;658;p6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64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0" name="Google Shape;660;p64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661" name="Google Shape;661;p64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62" name="Google Shape;662;p64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63" name="Google Shape;663;p64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64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64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64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64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64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69" name="Google Shape;669;p64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64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1" name="Google Shape;671;p64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672" name="Google Shape;672;p64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673" name="Google Shape;673;p64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64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64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76" name="Google Shape;676;p64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64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2_Atividade"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67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67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6" name="Google Shape;696;p67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3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7" name="Google Shape;697;p67"/>
          <p:cNvSpPr/>
          <p:nvPr/>
        </p:nvSpPr>
        <p:spPr>
          <a:xfrm>
            <a:off x="200184" y="44804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67"/>
          <p:cNvSpPr txBox="1"/>
          <p:nvPr/>
        </p:nvSpPr>
        <p:spPr>
          <a:xfrm>
            <a:off x="629139" y="882775"/>
            <a:ext cx="1528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8_OqueAprendemos"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Google Shape;700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6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02" name="Google Shape;702;p6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03" name="Google Shape;703;p68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4" name="Google Shape;704;p68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5" name="Google Shape;705;p68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6" name="Google Shape;706;p68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68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68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68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6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6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4_4. Exposição"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6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6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16" name="Google Shape;716;p6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5_Atividade_Seminario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7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21" name="Google Shape;721;p7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4_Layout Personalizado"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3" name="Google Shape;723;p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4" name="Google Shape;724;p7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725" name="Google Shape;725;p7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7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7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9" name="Google Shape;729;p7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3_4. Exposição"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5_1. Desenvolvimento"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" name="Google Shape;733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73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7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7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3_Title Only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74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74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74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3" name="Google Shape;743;p74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44" name="Google Shape;744;p74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45" name="Google Shape;745;p74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746" name="Google Shape;746;p74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747" name="Google Shape;747;p74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8" name="Google Shape;748;p74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9" name="Google Shape;749;p74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0" name="Google Shape;750;p74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1" name="Google Shape;751;p74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2" name="Google Shape;752;p74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3" name="Google Shape;753;p74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4" name="Google Shape;754;p74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755" name="Google Shape;755;p7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7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2_Title Only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8" name="Google Shape;758;p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7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7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7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2" name="Google Shape;762;p7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63" name="Google Shape;763;p7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64" name="Google Shape;764;p7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765" name="Google Shape;765;p7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766" name="Google Shape;766;p7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7" name="Google Shape;767;p7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8" name="Google Shape;768;p7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9" name="Google Shape;769;p7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0" name="Google Shape;770;p7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1" name="Google Shape;771;p7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2" name="Google Shape;772;p7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3" name="Google Shape;773;p7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774" name="Google Shape;774;p7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7_OqueAprendemos"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8" name="Google Shape;948;p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9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50" name="Google Shape;950;p95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51" name="Google Shape;951;p95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95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 1">
  <p:cSld name="2_Atividade_Resposta 1"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119"/>
          <p:cNvSpPr/>
          <p:nvPr/>
        </p:nvSpPr>
        <p:spPr>
          <a:xfrm>
            <a:off x="2883290" y="2029005"/>
            <a:ext cx="4047000" cy="3766949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9" name="Google Shape;1189;p119"/>
          <p:cNvSpPr/>
          <p:nvPr/>
        </p:nvSpPr>
        <p:spPr>
          <a:xfrm>
            <a:off x="7220006" y="2029005"/>
            <a:ext cx="4047000" cy="3766949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0" name="Google Shape;1190;p119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119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119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3" name="Google Shape;1193;p119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4" name="Google Shape;1194;p119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5" name="Google Shape;1195;p119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6" name="Google Shape;1196;p119"/>
          <p:cNvSpPr txBox="1"/>
          <p:nvPr/>
        </p:nvSpPr>
        <p:spPr>
          <a:xfrm>
            <a:off x="3305837" y="6053552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8" name="Google Shape;1198;p119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99" name="Google Shape;1199;p1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25052" y="1652486"/>
            <a:ext cx="613321" cy="417058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119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1" name="Google Shape;1201;p119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5782" y="1632977"/>
            <a:ext cx="450550" cy="440964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11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11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C73875E-84C1-E2A1-1D22-868A431CA3A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02047" y="5900730"/>
            <a:ext cx="363559" cy="4362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4_Título e Conteúdo"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6" name="Google Shape;1206;p1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7" name="Google Shape;1207;p1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8" name="Google Shape;1208;p121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9" name="Google Shape;1209;p121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0" name="Google Shape;1210;p121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11" name="Google Shape;1211;p121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121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6_Atividade_Resposta"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122"/>
          <p:cNvSpPr/>
          <p:nvPr/>
        </p:nvSpPr>
        <p:spPr>
          <a:xfrm>
            <a:off x="2883290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5" name="Google Shape;1215;p122"/>
          <p:cNvSpPr/>
          <p:nvPr/>
        </p:nvSpPr>
        <p:spPr>
          <a:xfrm>
            <a:off x="7220006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6" name="Google Shape;1216;p122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 dirty="0"/>
          </a:p>
        </p:txBody>
      </p:sp>
      <p:sp>
        <p:nvSpPr>
          <p:cNvPr id="1217" name="Google Shape;1217;p122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 dirty="0"/>
          </a:p>
        </p:txBody>
      </p:sp>
      <p:sp>
        <p:nvSpPr>
          <p:cNvPr id="1218" name="Google Shape;1218;p122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9" name="Google Shape;1219;p122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0" name="Google Shape;1220;p122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1" name="Google Shape;1221;p122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2" name="Google Shape;1222;p122"/>
          <p:cNvSpPr txBox="1"/>
          <p:nvPr/>
        </p:nvSpPr>
        <p:spPr>
          <a:xfrm>
            <a:off x="3305837" y="59487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3" name="Google Shape;1223;p12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02047" y="5795955"/>
            <a:ext cx="363560" cy="436271"/>
          </a:xfrm>
          <a:prstGeom prst="rect">
            <a:avLst/>
          </a:prstGeom>
          <a:noFill/>
          <a:ln>
            <a:noFill/>
          </a:ln>
        </p:spPr>
      </p:pic>
      <p:sp>
        <p:nvSpPr>
          <p:cNvPr id="1224" name="Google Shape;1224;p122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5" name="Google Shape;1225;p122"/>
          <p:cNvSpPr/>
          <p:nvPr/>
        </p:nvSpPr>
        <p:spPr>
          <a:xfrm>
            <a:off x="4625052" y="1652486"/>
            <a:ext cx="613200" cy="417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26" name="Google Shape;1226;p122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122"/>
          <p:cNvSpPr/>
          <p:nvPr/>
        </p:nvSpPr>
        <p:spPr>
          <a:xfrm>
            <a:off x="9045782" y="1632977"/>
            <a:ext cx="450600" cy="44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28" name="Google Shape;1228;p12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12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9_Layout Personalizado"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1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123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123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66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dirty="0"/>
          </a:p>
        </p:txBody>
      </p:sp>
      <p:sp>
        <p:nvSpPr>
          <p:cNvPr id="1234" name="Google Shape;1234;p123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34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dirty="0"/>
          </a:p>
        </p:txBody>
      </p:sp>
      <p:sp>
        <p:nvSpPr>
          <p:cNvPr id="1235" name="Google Shape;1235;p123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dirty="0"/>
          </a:p>
        </p:txBody>
      </p:sp>
      <p:pic>
        <p:nvPicPr>
          <p:cNvPr id="1236" name="Google Shape;1236;p123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5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8_Layout Personalizado"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8" name="Google Shape;1238;p124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9" name="Google Shape;1239;p124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1240" name="Google Shape;1240;p124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1" name="Google Shape;1241;p124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2" name="Google Shape;1242;p124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3" name="Google Shape;1243;p1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4" name="Google Shape;1244;p124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1245" name="Google Shape;1245;p124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124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47" name="Google Shape;1247;p124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5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8" name="Google Shape;1248;p124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249" name="Google Shape;1249;p124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124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124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7_Layout Personalizado"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1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4" name="Google Shape;1254;p125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255" name="Google Shape;1255;p125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125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125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8" name="Google Shape;1258;p125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125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</a:t>
            </a:r>
            <a:r>
              <a:rPr lang="pt-BR" sz="3000" b="1" i="0" u="none" strike="noStrike" cap="none" dirty="0">
                <a:solidFill>
                  <a:srgbClr val="FF161F"/>
                </a:solidFill>
                <a:highlight>
                  <a:srgbClr val="00FFFF"/>
                </a:highlight>
                <a:latin typeface="Poppins"/>
                <a:ea typeface="Poppins"/>
                <a:cs typeface="Poppins"/>
                <a:sym typeface="Poppins"/>
              </a:rPr>
              <a:t>professor</a:t>
            </a:r>
            <a:endParaRPr dirty="0">
              <a:highlight>
                <a:srgbClr val="00FFFF"/>
              </a:highlight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5_Title Only"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1" name="Google Shape;1261;p1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126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126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126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5" name="Google Shape;1265;p126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266" name="Google Shape;1266;p126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267" name="Google Shape;1267;p126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68" name="Google Shape;1268;p126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69" name="Google Shape;1269;p126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0" name="Google Shape;1270;p126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1" name="Google Shape;1271;p126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2" name="Google Shape;1272;p126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3" name="Google Shape;1273;p126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4" name="Google Shape;1274;p126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5" name="Google Shape;1275;p126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6" name="Google Shape;1276;p126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77" name="Google Shape;1277;p12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126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4_Title Only">
    <p:spTree>
      <p:nvGrpSpPr>
        <p:cNvPr id="1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" name="Google Shape;1280;p1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1" name="Google Shape;1281;p12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127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127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4" name="Google Shape;1284;p127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285" name="Google Shape;1285;p127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286" name="Google Shape;1286;p127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87" name="Google Shape;1287;p127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88" name="Google Shape;1288;p127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9" name="Google Shape;1289;p127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0" name="Google Shape;1290;p127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1" name="Google Shape;1291;p127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2" name="Google Shape;1292;p127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3" name="Google Shape;1293;p127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4" name="Google Shape;1294;p127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5" name="Google Shape;1295;p127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96" name="Google Shape;1296;p12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5_1. Conteudo"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8" name="Google Shape;1298;p128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99" name="Google Shape;1299;p128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0" name="Google Shape;1300;p128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1" name="Google Shape;1301;p128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2" name="Google Shape;1302;p128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3" name="Google Shape;1303;p128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4" name="Google Shape;1304;p128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128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dirty="0"/>
          </a:p>
        </p:txBody>
      </p:sp>
      <p:sp>
        <p:nvSpPr>
          <p:cNvPr id="1306" name="Google Shape;1306;p128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7" name="Google Shape;1307;p128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8" name="Google Shape;1308;p128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9" name="Google Shape;1309;p128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310" name="Google Shape;1310;p128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311" name="Google Shape;1311;p128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2" name="Google Shape;1312;p128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13" name="Google Shape;1313;p128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4" name="Google Shape;1314;p1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5" name="Google Shape;1315;p1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128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128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8" name="Google Shape;1318;p128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1319" name="Google Shape;1319;p128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320" name="Google Shape;1320;p128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128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2" name="Google Shape;1322;p128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1323;p128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128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5" name="Google Shape;1325;p128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6" name="Google Shape;1326;p1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1327" name="Google Shape;1327;p128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8" name="Google Shape;1328;p128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1329" name="Google Shape;1329;p128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30" name="Google Shape;1330;p128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1331" name="Google Shape;1331;p128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128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128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128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128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128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37" name="Google Shape;1337;p128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128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9" name="Google Shape;1339;p128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1340" name="Google Shape;1340;p128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341" name="Google Shape;1341;p128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128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128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4" name="Google Shape;1344;p128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128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4_1. Conteudo"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129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48" name="Google Shape;1348;p129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49" name="Google Shape;1349;p129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0" name="Google Shape;1350;p129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1" name="Google Shape;1351;p129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2" name="Google Shape;1352;p12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12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9_3. Conteudo"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1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13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13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13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130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0" name="Google Shape;1360;p130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130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8_3. Conteudo">
    <p:spTree>
      <p:nvGrpSpPr>
        <p:cNvPr id="1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3" name="Google Shape;1363;p1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64" name="Google Shape;1364;p13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13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13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131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8" name="Google Shape;1368;p131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9" name="Google Shape;1369;p131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131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7_3. Conteudo"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" name="Google Shape;1372;p1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13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13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13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132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7" name="Google Shape;1377;p132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8" name="Google Shape;1378;p132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9" name="Google Shape;1379;p132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380" name="Google Shape;1380;p13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13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6_3. Conteudo"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3" name="Google Shape;1383;p1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3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13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13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133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8" name="Google Shape;1388;p133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9" name="Google Shape;1389;p133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133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91" name="Google Shape;1391;p133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133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5_3. Conteudo">
    <p:spTree>
      <p:nvGrpSpPr>
        <p:cNvPr id="1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4" name="Google Shape;1394;p1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134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134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134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134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399" name="Google Shape;1399;p134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0" name="Google Shape;1400;p134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1" name="Google Shape;1401;p134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134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4_3. Conteudo"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4" name="Google Shape;1404;p1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405" name="Google Shape;1405;p135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135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135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135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9" name="Google Shape;1409;p135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0" name="Google Shape;1410;p135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13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11_Layout Personalizado"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18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2" name="Google Shape;1812;p181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3" name="Google Shape;1813;p181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4" name="Google Shape;1814;p181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5" name="Google Shape;1815;p181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6" name="Google Shape;1816;p181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81" cy="1147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choca">
  <p:cSld name="michoca">
    <p:spTree>
      <p:nvGrpSpPr>
        <p:cNvPr id="1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8" name="Google Shape;1818;p18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99" r="951"/>
          <a:stretch/>
        </p:blipFill>
        <p:spPr>
          <a:xfrm>
            <a:off x="-5171" y="1336655"/>
            <a:ext cx="12197169" cy="4987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19" name="Google Shape;1819;p182"/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182"/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182"/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182"/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182"/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4" name="Google Shape;1824;p182"/>
          <p:cNvGrpSpPr/>
          <p:nvPr/>
        </p:nvGrpSpPr>
        <p:grpSpPr>
          <a:xfrm>
            <a:off x="587322" y="1618499"/>
            <a:ext cx="11456514" cy="4435193"/>
            <a:chOff x="880938" y="2427625"/>
            <a:chExt cx="17183911" cy="6652457"/>
          </a:xfrm>
        </p:grpSpPr>
        <p:sp>
          <p:nvSpPr>
            <p:cNvPr id="1825" name="Google Shape;1825;p182"/>
            <p:cNvSpPr/>
            <p:nvPr/>
          </p:nvSpPr>
          <p:spPr>
            <a:xfrm>
              <a:off x="880938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6" name="Google Shape;1826;p182"/>
            <p:cNvSpPr/>
            <p:nvPr/>
          </p:nvSpPr>
          <p:spPr>
            <a:xfrm>
              <a:off x="2332293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182"/>
            <p:cNvSpPr/>
            <p:nvPr/>
          </p:nvSpPr>
          <p:spPr>
            <a:xfrm>
              <a:off x="3751845" y="8108805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8" name="Google Shape;1828;p182"/>
            <p:cNvSpPr/>
            <p:nvPr/>
          </p:nvSpPr>
          <p:spPr>
            <a:xfrm rot="-3437456">
              <a:off x="5201675" y="5679979"/>
              <a:ext cx="315893" cy="315893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9" name="Google Shape;1829;p182"/>
            <p:cNvSpPr/>
            <p:nvPr/>
          </p:nvSpPr>
          <p:spPr>
            <a:xfrm rot="-911871">
              <a:off x="6624196" y="5419647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182"/>
            <p:cNvSpPr/>
            <p:nvPr/>
          </p:nvSpPr>
          <p:spPr>
            <a:xfrm rot="-911871">
              <a:off x="7693784" y="4751289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182"/>
            <p:cNvSpPr/>
            <p:nvPr/>
          </p:nvSpPr>
          <p:spPr>
            <a:xfrm rot="8951697">
              <a:off x="10518648" y="248620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182"/>
            <p:cNvSpPr/>
            <p:nvPr/>
          </p:nvSpPr>
          <p:spPr>
            <a:xfrm rot="8951697">
              <a:off x="8026147" y="314855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182"/>
            <p:cNvSpPr/>
            <p:nvPr/>
          </p:nvSpPr>
          <p:spPr>
            <a:xfrm rot="-4951441">
              <a:off x="11180622" y="6509015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4" name="Google Shape;1834;p182"/>
            <p:cNvSpPr/>
            <p:nvPr/>
          </p:nvSpPr>
          <p:spPr>
            <a:xfrm rot="-4951441">
              <a:off x="11209836" y="5069980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182"/>
            <p:cNvSpPr/>
            <p:nvPr/>
          </p:nvSpPr>
          <p:spPr>
            <a:xfrm rot="-2287966">
              <a:off x="13545981" y="8700484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182"/>
            <p:cNvSpPr/>
            <p:nvPr/>
          </p:nvSpPr>
          <p:spPr>
            <a:xfrm rot="-2287966">
              <a:off x="14277258" y="7524968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7" name="Google Shape;1837;p182"/>
            <p:cNvSpPr/>
            <p:nvPr/>
          </p:nvSpPr>
          <p:spPr>
            <a:xfrm rot="5403265">
              <a:off x="11261393" y="7971458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8" name="Google Shape;1838;p182"/>
            <p:cNvSpPr/>
            <p:nvPr/>
          </p:nvSpPr>
          <p:spPr>
            <a:xfrm rot="4161668">
              <a:off x="14897321" y="4884642"/>
              <a:ext cx="315766" cy="31576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9" name="Google Shape;1839;p182"/>
            <p:cNvSpPr/>
            <p:nvPr/>
          </p:nvSpPr>
          <p:spPr>
            <a:xfrm rot="-9744530">
              <a:off x="17708869" y="4757143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182"/>
            <p:cNvSpPr/>
            <p:nvPr/>
          </p:nvSpPr>
          <p:spPr>
            <a:xfrm rot="-9744530">
              <a:off x="16321681" y="4758619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1" name="Google Shape;1841;p182"/>
          <p:cNvSpPr/>
          <p:nvPr/>
        </p:nvSpPr>
        <p:spPr>
          <a:xfrm>
            <a:off x="2933526" y="2830191"/>
            <a:ext cx="536100" cy="5361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2" name="Google Shape;1842;p182"/>
          <p:cNvCxnSpPr>
            <a:stCxn id="1841" idx="4"/>
          </p:cNvCxnSpPr>
          <p:nvPr/>
        </p:nvCxnSpPr>
        <p:spPr>
          <a:xfrm>
            <a:off x="3201576" y="3366291"/>
            <a:ext cx="0" cy="1323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43" name="Google Shape;1843;p182"/>
          <p:cNvCxnSpPr>
            <a:endCxn id="1822" idx="1"/>
          </p:cNvCxnSpPr>
          <p:nvPr/>
        </p:nvCxnSpPr>
        <p:spPr>
          <a:xfrm rot="10800000" flipH="1">
            <a:off x="7013652" y="5998827"/>
            <a:ext cx="1116000" cy="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4" name="Google Shape;1844;p182"/>
          <p:cNvSpPr/>
          <p:nvPr/>
        </p:nvSpPr>
        <p:spPr>
          <a:xfrm>
            <a:off x="5860040" y="62685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5" name="Google Shape;1845;p182"/>
          <p:cNvCxnSpPr>
            <a:stCxn id="1844" idx="4"/>
            <a:endCxn id="1820" idx="7"/>
          </p:cNvCxnSpPr>
          <p:nvPr/>
        </p:nvCxnSpPr>
        <p:spPr>
          <a:xfrm flipH="1">
            <a:off x="6117590" y="1162952"/>
            <a:ext cx="10500" cy="54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6" name="Google Shape;1846;p182"/>
          <p:cNvSpPr/>
          <p:nvPr/>
        </p:nvSpPr>
        <p:spPr>
          <a:xfrm>
            <a:off x="8025148" y="168813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7" name="Google Shape;1847;p182"/>
          <p:cNvCxnSpPr>
            <a:stCxn id="1846" idx="3"/>
            <a:endCxn id="1821" idx="5"/>
          </p:cNvCxnSpPr>
          <p:nvPr/>
        </p:nvCxnSpPr>
        <p:spPr>
          <a:xfrm flipH="1">
            <a:off x="7634758" y="2145722"/>
            <a:ext cx="468900" cy="34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8" name="Google Shape;1848;p182"/>
          <p:cNvSpPr txBox="1"/>
          <p:nvPr/>
        </p:nvSpPr>
        <p:spPr>
          <a:xfrm>
            <a:off x="772402" y="3726604"/>
            <a:ext cx="172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9" name="Google Shape;1849;p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2744266">
            <a:off x="2787582" y="2677006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0" name="Google Shape;1850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6507085" y="5594780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1" name="Google Shape;1851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5742058" y="459308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2" name="Google Shape;1852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7905615" y="153337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3" name="Google Shape;1853;p182"/>
          <p:cNvSpPr/>
          <p:nvPr/>
        </p:nvSpPr>
        <p:spPr>
          <a:xfrm>
            <a:off x="10174052" y="3851166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4" name="Google Shape;1854;p182"/>
          <p:cNvCxnSpPr>
            <a:stCxn id="1853" idx="2"/>
          </p:cNvCxnSpPr>
          <p:nvPr/>
        </p:nvCxnSpPr>
        <p:spPr>
          <a:xfrm flipH="1">
            <a:off x="9579752" y="4119216"/>
            <a:ext cx="594300" cy="1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55" name="Google Shape;1855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10032072" y="371060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6" name="Google Shape;1856;p182"/>
          <p:cNvSpPr txBox="1"/>
          <p:nvPr/>
        </p:nvSpPr>
        <p:spPr>
          <a:xfrm>
            <a:off x="772403" y="3963595"/>
            <a:ext cx="2832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Tema da semana 1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7" name="Google Shape;1857;p182"/>
          <p:cNvSpPr txBox="1"/>
          <p:nvPr/>
        </p:nvSpPr>
        <p:spPr>
          <a:xfrm>
            <a:off x="4258768" y="5830396"/>
            <a:ext cx="2247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4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8" name="Google Shape;1858;p182"/>
          <p:cNvSpPr txBox="1"/>
          <p:nvPr/>
        </p:nvSpPr>
        <p:spPr>
          <a:xfrm>
            <a:off x="6510730" y="504694"/>
            <a:ext cx="3724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2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9" name="Google Shape;1859;p182"/>
          <p:cNvSpPr txBox="1"/>
          <p:nvPr/>
        </p:nvSpPr>
        <p:spPr>
          <a:xfrm>
            <a:off x="8673545" y="1652519"/>
            <a:ext cx="2756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3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0" name="Google Shape;1860;p182"/>
          <p:cNvSpPr txBox="1"/>
          <p:nvPr/>
        </p:nvSpPr>
        <p:spPr>
          <a:xfrm>
            <a:off x="9949275" y="4530800"/>
            <a:ext cx="2197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5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1" name="Google Shape;1861;p182"/>
          <p:cNvSpPr/>
          <p:nvPr/>
        </p:nvSpPr>
        <p:spPr>
          <a:xfrm>
            <a:off x="6649008" y="5735630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182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3" name="Google Shape;1863;p182"/>
          <p:cNvSpPr txBox="1"/>
          <p:nvPr/>
        </p:nvSpPr>
        <p:spPr>
          <a:xfrm>
            <a:off x="135519" y="1439639"/>
            <a:ext cx="1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Nome da unidade curricular</a:t>
            </a: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p182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p182"/>
          <p:cNvSpPr txBox="1"/>
          <p:nvPr/>
        </p:nvSpPr>
        <p:spPr>
          <a:xfrm>
            <a:off x="2160045" y="891153"/>
            <a:ext cx="2435700" cy="10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21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X   Componente Y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10_Layout Personalizado">
    <p:spTree>
      <p:nvGrpSpPr>
        <p:cNvPr id="1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7" name="Google Shape;1867;p18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8" name="Google Shape;1868;p183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1869" name="Google Shape;1869;p18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0" name="Google Shape;1870;p183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71" name="Google Shape;1871;p183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2" name="Google Shape;1872;p18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3" name="Google Shape;1873;p183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1874" name="Google Shape;1874;p183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183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76" name="Google Shape;1876;p183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4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7" name="Google Shape;1877;p183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878" name="Google Shape;1878;p183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183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183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7_1. Conteudo">
    <p:spTree>
      <p:nvGrpSpPr>
        <p:cNvPr id="1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5" name="Google Shape;1885;p185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6" name="Google Shape;1886;p185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7" name="Google Shape;1887;p185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8" name="Google Shape;1888;p185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9" name="Google Shape;1889;p185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0" name="Google Shape;1890;p185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1" name="Google Shape;1891;p18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p185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p18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4" name="Google Shape;1894;p18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5" name="Google Shape;1895;p185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6" name="Google Shape;1896;p18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897" name="Google Shape;1897;p185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898" name="Google Shape;1898;p185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9" name="Google Shape;1899;p185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0" name="Google Shape;1900;p18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1" name="Google Shape;1901;p1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2" name="Google Shape;1902;p18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903" name="Google Shape;1903;p185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185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05" name="Google Shape;1905;p185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1906" name="Google Shape;1906;p18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907" name="Google Shape;1907;p18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8" name="Google Shape;1908;p18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09" name="Google Shape;1909;p18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0" name="Google Shape;1910;p18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1" name="Google Shape;1911;p185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2" name="Google Shape;1912;p185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3" name="Google Shape;1913;p18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1914" name="Google Shape;1914;p185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5" name="Google Shape;1915;p185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1916" name="Google Shape;1916;p18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17" name="Google Shape;1917;p18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1918" name="Google Shape;1918;p18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9" name="Google Shape;1919;p18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0" name="Google Shape;1920;p18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1" name="Google Shape;1921;p18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2" name="Google Shape;1922;p18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3" name="Google Shape;1923;p18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24" name="Google Shape;1924;p185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5" name="Google Shape;1925;p185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6" name="Google Shape;1926;p185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1927" name="Google Shape;1927;p18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928" name="Google Shape;1928;p18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9" name="Google Shape;1929;p18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0" name="Google Shape;1930;p18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1" name="Google Shape;1931;p18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18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6_3. Conteudo">
    <p:spTree>
      <p:nvGrpSpPr>
        <p:cNvPr id="1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4" name="Google Shape;1934;p1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35" name="Google Shape;1935;p18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18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18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186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39" name="Google Shape;1939;p186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0" name="Google Shape;1940;p186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1" name="Google Shape;1941;p186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5_3. Conteudo">
    <p:spTree>
      <p:nvGrpSpPr>
        <p:cNvPr id="1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3" name="Google Shape;1943;p1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44" name="Google Shape;1944;p18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5" name="Google Shape;1945;p18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p18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p187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8" name="Google Shape;1948;p187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p18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6_1. Conteudo">
    <p:spTree>
      <p:nvGrpSpPr>
        <p:cNvPr id="1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188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2" name="Google Shape;1952;p188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3" name="Google Shape;1953;p188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4" name="Google Shape;1954;p188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5" name="Google Shape;1955;p188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6" name="Google Shape;1956;p18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7" name="Google Shape;1957;p18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4_3. Conteudo">
    <p:spTree>
      <p:nvGrpSpPr>
        <p:cNvPr id="1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9" name="Google Shape;1959;p1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0" name="Google Shape;1960;p18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18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18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189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4" name="Google Shape;1964;p189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5" name="Google Shape;1965;p18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p18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3_3. Conteudo">
    <p:spTree>
      <p:nvGrpSpPr>
        <p:cNvPr id="1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8" name="Google Shape;1968;p19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9" name="Google Shape;1969;p19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p19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p19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190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73" name="Google Shape;1973;p190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4" name="Google Shape;1974;p190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5" name="Google Shape;1975;p190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190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2_3. Conteudo">
    <p:spTree>
      <p:nvGrpSpPr>
        <p:cNvPr id="1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8" name="Google Shape;1978;p19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79" name="Google Shape;1979;p19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0" name="Google Shape;1980;p19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19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191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3" name="Google Shape;1983;p191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4" name="Google Shape;1984;p191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5" name="Google Shape;1985;p191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6" name="Google Shape;1986;p191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7" name="Google Shape;1987;p191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1_3. Conteudo"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9" name="Google Shape;1989;p1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90" name="Google Shape;1990;p19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1" name="Google Shape;1991;p19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2" name="Google Shape;1992;p19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192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4" name="Google Shape;1994;p192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5" name="Google Shape;1995;p192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6" name="Google Shape;1996;p192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97" name="Google Shape;1997;p19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8" name="Google Shape;1998;p19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0_3. Conteudo">
    <p:spTree>
      <p:nvGrpSpPr>
        <p:cNvPr id="1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0" name="Google Shape;2000;p19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Google Shape;2001;p19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2" name="Google Shape;2002;p19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3" name="Google Shape;2003;p19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4" name="Google Shape;2004;p193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5" name="Google Shape;2005;p193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6" name="Google Shape;2006;p193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7" name="Google Shape;2007;p193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6_Title Only">
    <p:spTree>
      <p:nvGrpSpPr>
        <p:cNvPr id="1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9" name="Google Shape;2009;p1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0" name="Google Shape;2010;p194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1" name="Google Shape;2011;p194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194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3" name="Google Shape;2013;p194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014" name="Google Shape;2014;p194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015" name="Google Shape;2015;p194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016" name="Google Shape;2016;p194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017" name="Google Shape;2017;p194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8" name="Google Shape;2018;p194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9" name="Google Shape;2019;p194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0" name="Google Shape;2020;p194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1" name="Google Shape;2021;p194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2" name="Google Shape;2022;p194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3" name="Google Shape;2023;p194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4" name="Google Shape;2024;p194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025" name="Google Shape;2025;p19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6" name="Google Shape;2026;p19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5_Título e Conteúdo">
    <p:spTree>
      <p:nvGrpSpPr>
        <p:cNvPr id="1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8" name="Google Shape;2028;p1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9" name="Google Shape;2029;p1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0" name="Google Shape;2030;p195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1" name="Google Shape;2031;p19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2" name="Google Shape;2032;p19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2" r:id="rId62"/>
    <p:sldLayoutId id="2147483713" r:id="rId63"/>
    <p:sldLayoutId id="2147483714" r:id="rId64"/>
    <p:sldLayoutId id="2147483715" r:id="rId65"/>
    <p:sldLayoutId id="2147483716" r:id="rId66"/>
    <p:sldLayoutId id="2147483717" r:id="rId67"/>
    <p:sldLayoutId id="2147483718" r:id="rId68"/>
    <p:sldLayoutId id="2147483719" r:id="rId69"/>
    <p:sldLayoutId id="2147483720" r:id="rId70"/>
    <p:sldLayoutId id="2147483740" r:id="rId71"/>
    <p:sldLayoutId id="2147483764" r:id="rId72"/>
    <p:sldLayoutId id="2147483765" r:id="rId73"/>
    <p:sldLayoutId id="2147483766" r:id="rId74"/>
    <p:sldLayoutId id="2147483767" r:id="rId75"/>
    <p:sldLayoutId id="2147483768" r:id="rId76"/>
    <p:sldLayoutId id="2147483769" r:id="rId77"/>
    <p:sldLayoutId id="2147483770" r:id="rId78"/>
    <p:sldLayoutId id="2147483771" r:id="rId79"/>
    <p:sldLayoutId id="2147483772" r:id="rId80"/>
    <p:sldLayoutId id="2147483773" r:id="rId81"/>
    <p:sldLayoutId id="2147483774" r:id="rId82"/>
    <p:sldLayoutId id="2147483775" r:id="rId83"/>
    <p:sldLayoutId id="2147483776" r:id="rId84"/>
    <p:sldLayoutId id="2147483777" r:id="rId85"/>
    <p:sldLayoutId id="2147483778" r:id="rId86"/>
    <p:sldLayoutId id="2147483779" r:id="rId87"/>
    <p:sldLayoutId id="2147483824" r:id="rId88"/>
    <p:sldLayoutId id="2147483825" r:id="rId89"/>
    <p:sldLayoutId id="2147483826" r:id="rId90"/>
    <p:sldLayoutId id="2147483828" r:id="rId91"/>
    <p:sldLayoutId id="2147483829" r:id="rId92"/>
    <p:sldLayoutId id="2147483830" r:id="rId93"/>
    <p:sldLayoutId id="2147483831" r:id="rId94"/>
    <p:sldLayoutId id="2147483832" r:id="rId95"/>
    <p:sldLayoutId id="2147483833" r:id="rId96"/>
    <p:sldLayoutId id="2147483834" r:id="rId97"/>
    <p:sldLayoutId id="2147483835" r:id="rId98"/>
    <p:sldLayoutId id="2147483836" r:id="rId99"/>
    <p:sldLayoutId id="2147483837" r:id="rId100"/>
    <p:sldLayoutId id="2147483838" r:id="rId10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H6OIn2lBaI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academy.com.br/blog/estruturas-de-repeticao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5.xml"/><Relationship Id="rId5" Type="http://schemas.openxmlformats.org/officeDocument/2006/relationships/hyperlink" Target="https://pythonacademy.com.br/blog/loops-com-while-no-python" TargetMode="External"/><Relationship Id="rId4" Type="http://schemas.openxmlformats.org/officeDocument/2006/relationships/hyperlink" Target="https://docs.python.org/pt-br/3/tutorial/controlflow.html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7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3" name="Google Shape;3093;p292"/>
          <p:cNvSpPr txBox="1"/>
          <p:nvPr/>
        </p:nvSpPr>
        <p:spPr>
          <a:xfrm>
            <a:off x="864820" y="3477718"/>
            <a:ext cx="68148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SISANO1C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24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5" name="Google Shape;3095;p292"/>
          <p:cNvSpPr txBox="1"/>
          <p:nvPr/>
        </p:nvSpPr>
        <p:spPr>
          <a:xfrm>
            <a:off x="864820" y="2765984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pt-BR" sz="2200" dirty="0">
                <a:solidFill>
                  <a:srgbClr val="BFBF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Aula 2: Perguntas, tentativas e pontuação</a:t>
            </a:r>
            <a:endParaRPr sz="2200" b="0" i="0" u="none" strike="noStrike" cap="none" dirty="0">
              <a:solidFill>
                <a:srgbClr val="BFBFB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" name="Google Shape;2720;p265">
            <a:extLst>
              <a:ext uri="{FF2B5EF4-FFF2-40B4-BE49-F238E27FC236}">
                <a16:creationId xmlns:a16="http://schemas.microsoft.com/office/drawing/2014/main" id="{9B00F87E-B0B6-F1CC-3C86-5B9968EFD0B5}"/>
              </a:ext>
            </a:extLst>
          </p:cNvPr>
          <p:cNvSpPr txBox="1"/>
          <p:nvPr/>
        </p:nvSpPr>
        <p:spPr>
          <a:xfrm>
            <a:off x="864820" y="2026072"/>
            <a:ext cx="6814800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b="1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lang="pt-BR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 desafios no terminal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2722;p265">
            <a:extLst>
              <a:ext uri="{FF2B5EF4-FFF2-40B4-BE49-F238E27FC236}">
                <a16:creationId xmlns:a16="http://schemas.microsoft.com/office/drawing/2014/main" id="{CB25E053-F1CA-16DA-BD85-6A260613A4B2}"/>
              </a:ext>
            </a:extLst>
          </p:cNvPr>
          <p:cNvSpPr txBox="1"/>
          <p:nvPr/>
        </p:nvSpPr>
        <p:spPr>
          <a:xfrm>
            <a:off x="785407" y="1238583"/>
            <a:ext cx="6973626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0" name="Google Shape;2730;p266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99" r="951"/>
          <a:stretch/>
        </p:blipFill>
        <p:spPr>
          <a:xfrm>
            <a:off x="-5171" y="1336655"/>
            <a:ext cx="12197169" cy="4987270"/>
          </a:xfrm>
          <a:prstGeom prst="rect">
            <a:avLst/>
          </a:prstGeom>
          <a:noFill/>
          <a:ln>
            <a:noFill/>
          </a:ln>
        </p:spPr>
      </p:pic>
      <p:sp>
        <p:nvSpPr>
          <p:cNvPr id="2731" name="Google Shape;2731;p266"/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2" name="Google Shape;2732;p266"/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3" name="Google Shape;2733;p266"/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4" name="Google Shape;2734;p266"/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5" name="Google Shape;2735;p266"/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36" name="Google Shape;2736;p266"/>
          <p:cNvGrpSpPr/>
          <p:nvPr/>
        </p:nvGrpSpPr>
        <p:grpSpPr>
          <a:xfrm>
            <a:off x="587322" y="1657552"/>
            <a:ext cx="10504795" cy="4353604"/>
            <a:chOff x="880938" y="2486202"/>
            <a:chExt cx="15756404" cy="6530079"/>
          </a:xfrm>
        </p:grpSpPr>
        <p:sp>
          <p:nvSpPr>
            <p:cNvPr id="2737" name="Google Shape;2737;p266"/>
            <p:cNvSpPr/>
            <p:nvPr/>
          </p:nvSpPr>
          <p:spPr>
            <a:xfrm>
              <a:off x="880938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8" name="Google Shape;2738;p266"/>
            <p:cNvSpPr/>
            <p:nvPr/>
          </p:nvSpPr>
          <p:spPr>
            <a:xfrm>
              <a:off x="2332293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9" name="Google Shape;2739;p266"/>
            <p:cNvSpPr/>
            <p:nvPr/>
          </p:nvSpPr>
          <p:spPr>
            <a:xfrm>
              <a:off x="3751845" y="8108805"/>
              <a:ext cx="315900" cy="3159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0" name="Google Shape;2740;p266"/>
            <p:cNvSpPr/>
            <p:nvPr/>
          </p:nvSpPr>
          <p:spPr>
            <a:xfrm rot="-3437456">
              <a:off x="5201675" y="5679979"/>
              <a:ext cx="315893" cy="315893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1" name="Google Shape;2741;p266"/>
            <p:cNvSpPr/>
            <p:nvPr/>
          </p:nvSpPr>
          <p:spPr>
            <a:xfrm rot="-911871">
              <a:off x="6624196" y="5419647"/>
              <a:ext cx="315846" cy="3158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2" name="Google Shape;2742;p266"/>
            <p:cNvSpPr/>
            <p:nvPr/>
          </p:nvSpPr>
          <p:spPr>
            <a:xfrm rot="-911871">
              <a:off x="7693784" y="4751289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3" name="Google Shape;2743;p266"/>
            <p:cNvSpPr/>
            <p:nvPr/>
          </p:nvSpPr>
          <p:spPr>
            <a:xfrm rot="8951697">
              <a:off x="10518648" y="248620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4" name="Google Shape;2744;p266"/>
            <p:cNvSpPr/>
            <p:nvPr/>
          </p:nvSpPr>
          <p:spPr>
            <a:xfrm rot="8951697">
              <a:off x="8026147" y="314855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5" name="Google Shape;2745;p266"/>
            <p:cNvSpPr/>
            <p:nvPr/>
          </p:nvSpPr>
          <p:spPr>
            <a:xfrm rot="-4951441">
              <a:off x="11180622" y="6509015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6" name="Google Shape;2746;p266"/>
            <p:cNvSpPr/>
            <p:nvPr/>
          </p:nvSpPr>
          <p:spPr>
            <a:xfrm rot="-4951441">
              <a:off x="11209836" y="5069980"/>
              <a:ext cx="315885" cy="3158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7" name="Google Shape;2747;p266"/>
            <p:cNvSpPr/>
            <p:nvPr/>
          </p:nvSpPr>
          <p:spPr>
            <a:xfrm rot="-2287966">
              <a:off x="13545981" y="8700484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8" name="Google Shape;2748;p266"/>
            <p:cNvSpPr/>
            <p:nvPr/>
          </p:nvSpPr>
          <p:spPr>
            <a:xfrm rot="-2287966">
              <a:off x="14277258" y="7524968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9" name="Google Shape;2749;p266"/>
            <p:cNvSpPr/>
            <p:nvPr/>
          </p:nvSpPr>
          <p:spPr>
            <a:xfrm rot="5403265">
              <a:off x="11261393" y="7971458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0" name="Google Shape;2750;p266"/>
            <p:cNvSpPr/>
            <p:nvPr/>
          </p:nvSpPr>
          <p:spPr>
            <a:xfrm rot="4161668">
              <a:off x="14897321" y="4884642"/>
              <a:ext cx="315766" cy="31576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2" name="Google Shape;2752;p266"/>
            <p:cNvSpPr/>
            <p:nvPr/>
          </p:nvSpPr>
          <p:spPr>
            <a:xfrm rot="-9744530">
              <a:off x="16321681" y="4758619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53" name="Google Shape;2753;p266"/>
          <p:cNvSpPr/>
          <p:nvPr/>
        </p:nvSpPr>
        <p:spPr>
          <a:xfrm>
            <a:off x="10447149" y="3771622"/>
            <a:ext cx="572400" cy="5724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24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4" name="Google Shape;2754;p266"/>
          <p:cNvCxnSpPr>
            <a:cxnSpLocks/>
            <a:stCxn id="2753" idx="2"/>
            <a:endCxn id="6" idx="3"/>
          </p:cNvCxnSpPr>
          <p:nvPr/>
        </p:nvCxnSpPr>
        <p:spPr>
          <a:xfrm flipH="1">
            <a:off x="9513599" y="4057822"/>
            <a:ext cx="933550" cy="27451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55" name="Google Shape;2755;p266"/>
          <p:cNvSpPr txBox="1"/>
          <p:nvPr/>
        </p:nvSpPr>
        <p:spPr>
          <a:xfrm>
            <a:off x="10238542" y="4377015"/>
            <a:ext cx="172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6" name="Google Shape;2756;p2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10301205" y="3618437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2757" name="Google Shape;2757;p266"/>
          <p:cNvSpPr txBox="1"/>
          <p:nvPr/>
        </p:nvSpPr>
        <p:spPr>
          <a:xfrm>
            <a:off x="10238542" y="4654410"/>
            <a:ext cx="1750126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 i="1" dirty="0"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lang="pt-BR" sz="1700" dirty="0">
                <a:latin typeface="Poppins"/>
                <a:ea typeface="Poppins"/>
                <a:cs typeface="Poppins"/>
                <a:sym typeface="Poppins"/>
              </a:rPr>
              <a:t> e desafios no terminal</a:t>
            </a:r>
            <a:endParaRPr sz="17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58" name="Google Shape;2758;p266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9" name="Google Shape;2759;p266"/>
          <p:cNvSpPr txBox="1"/>
          <p:nvPr/>
        </p:nvSpPr>
        <p:spPr>
          <a:xfrm>
            <a:off x="135519" y="1439639"/>
            <a:ext cx="1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  <a:endParaRPr sz="1300"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0" name="Google Shape;2760;p266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1" name="Google Shape;2761;p266"/>
          <p:cNvSpPr txBox="1"/>
          <p:nvPr/>
        </p:nvSpPr>
        <p:spPr>
          <a:xfrm>
            <a:off x="2141191" y="891153"/>
            <a:ext cx="2435700" cy="103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5   Componente 1</a:t>
            </a:r>
            <a:endParaRPr sz="2100" dirty="0">
              <a:solidFill>
                <a:schemeClr val="dk1"/>
              </a:solidFill>
            </a:endParaRPr>
          </a:p>
        </p:txBody>
      </p:sp>
      <p:sp>
        <p:nvSpPr>
          <p:cNvPr id="2" name="Google Shape;2732;p266">
            <a:extLst>
              <a:ext uri="{FF2B5EF4-FFF2-40B4-BE49-F238E27FC236}">
                <a16:creationId xmlns:a16="http://schemas.microsoft.com/office/drawing/2014/main" id="{A9EC2E08-291D-75F2-FB5D-7366B0F13932}"/>
              </a:ext>
            </a:extLst>
          </p:cNvPr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733;p266">
            <a:extLst>
              <a:ext uri="{FF2B5EF4-FFF2-40B4-BE49-F238E27FC236}">
                <a16:creationId xmlns:a16="http://schemas.microsoft.com/office/drawing/2014/main" id="{263B21B0-E991-5CEB-2E50-08A0745A79A7}"/>
              </a:ext>
            </a:extLst>
          </p:cNvPr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734;p266">
            <a:extLst>
              <a:ext uri="{FF2B5EF4-FFF2-40B4-BE49-F238E27FC236}">
                <a16:creationId xmlns:a16="http://schemas.microsoft.com/office/drawing/2014/main" id="{40FB4219-A263-C788-C74A-C26859AFE525}"/>
              </a:ext>
            </a:extLst>
          </p:cNvPr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2735;p266">
            <a:extLst>
              <a:ext uri="{FF2B5EF4-FFF2-40B4-BE49-F238E27FC236}">
                <a16:creationId xmlns:a16="http://schemas.microsoft.com/office/drawing/2014/main" id="{5C60ACF9-7A0B-E6B5-333F-0FF34B738616}"/>
              </a:ext>
            </a:extLst>
          </p:cNvPr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736;p266">
            <a:extLst>
              <a:ext uri="{FF2B5EF4-FFF2-40B4-BE49-F238E27FC236}">
                <a16:creationId xmlns:a16="http://schemas.microsoft.com/office/drawing/2014/main" id="{2CDAD20D-0102-1049-EB24-B3BA6514C21B}"/>
              </a:ext>
            </a:extLst>
          </p:cNvPr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754;p266">
            <a:extLst>
              <a:ext uri="{FF2B5EF4-FFF2-40B4-BE49-F238E27FC236}">
                <a16:creationId xmlns:a16="http://schemas.microsoft.com/office/drawing/2014/main" id="{3DD5CBE1-49AA-BFBC-9A5D-18A9D74354FF}"/>
              </a:ext>
            </a:extLst>
          </p:cNvPr>
          <p:cNvSpPr/>
          <p:nvPr/>
        </p:nvSpPr>
        <p:spPr>
          <a:xfrm>
            <a:off x="5896707" y="534862"/>
            <a:ext cx="536100" cy="5361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21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" name="Google Shape;2755;p266">
            <a:extLst>
              <a:ext uri="{FF2B5EF4-FFF2-40B4-BE49-F238E27FC236}">
                <a16:creationId xmlns:a16="http://schemas.microsoft.com/office/drawing/2014/main" id="{287591EC-4E48-CB72-7774-E1A0DC06D226}"/>
              </a:ext>
            </a:extLst>
          </p:cNvPr>
          <p:cNvCxnSpPr>
            <a:cxnSpLocks/>
            <a:stCxn id="7" idx="4"/>
            <a:endCxn id="3" idx="3"/>
          </p:cNvCxnSpPr>
          <p:nvPr/>
        </p:nvCxnSpPr>
        <p:spPr>
          <a:xfrm>
            <a:off x="6164757" y="1070962"/>
            <a:ext cx="4549" cy="43202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" name="Google Shape;2756;p266">
            <a:extLst>
              <a:ext uri="{FF2B5EF4-FFF2-40B4-BE49-F238E27FC236}">
                <a16:creationId xmlns:a16="http://schemas.microsoft.com/office/drawing/2014/main" id="{B1D1ED8D-6B62-5C88-9984-7E613D8DC8C3}"/>
              </a:ext>
            </a:extLst>
          </p:cNvPr>
          <p:cNvSpPr/>
          <p:nvPr/>
        </p:nvSpPr>
        <p:spPr>
          <a:xfrm>
            <a:off x="5558708" y="3770029"/>
            <a:ext cx="572400" cy="57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19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" name="Google Shape;2757;p266">
            <a:extLst>
              <a:ext uri="{FF2B5EF4-FFF2-40B4-BE49-F238E27FC236}">
                <a16:creationId xmlns:a16="http://schemas.microsoft.com/office/drawing/2014/main" id="{367D23F1-B661-7B72-46AC-083439B307F7}"/>
              </a:ext>
            </a:extLst>
          </p:cNvPr>
          <p:cNvCxnSpPr>
            <a:cxnSpLocks/>
            <a:endCxn id="2741" idx="5"/>
          </p:cNvCxnSpPr>
          <p:nvPr/>
        </p:nvCxnSpPr>
        <p:spPr>
          <a:xfrm flipH="1" flipV="1">
            <a:off x="4613002" y="3770896"/>
            <a:ext cx="945706" cy="3217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" name="Google Shape;2760;p266">
            <a:extLst>
              <a:ext uri="{FF2B5EF4-FFF2-40B4-BE49-F238E27FC236}">
                <a16:creationId xmlns:a16="http://schemas.microsoft.com/office/drawing/2014/main" id="{C4313F1E-71F9-A692-8EE3-E5B3E8E76D1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20306579">
            <a:off x="5565855" y="3613010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2762;p266">
            <a:extLst>
              <a:ext uri="{FF2B5EF4-FFF2-40B4-BE49-F238E27FC236}">
                <a16:creationId xmlns:a16="http://schemas.microsoft.com/office/drawing/2014/main" id="{6CD12BF9-99D6-52A6-2429-2174DAA63599}"/>
              </a:ext>
            </a:extLst>
          </p:cNvPr>
          <p:cNvSpPr txBox="1"/>
          <p:nvPr/>
        </p:nvSpPr>
        <p:spPr>
          <a:xfrm>
            <a:off x="4020832" y="4217738"/>
            <a:ext cx="1868148" cy="84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Manipulação de </a:t>
            </a:r>
            <a:r>
              <a:rPr lang="pt-BR" sz="17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strings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Google Shape;2767;p266">
            <a:extLst>
              <a:ext uri="{FF2B5EF4-FFF2-40B4-BE49-F238E27FC236}">
                <a16:creationId xmlns:a16="http://schemas.microsoft.com/office/drawing/2014/main" id="{DB3DAE2E-FD40-650D-E6B1-FB1C849156FD}"/>
              </a:ext>
            </a:extLst>
          </p:cNvPr>
          <p:cNvSpPr/>
          <p:nvPr/>
        </p:nvSpPr>
        <p:spPr>
          <a:xfrm>
            <a:off x="6588573" y="5837985"/>
            <a:ext cx="572400" cy="57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23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2768;p266">
            <a:extLst>
              <a:ext uri="{FF2B5EF4-FFF2-40B4-BE49-F238E27FC236}">
                <a16:creationId xmlns:a16="http://schemas.microsoft.com/office/drawing/2014/main" id="{379FE77C-D483-205E-198A-6DC2C93E773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6470591" y="5670441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2769;p266">
            <a:extLst>
              <a:ext uri="{FF2B5EF4-FFF2-40B4-BE49-F238E27FC236}">
                <a16:creationId xmlns:a16="http://schemas.microsoft.com/office/drawing/2014/main" id="{3AA10DFA-5754-DF66-B2E0-A3230D8F1AF7}"/>
              </a:ext>
            </a:extLst>
          </p:cNvPr>
          <p:cNvSpPr txBox="1"/>
          <p:nvPr/>
        </p:nvSpPr>
        <p:spPr>
          <a:xfrm>
            <a:off x="4601560" y="5886497"/>
            <a:ext cx="1765515" cy="58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Médias, faixas e classificação</a:t>
            </a:r>
            <a:endParaRPr sz="1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" name="Google Shape;2770;p266">
            <a:extLst>
              <a:ext uri="{FF2B5EF4-FFF2-40B4-BE49-F238E27FC236}">
                <a16:creationId xmlns:a16="http://schemas.microsoft.com/office/drawing/2014/main" id="{09B09423-47FD-55A1-7ED6-81F1E8464E7D}"/>
              </a:ext>
            </a:extLst>
          </p:cNvPr>
          <p:cNvSpPr/>
          <p:nvPr/>
        </p:nvSpPr>
        <p:spPr>
          <a:xfrm>
            <a:off x="8235988" y="2388927"/>
            <a:ext cx="572400" cy="57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22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771;p266">
            <a:extLst>
              <a:ext uri="{FF2B5EF4-FFF2-40B4-BE49-F238E27FC236}">
                <a16:creationId xmlns:a16="http://schemas.microsoft.com/office/drawing/2014/main" id="{ADB7B5A0-7BEB-48C0-2510-3C50E2FC479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8118006" y="2221383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772;p266">
            <a:extLst>
              <a:ext uri="{FF2B5EF4-FFF2-40B4-BE49-F238E27FC236}">
                <a16:creationId xmlns:a16="http://schemas.microsoft.com/office/drawing/2014/main" id="{D48A4E89-03B2-0E4A-BB51-3A6D73E1E53E}"/>
              </a:ext>
            </a:extLst>
          </p:cNvPr>
          <p:cNvSpPr txBox="1"/>
          <p:nvPr/>
        </p:nvSpPr>
        <p:spPr>
          <a:xfrm>
            <a:off x="8902070" y="2354240"/>
            <a:ext cx="2541686" cy="58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Agenda e cadastros em memória</a:t>
            </a:r>
            <a:endParaRPr sz="1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2" name="Google Shape;2773;p266">
            <a:extLst>
              <a:ext uri="{FF2B5EF4-FFF2-40B4-BE49-F238E27FC236}">
                <a16:creationId xmlns:a16="http://schemas.microsoft.com/office/drawing/2014/main" id="{69F0E650-AE39-61CF-06CC-6317530B4CDC}"/>
              </a:ext>
            </a:extLst>
          </p:cNvPr>
          <p:cNvCxnSpPr>
            <a:cxnSpLocks/>
            <a:stCxn id="5" idx="1"/>
            <a:endCxn id="16" idx="6"/>
          </p:cNvCxnSpPr>
          <p:nvPr/>
        </p:nvCxnSpPr>
        <p:spPr>
          <a:xfrm flipH="1">
            <a:off x="7160973" y="5998828"/>
            <a:ext cx="968680" cy="12535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773;p266">
            <a:extLst>
              <a:ext uri="{FF2B5EF4-FFF2-40B4-BE49-F238E27FC236}">
                <a16:creationId xmlns:a16="http://schemas.microsoft.com/office/drawing/2014/main" id="{DFC60721-B88D-99F1-4A45-CD762AA9610B}"/>
              </a:ext>
            </a:extLst>
          </p:cNvPr>
          <p:cNvCxnSpPr>
            <a:cxnSpLocks/>
            <a:stCxn id="19" idx="3"/>
            <a:endCxn id="2746" idx="5"/>
          </p:cNvCxnSpPr>
          <p:nvPr/>
        </p:nvCxnSpPr>
        <p:spPr>
          <a:xfrm flipH="1">
            <a:off x="7662413" y="2877501"/>
            <a:ext cx="657401" cy="54381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756;p266">
            <a:extLst>
              <a:ext uri="{FF2B5EF4-FFF2-40B4-BE49-F238E27FC236}">
                <a16:creationId xmlns:a16="http://schemas.microsoft.com/office/drawing/2014/main" id="{7DDE1BE8-9D04-1174-F271-3F430BB31982}"/>
              </a:ext>
            </a:extLst>
          </p:cNvPr>
          <p:cNvSpPr/>
          <p:nvPr/>
        </p:nvSpPr>
        <p:spPr>
          <a:xfrm>
            <a:off x="2321095" y="3542899"/>
            <a:ext cx="572400" cy="57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757;p266">
            <a:extLst>
              <a:ext uri="{FF2B5EF4-FFF2-40B4-BE49-F238E27FC236}">
                <a16:creationId xmlns:a16="http://schemas.microsoft.com/office/drawing/2014/main" id="{11C0DCF4-8039-431E-2231-8AE729921437}"/>
              </a:ext>
            </a:extLst>
          </p:cNvPr>
          <p:cNvCxnSpPr>
            <a:cxnSpLocks/>
            <a:stCxn id="28" idx="4"/>
            <a:endCxn id="2739" idx="0"/>
          </p:cNvCxnSpPr>
          <p:nvPr/>
        </p:nvCxnSpPr>
        <p:spPr>
          <a:xfrm flipH="1">
            <a:off x="2606662" y="4115299"/>
            <a:ext cx="633" cy="129084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0" name="Google Shape;2760;p266">
            <a:extLst>
              <a:ext uri="{FF2B5EF4-FFF2-40B4-BE49-F238E27FC236}">
                <a16:creationId xmlns:a16="http://schemas.microsoft.com/office/drawing/2014/main" id="{70B2B0FB-3C55-0F9A-4F81-C6A50F82359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2203113" y="3375355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2762;p266">
            <a:extLst>
              <a:ext uri="{FF2B5EF4-FFF2-40B4-BE49-F238E27FC236}">
                <a16:creationId xmlns:a16="http://schemas.microsoft.com/office/drawing/2014/main" id="{A27572CF-C6C8-EB47-A54C-DF7316568976}"/>
              </a:ext>
            </a:extLst>
          </p:cNvPr>
          <p:cNvSpPr txBox="1"/>
          <p:nvPr/>
        </p:nvSpPr>
        <p:spPr>
          <a:xfrm>
            <a:off x="281642" y="3424612"/>
            <a:ext cx="1868148" cy="84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Documentação, testes unitários e depuração</a:t>
            </a:r>
            <a:endParaRPr sz="1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" name="Google Shape;2771;p266">
            <a:extLst>
              <a:ext uri="{FF2B5EF4-FFF2-40B4-BE49-F238E27FC236}">
                <a16:creationId xmlns:a16="http://schemas.microsoft.com/office/drawing/2014/main" id="{5331BDC3-6F08-4DAF-A13F-63ECD2471F9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5773376" y="383053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2762;p266">
            <a:extLst>
              <a:ext uri="{FF2B5EF4-FFF2-40B4-BE49-F238E27FC236}">
                <a16:creationId xmlns:a16="http://schemas.microsoft.com/office/drawing/2014/main" id="{95064548-B3CF-2FD7-5655-732D8B575323}"/>
              </a:ext>
            </a:extLst>
          </p:cNvPr>
          <p:cNvSpPr txBox="1"/>
          <p:nvPr/>
        </p:nvSpPr>
        <p:spPr>
          <a:xfrm>
            <a:off x="6508097" y="504654"/>
            <a:ext cx="2338863" cy="58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Programando com menu no terminal</a:t>
            </a:r>
          </a:p>
        </p:txBody>
      </p:sp>
    </p:spTree>
    <p:extLst>
      <p:ext uri="{BB962C8B-B14F-4D97-AF65-F5344CB8AC3E}">
        <p14:creationId xmlns:p14="http://schemas.microsoft.com/office/powerpoint/2010/main" val="12307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8" name="Google Shape;3138;p294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57"/>
          <a:stretch/>
        </p:blipFill>
        <p:spPr>
          <a:xfrm rot="-573653">
            <a:off x="5678584" y="2638763"/>
            <a:ext cx="8603296" cy="4647677"/>
          </a:xfrm>
          <a:prstGeom prst="rect">
            <a:avLst/>
          </a:prstGeom>
          <a:noFill/>
          <a:ln>
            <a:noFill/>
          </a:ln>
        </p:spPr>
      </p:pic>
      <p:sp>
        <p:nvSpPr>
          <p:cNvPr id="3139" name="Google Shape;3139;p294"/>
          <p:cNvSpPr/>
          <p:nvPr/>
        </p:nvSpPr>
        <p:spPr>
          <a:xfrm rot="-3438164">
            <a:off x="10617304" y="5326466"/>
            <a:ext cx="408182" cy="408182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0" name="Google Shape;3140;p294"/>
          <p:cNvSpPr/>
          <p:nvPr/>
        </p:nvSpPr>
        <p:spPr>
          <a:xfrm>
            <a:off x="9084502" y="3402930"/>
            <a:ext cx="1317300" cy="13173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24</a:t>
            </a:r>
            <a:endParaRPr sz="42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1" name="Google Shape;3141;p294"/>
          <p:cNvCxnSpPr/>
          <p:nvPr/>
        </p:nvCxnSpPr>
        <p:spPr>
          <a:xfrm>
            <a:off x="10016903" y="4528943"/>
            <a:ext cx="634200" cy="900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42" name="Google Shape;3142;p294"/>
          <p:cNvSpPr txBox="1"/>
          <p:nvPr/>
        </p:nvSpPr>
        <p:spPr>
          <a:xfrm>
            <a:off x="3329763" y="5227634"/>
            <a:ext cx="4487700" cy="430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</a:t>
            </a:r>
            <a:r>
              <a:rPr lang="pt-BR" sz="1800" dirty="0">
                <a:latin typeface="Poppins"/>
                <a:ea typeface="Poppins"/>
                <a:cs typeface="Poppins"/>
                <a:sym typeface="Poppins"/>
              </a:rPr>
              <a:t>SISANO1C1B4S24A2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8" name="Google Shape;3148;p294"/>
          <p:cNvSpPr txBox="1"/>
          <p:nvPr/>
        </p:nvSpPr>
        <p:spPr>
          <a:xfrm>
            <a:off x="3332140" y="4251405"/>
            <a:ext cx="4350705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Aula 2: Perguntas, tentativas e pontuação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774;p267">
            <a:extLst>
              <a:ext uri="{FF2B5EF4-FFF2-40B4-BE49-F238E27FC236}">
                <a16:creationId xmlns:a16="http://schemas.microsoft.com/office/drawing/2014/main" id="{7E472940-557A-C10D-5A59-2243EF54431D}"/>
              </a:ext>
            </a:extLst>
          </p:cNvPr>
          <p:cNvSpPr txBox="1"/>
          <p:nvPr/>
        </p:nvSpPr>
        <p:spPr>
          <a:xfrm>
            <a:off x="3331829" y="3203825"/>
            <a:ext cx="4351016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i="1" dirty="0"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 e desafios no terminal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2775;p267">
            <a:extLst>
              <a:ext uri="{FF2B5EF4-FFF2-40B4-BE49-F238E27FC236}">
                <a16:creationId xmlns:a16="http://schemas.microsoft.com/office/drawing/2014/main" id="{AF34C974-F77D-1548-C3FB-C0FBFEC4EED0}"/>
              </a:ext>
            </a:extLst>
          </p:cNvPr>
          <p:cNvSpPr txBox="1"/>
          <p:nvPr/>
        </p:nvSpPr>
        <p:spPr>
          <a:xfrm>
            <a:off x="3331829" y="2792959"/>
            <a:ext cx="2582980" cy="430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2758;p266">
            <a:extLst>
              <a:ext uri="{FF2B5EF4-FFF2-40B4-BE49-F238E27FC236}">
                <a16:creationId xmlns:a16="http://schemas.microsoft.com/office/drawing/2014/main" id="{A6C9E335-5629-25FD-BC1E-B80771075630}"/>
              </a:ext>
            </a:extLst>
          </p:cNvPr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759;p266">
            <a:extLst>
              <a:ext uri="{FF2B5EF4-FFF2-40B4-BE49-F238E27FC236}">
                <a16:creationId xmlns:a16="http://schemas.microsoft.com/office/drawing/2014/main" id="{06348936-4227-1E50-160C-C47E6BE0BEF2}"/>
              </a:ext>
            </a:extLst>
          </p:cNvPr>
          <p:cNvSpPr txBox="1"/>
          <p:nvPr/>
        </p:nvSpPr>
        <p:spPr>
          <a:xfrm>
            <a:off x="135519" y="1439639"/>
            <a:ext cx="1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  <a:endParaRPr sz="1300"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Google Shape;2760;p266">
            <a:extLst>
              <a:ext uri="{FF2B5EF4-FFF2-40B4-BE49-F238E27FC236}">
                <a16:creationId xmlns:a16="http://schemas.microsoft.com/office/drawing/2014/main" id="{8C64D8A0-B003-C8EA-8C2C-4CA9285BDDEC}"/>
              </a:ext>
            </a:extLst>
          </p:cNvPr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2761;p266">
            <a:extLst>
              <a:ext uri="{FF2B5EF4-FFF2-40B4-BE49-F238E27FC236}">
                <a16:creationId xmlns:a16="http://schemas.microsoft.com/office/drawing/2014/main" id="{C2F8DF2C-3A9B-108F-E684-64275138481C}"/>
              </a:ext>
            </a:extLst>
          </p:cNvPr>
          <p:cNvSpPr txBox="1"/>
          <p:nvPr/>
        </p:nvSpPr>
        <p:spPr>
          <a:xfrm>
            <a:off x="2141191" y="891153"/>
            <a:ext cx="2435700" cy="103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5   Componente 1</a:t>
            </a:r>
            <a:endParaRPr sz="2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8" name="Google Shape;3158;p29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3847042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dirty="0"/>
              <a:t>Analisar como regras, tentativas e estados podem ser representados de forma lógica em programas interativos simples.</a:t>
            </a:r>
            <a:endParaRPr dirty="0"/>
          </a:p>
        </p:txBody>
      </p:sp>
      <p:sp>
        <p:nvSpPr>
          <p:cNvPr id="3159" name="Google Shape;3159;p295"/>
          <p:cNvSpPr txBox="1">
            <a:spLocks noGrp="1"/>
          </p:cNvSpPr>
          <p:nvPr>
            <p:ph type="body" idx="2"/>
          </p:nvPr>
        </p:nvSpPr>
        <p:spPr>
          <a:xfrm>
            <a:off x="7467374" y="1355465"/>
            <a:ext cx="4476975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Aplicar repetição, condicionais, funções e vetores simples na construção de programas interativos em terminal.</a:t>
            </a:r>
            <a:endParaRPr dirty="0"/>
          </a:p>
        </p:txBody>
      </p:sp>
      <p:sp>
        <p:nvSpPr>
          <p:cNvPr id="3160" name="Google Shape;3160;p295"/>
          <p:cNvSpPr txBox="1">
            <a:spLocks noGrp="1"/>
          </p:cNvSpPr>
          <p:nvPr>
            <p:ph type="body" idx="3"/>
          </p:nvPr>
        </p:nvSpPr>
        <p:spPr>
          <a:xfrm>
            <a:off x="7467374" y="3256961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Praticar o autocontrole ao revisar regras do jogo ou simulador, mantendo atenção ao fluxo e à coerência das interações.</a:t>
            </a:r>
            <a:endParaRPr dirty="0"/>
          </a:p>
        </p:txBody>
      </p:sp>
      <p:sp>
        <p:nvSpPr>
          <p:cNvPr id="3161" name="Google Shape;3161;p295"/>
          <p:cNvSpPr txBox="1">
            <a:spLocks noGrp="1"/>
          </p:cNvSpPr>
          <p:nvPr>
            <p:ph type="body" idx="4"/>
          </p:nvPr>
        </p:nvSpPr>
        <p:spPr>
          <a:xfrm>
            <a:off x="1467908" y="3256961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>
                <a:solidFill>
                  <a:schemeClr val="dk1"/>
                </a:solidFill>
              </a:rPr>
              <a:t>Roteiro de atividade prática.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 audiovisual para exibição de vídeos e imagens.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Caneta e caderno para anotações.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Computador com internet.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7" name="Google Shape;3167;p296"/>
          <p:cNvSpPr txBox="1">
            <a:spLocks noGrp="1"/>
          </p:cNvSpPr>
          <p:nvPr>
            <p:ph type="body" idx="1"/>
          </p:nvPr>
        </p:nvSpPr>
        <p:spPr>
          <a:xfrm>
            <a:off x="3169944" y="466608"/>
            <a:ext cx="9022056" cy="612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Quando o número de repetições não é fixo</a:t>
            </a:r>
            <a:endParaRPr sz="3200" dirty="0"/>
          </a:p>
        </p:txBody>
      </p:sp>
      <p:sp>
        <p:nvSpPr>
          <p:cNvPr id="3168" name="Google Shape;3168;p296"/>
          <p:cNvSpPr txBox="1">
            <a:spLocks noGrp="1"/>
          </p:cNvSpPr>
          <p:nvPr>
            <p:ph type="body" idx="2"/>
          </p:nvPr>
        </p:nvSpPr>
        <p:spPr>
          <a:xfrm>
            <a:off x="3219440" y="1125792"/>
            <a:ext cx="7656204" cy="273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Aprendemos que um programa interativo segue 4 etapas:</a:t>
            </a:r>
            <a:b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Perguntar</a:t>
            </a:r>
          </a:p>
          <a:p>
            <a:pPr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Receber</a:t>
            </a:r>
          </a:p>
          <a:p>
            <a:pPr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Verificar </a:t>
            </a:r>
          </a:p>
          <a:p>
            <a:pPr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Responder 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Também vimos que um </a:t>
            </a:r>
            <a:r>
              <a:rPr lang="pt-BR" sz="20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repete essas etapas para cada pergunta. Usamos o </a:t>
            </a:r>
            <a:r>
              <a:rPr lang="pt-BR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quando sabemos exatamente quantas vezes o código vai repetir.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D523FCD-4F30-8B28-BDFB-2EB4EC8BF73F}"/>
              </a:ext>
            </a:extLst>
          </p:cNvPr>
          <p:cNvSpPr txBox="1"/>
          <p:nvPr/>
        </p:nvSpPr>
        <p:spPr>
          <a:xfrm>
            <a:off x="3404885" y="5109958"/>
            <a:ext cx="811623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No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kumimoji="0" lang="pt-BR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da feira, o jogador pode acertar na primeira tentativa ou só na terceira. </a:t>
            </a: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Nesse caso, o for com número fixo resolve sozinho? Que estrutura usamos quando a repetição depende de uma condição (por exemplo, “enquanto ainda houver tentativas”)?</a:t>
            </a:r>
          </a:p>
        </p:txBody>
      </p:sp>
      <p:sp>
        <p:nvSpPr>
          <p:cNvPr id="4" name="Triângulo 27">
            <a:extLst>
              <a:ext uri="{FF2B5EF4-FFF2-40B4-BE49-F238E27FC236}">
                <a16:creationId xmlns:a16="http://schemas.microsoft.com/office/drawing/2014/main" id="{4D3D733B-89FE-0B53-10F7-EF2EBC388E4E}"/>
              </a:ext>
            </a:extLst>
          </p:cNvPr>
          <p:cNvSpPr/>
          <p:nvPr/>
        </p:nvSpPr>
        <p:spPr>
          <a:xfrm rot="5400000">
            <a:off x="3257074" y="5212328"/>
            <a:ext cx="195903" cy="156870"/>
          </a:xfrm>
          <a:prstGeom prst="triangl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14A0030-2B14-1ED3-2F8B-3F214B451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460" y="4265960"/>
            <a:ext cx="3496733" cy="72813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250844D-75DA-EA88-3E0D-9B00C652F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6031" y="4346379"/>
            <a:ext cx="635000" cy="601133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3704465E-4596-B817-9516-A7E9C353ABB7}"/>
              </a:ext>
            </a:extLst>
          </p:cNvPr>
          <p:cNvSpPr txBox="1"/>
          <p:nvPr/>
        </p:nvSpPr>
        <p:spPr>
          <a:xfrm>
            <a:off x="9321590" y="4492088"/>
            <a:ext cx="2522013" cy="20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no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VIREM E CONVERSEM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57;p62">
            <a:extLst>
              <a:ext uri="{FF2B5EF4-FFF2-40B4-BE49-F238E27FC236}">
                <a16:creationId xmlns:a16="http://schemas.microsoft.com/office/drawing/2014/main" id="{99F34BA5-CABA-4108-E621-7D6FEC72453A}"/>
              </a:ext>
            </a:extLst>
          </p:cNvPr>
          <p:cNvSpPr/>
          <p:nvPr/>
        </p:nvSpPr>
        <p:spPr>
          <a:xfrm>
            <a:off x="3713000" y="2116406"/>
            <a:ext cx="7812249" cy="1874569"/>
          </a:xfrm>
          <a:prstGeom prst="rect">
            <a:avLst/>
          </a:prstGeom>
          <a:solidFill>
            <a:srgbClr val="263B4B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/>
            <a:endParaRPr dirty="0">
              <a:solidFill>
                <a:schemeClr val="lt1"/>
              </a:solidFill>
            </a:endParaRPr>
          </a:p>
        </p:txBody>
      </p:sp>
      <p:sp>
        <p:nvSpPr>
          <p:cNvPr id="5" name="Google Shape;858;p62">
            <a:extLst>
              <a:ext uri="{FF2B5EF4-FFF2-40B4-BE49-F238E27FC236}">
                <a16:creationId xmlns:a16="http://schemas.microsoft.com/office/drawing/2014/main" id="{1186035A-AE62-53E3-E5B3-2431587DE926}"/>
              </a:ext>
            </a:extLst>
          </p:cNvPr>
          <p:cNvSpPr txBox="1"/>
          <p:nvPr/>
        </p:nvSpPr>
        <p:spPr>
          <a:xfrm>
            <a:off x="5013859" y="2190567"/>
            <a:ext cx="1890015" cy="405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lnSpc>
                <a:spcPct val="107000"/>
              </a:lnSpc>
              <a:buSzPts val="2700"/>
            </a:pPr>
            <a:r>
              <a:rPr lang="en-US" sz="2000" b="1" dirty="0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Tome nota</a:t>
            </a:r>
            <a:endParaRPr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07000"/>
              </a:lnSpc>
              <a:spcBef>
                <a:spcPts val="715"/>
              </a:spcBef>
              <a:buSzPts val="2700"/>
            </a:pPr>
            <a:endParaRPr sz="2000" dirty="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7" name="Google Shape;859;p62">
            <a:extLst>
              <a:ext uri="{FF2B5EF4-FFF2-40B4-BE49-F238E27FC236}">
                <a16:creationId xmlns:a16="http://schemas.microsoft.com/office/drawing/2014/main" id="{F5DF049A-7320-77F7-E6EB-3B625ECA5D18}"/>
              </a:ext>
            </a:extLst>
          </p:cNvPr>
          <p:cNvSpPr/>
          <p:nvPr/>
        </p:nvSpPr>
        <p:spPr>
          <a:xfrm>
            <a:off x="3878266" y="2063119"/>
            <a:ext cx="868725" cy="864592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6101E2C5-21E4-237B-644C-CB3A84626E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9189" y="2239057"/>
            <a:ext cx="548441" cy="503209"/>
          </a:xfrm>
          <a:prstGeom prst="rect">
            <a:avLst/>
          </a:prstGeom>
        </p:spPr>
      </p:pic>
      <p:sp>
        <p:nvSpPr>
          <p:cNvPr id="3178" name="Google Shape;3178;p297"/>
          <p:cNvSpPr txBox="1"/>
          <p:nvPr/>
        </p:nvSpPr>
        <p:spPr>
          <a:xfrm>
            <a:off x="5013859" y="2670375"/>
            <a:ext cx="6273266" cy="117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 </a:t>
            </a:r>
            <a:r>
              <a:rPr lang="pt-BR" sz="1800" b="1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for</a:t>
            </a:r>
            <a:r>
              <a:rPr lang="pt-BR" sz="1800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é usado quando sabemos quantas vezes repetir. O </a:t>
            </a:r>
            <a:r>
              <a:rPr lang="pt-BR" sz="1800" b="1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while</a:t>
            </a:r>
            <a:r>
              <a:rPr lang="pt-BR" sz="1800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é usado quando a repetição depende de uma condição que pode mudar durante o programa, como o número de tentativas restantes.</a:t>
            </a:r>
            <a:endParaRPr sz="1800" dirty="0">
              <a:solidFill>
                <a:srgbClr val="FFFFFF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3" name="Google Shape;3183;p298"/>
          <p:cNvSpPr txBox="1"/>
          <p:nvPr/>
        </p:nvSpPr>
        <p:spPr>
          <a:xfrm>
            <a:off x="3238725" y="2949400"/>
            <a:ext cx="3466800" cy="1038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412750" lvl="0" indent="-285750" algn="l" rtl="0"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ct val="157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Folha da atividade ou caderno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2750" lvl="0" indent="-285750" algn="l" rtl="0"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ct val="157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Caneta ou lápis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2750" lvl="0" indent="-285750" algn="l" rtl="0"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ct val="157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Computador com Python instalado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84" name="Google Shape;3184;p298"/>
          <p:cNvSpPr txBox="1"/>
          <p:nvPr/>
        </p:nvSpPr>
        <p:spPr>
          <a:xfrm>
            <a:off x="7370799" y="2872050"/>
            <a:ext cx="3832524" cy="27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200" tIns="30450" rIns="60950" bIns="30450" anchor="t" anchorCtr="0">
            <a:noAutofit/>
          </a:bodyPr>
          <a:lstStyle/>
          <a:p>
            <a:pPr marL="469900" lvl="0" indent="-342900" algn="l" rtl="0">
              <a:spcAft>
                <a:spcPts val="30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Abram o roteiro de atividade prática e sigam o passo a passo.</a:t>
            </a:r>
          </a:p>
          <a:p>
            <a:pPr marL="469900" lvl="0" indent="-342900" algn="l" rtl="0">
              <a:spcAft>
                <a:spcPts val="30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Criem as variáveis de estado (tentativas e pontos) antes do loop.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9900" lvl="0" indent="-342900" algn="l" rtl="0">
              <a:spcAft>
                <a:spcPts val="30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Escrevam o while com a condição de tentativas.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9900" lvl="0" indent="-342900" algn="l" rtl="0">
              <a:spcAft>
                <a:spcPts val="30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Dentro do loop, peçam a resposta com input e verifiquem com if.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9900" lvl="0" indent="-342900" algn="l" rtl="0">
              <a:spcAft>
                <a:spcPts val="30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Atualizem tentativas e pontos conforme o resultado.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9900" lvl="0" indent="-342900" algn="l" rtl="0">
              <a:spcAft>
                <a:spcPts val="30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Depois do loop, mostrem a pontuação final na tela.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86" name="Google Shape;3186;p298"/>
          <p:cNvSpPr txBox="1">
            <a:spLocks noGrp="1"/>
          </p:cNvSpPr>
          <p:nvPr>
            <p:ph type="body" idx="1"/>
          </p:nvPr>
        </p:nvSpPr>
        <p:spPr>
          <a:xfrm>
            <a:off x="2857923" y="635968"/>
            <a:ext cx="83454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3200" b="1" i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 com tentativas limitadas</a:t>
            </a: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87" name="Google Shape;3187;p298"/>
          <p:cNvSpPr txBox="1">
            <a:spLocks noGrp="1"/>
          </p:cNvSpPr>
          <p:nvPr>
            <p:ph type="body" idx="3"/>
          </p:nvPr>
        </p:nvSpPr>
        <p:spPr>
          <a:xfrm>
            <a:off x="885255" y="4110191"/>
            <a:ext cx="1585800" cy="203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100" b="1" dirty="0">
                <a:latin typeface="Poppins"/>
                <a:ea typeface="Poppins"/>
                <a:cs typeface="Poppins"/>
                <a:sym typeface="Poppins"/>
              </a:rPr>
              <a:t>40 minutos</a:t>
            </a:r>
            <a:endParaRPr sz="1100" b="1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91" name="Google Shape;3191;p298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019" y="4056434"/>
            <a:ext cx="305151" cy="3051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490;p35">
            <a:extLst>
              <a:ext uri="{FF2B5EF4-FFF2-40B4-BE49-F238E27FC236}">
                <a16:creationId xmlns:a16="http://schemas.microsoft.com/office/drawing/2014/main" id="{5A190791-687E-BCDE-3F19-1EEF8E278786}"/>
              </a:ext>
            </a:extLst>
          </p:cNvPr>
          <p:cNvGrpSpPr/>
          <p:nvPr/>
        </p:nvGrpSpPr>
        <p:grpSpPr>
          <a:xfrm>
            <a:off x="508019" y="4568180"/>
            <a:ext cx="304639" cy="301465"/>
            <a:chOff x="6941066" y="2777637"/>
            <a:chExt cx="456958" cy="452197"/>
          </a:xfrm>
          <a:noFill/>
        </p:grpSpPr>
        <p:grpSp>
          <p:nvGrpSpPr>
            <p:cNvPr id="3" name="Google Shape;491;p35">
              <a:extLst>
                <a:ext uri="{FF2B5EF4-FFF2-40B4-BE49-F238E27FC236}">
                  <a16:creationId xmlns:a16="http://schemas.microsoft.com/office/drawing/2014/main" id="{290FFC8B-CCC1-4626-380C-4D4C4B3188A2}"/>
                </a:ext>
              </a:extLst>
            </p:cNvPr>
            <p:cNvGrpSpPr/>
            <p:nvPr/>
          </p:nvGrpSpPr>
          <p:grpSpPr>
            <a:xfrm>
              <a:off x="7226665" y="3067995"/>
              <a:ext cx="171359" cy="161839"/>
              <a:chOff x="7226665" y="3067995"/>
              <a:chExt cx="171359" cy="161839"/>
            </a:xfrm>
            <a:grpFill/>
          </p:grpSpPr>
          <p:sp>
            <p:nvSpPr>
              <p:cNvPr id="14" name="Google Shape;492;p35">
                <a:extLst>
                  <a:ext uri="{FF2B5EF4-FFF2-40B4-BE49-F238E27FC236}">
                    <a16:creationId xmlns:a16="http://schemas.microsoft.com/office/drawing/2014/main" id="{2C2FE47A-542B-1214-8A55-686875929089}"/>
                  </a:ext>
                </a:extLst>
              </p:cNvPr>
              <p:cNvSpPr/>
              <p:nvPr/>
            </p:nvSpPr>
            <p:spPr>
              <a:xfrm>
                <a:off x="7269504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493;p35">
                <a:extLst>
                  <a:ext uri="{FF2B5EF4-FFF2-40B4-BE49-F238E27FC236}">
                    <a16:creationId xmlns:a16="http://schemas.microsoft.com/office/drawing/2014/main" id="{1CE92DA6-667E-0861-C602-405770A22E67}"/>
                  </a:ext>
                </a:extLst>
              </p:cNvPr>
              <p:cNvSpPr/>
              <p:nvPr/>
            </p:nvSpPr>
            <p:spPr>
              <a:xfrm>
                <a:off x="7226665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" name="Google Shape;494;p35">
              <a:extLst>
                <a:ext uri="{FF2B5EF4-FFF2-40B4-BE49-F238E27FC236}">
                  <a16:creationId xmlns:a16="http://schemas.microsoft.com/office/drawing/2014/main" id="{0F30E8CA-8322-E309-6121-8BFDF8EBA80B}"/>
                </a:ext>
              </a:extLst>
            </p:cNvPr>
            <p:cNvGrpSpPr/>
            <p:nvPr/>
          </p:nvGrpSpPr>
          <p:grpSpPr>
            <a:xfrm>
              <a:off x="6941066" y="3067995"/>
              <a:ext cx="171359" cy="161839"/>
              <a:chOff x="6941066" y="3067995"/>
              <a:chExt cx="171359" cy="161839"/>
            </a:xfrm>
            <a:grpFill/>
          </p:grpSpPr>
          <p:sp>
            <p:nvSpPr>
              <p:cNvPr id="12" name="Google Shape;495;p35">
                <a:extLst>
                  <a:ext uri="{FF2B5EF4-FFF2-40B4-BE49-F238E27FC236}">
                    <a16:creationId xmlns:a16="http://schemas.microsoft.com/office/drawing/2014/main" id="{497C459F-1564-C119-EE5D-C310343AA70C}"/>
                  </a:ext>
                </a:extLst>
              </p:cNvPr>
              <p:cNvSpPr/>
              <p:nvPr/>
            </p:nvSpPr>
            <p:spPr>
              <a:xfrm>
                <a:off x="6983906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496;p35">
                <a:extLst>
                  <a:ext uri="{FF2B5EF4-FFF2-40B4-BE49-F238E27FC236}">
                    <a16:creationId xmlns:a16="http://schemas.microsoft.com/office/drawing/2014/main" id="{F8FC0E2C-E072-AC56-AFB6-0371046C3C15}"/>
                  </a:ext>
                </a:extLst>
              </p:cNvPr>
              <p:cNvSpPr/>
              <p:nvPr/>
            </p:nvSpPr>
            <p:spPr>
              <a:xfrm>
                <a:off x="6941066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" name="Google Shape;497;p35">
              <a:extLst>
                <a:ext uri="{FF2B5EF4-FFF2-40B4-BE49-F238E27FC236}">
                  <a16:creationId xmlns:a16="http://schemas.microsoft.com/office/drawing/2014/main" id="{B1EC1D76-F063-9BC8-A477-4AB72FCA4D6A}"/>
                </a:ext>
              </a:extLst>
            </p:cNvPr>
            <p:cNvGrpSpPr/>
            <p:nvPr/>
          </p:nvGrpSpPr>
          <p:grpSpPr>
            <a:xfrm>
              <a:off x="7103153" y="2977080"/>
              <a:ext cx="132861" cy="96151"/>
              <a:chOff x="7103153" y="2977080"/>
              <a:chExt cx="132861" cy="96151"/>
            </a:xfrm>
            <a:grpFill/>
          </p:grpSpPr>
          <p:sp>
            <p:nvSpPr>
              <p:cNvPr id="9" name="Google Shape;498;p35">
                <a:extLst>
                  <a:ext uri="{FF2B5EF4-FFF2-40B4-BE49-F238E27FC236}">
                    <a16:creationId xmlns:a16="http://schemas.microsoft.com/office/drawing/2014/main" id="{1481B94E-4356-9FB5-3DB2-820CF7727E8F}"/>
                  </a:ext>
                </a:extLst>
              </p:cNvPr>
              <p:cNvSpPr/>
              <p:nvPr/>
            </p:nvSpPr>
            <p:spPr>
              <a:xfrm>
                <a:off x="7169069" y="2977080"/>
                <a:ext cx="951" cy="58071"/>
              </a:xfrm>
              <a:custGeom>
                <a:avLst/>
                <a:gdLst/>
                <a:ahLst/>
                <a:cxnLst/>
                <a:rect l="l" t="t" r="r" b="b"/>
                <a:pathLst>
                  <a:path w="951" h="58071" extrusionOk="0">
                    <a:moveTo>
                      <a:pt x="476" y="58072"/>
                    </a:moveTo>
                    <a:cubicBezTo>
                      <a:pt x="476" y="58072"/>
                      <a:pt x="0" y="57881"/>
                      <a:pt x="0" y="57596"/>
                    </a:cubicBezTo>
                    <a:lnTo>
                      <a:pt x="0" y="476"/>
                    </a:lnTo>
                    <a:cubicBezTo>
                      <a:pt x="0" y="476"/>
                      <a:pt x="190" y="0"/>
                      <a:pt x="476" y="0"/>
                    </a:cubicBezTo>
                    <a:cubicBezTo>
                      <a:pt x="761" y="0"/>
                      <a:pt x="952" y="190"/>
                      <a:pt x="952" y="476"/>
                    </a:cubicBezTo>
                    <a:lnTo>
                      <a:pt x="952" y="57596"/>
                    </a:lnTo>
                    <a:cubicBezTo>
                      <a:pt x="952" y="57596"/>
                      <a:pt x="761" y="58072"/>
                      <a:pt x="476" y="58072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" name="Google Shape;499;p35">
                <a:extLst>
                  <a:ext uri="{FF2B5EF4-FFF2-40B4-BE49-F238E27FC236}">
                    <a16:creationId xmlns:a16="http://schemas.microsoft.com/office/drawing/2014/main" id="{16229EFA-B6B1-CC05-B491-5CAABBFF2565}"/>
                  </a:ext>
                </a:extLst>
              </p:cNvPr>
              <p:cNvSpPr/>
              <p:nvPr/>
            </p:nvSpPr>
            <p:spPr>
              <a:xfrm>
                <a:off x="7169145" y="3034257"/>
                <a:ext cx="66869" cy="38973"/>
              </a:xfrm>
              <a:custGeom>
                <a:avLst/>
                <a:gdLst/>
                <a:ahLst/>
                <a:cxnLst/>
                <a:rect l="l" t="t" r="r" b="b"/>
                <a:pathLst>
                  <a:path w="66869" h="38973" extrusionOk="0">
                    <a:moveTo>
                      <a:pt x="66373" y="38974"/>
                    </a:moveTo>
                    <a:cubicBezTo>
                      <a:pt x="66373" y="38974"/>
                      <a:pt x="66183" y="38974"/>
                      <a:pt x="66183" y="38974"/>
                    </a:cubicBezTo>
                    <a:lnTo>
                      <a:pt x="210" y="894"/>
                    </a:lnTo>
                    <a:cubicBezTo>
                      <a:pt x="210" y="894"/>
                      <a:pt x="-76" y="513"/>
                      <a:pt x="19" y="228"/>
                    </a:cubicBezTo>
                    <a:cubicBezTo>
                      <a:pt x="115" y="37"/>
                      <a:pt x="400" y="-58"/>
                      <a:pt x="686" y="37"/>
                    </a:cubicBezTo>
                    <a:lnTo>
                      <a:pt x="66659" y="38117"/>
                    </a:lnTo>
                    <a:cubicBezTo>
                      <a:pt x="66659" y="38117"/>
                      <a:pt x="66945" y="38498"/>
                      <a:pt x="66850" y="38784"/>
                    </a:cubicBezTo>
                    <a:cubicBezTo>
                      <a:pt x="66850" y="38974"/>
                      <a:pt x="66564" y="38974"/>
                      <a:pt x="66469" y="3897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" name="Google Shape;500;p35">
                <a:extLst>
                  <a:ext uri="{FF2B5EF4-FFF2-40B4-BE49-F238E27FC236}">
                    <a16:creationId xmlns:a16="http://schemas.microsoft.com/office/drawing/2014/main" id="{652C7ADA-8F82-8A72-90C6-E72B90B19F7A}"/>
                  </a:ext>
                </a:extLst>
              </p:cNvPr>
              <p:cNvSpPr/>
              <p:nvPr/>
            </p:nvSpPr>
            <p:spPr>
              <a:xfrm>
                <a:off x="7103153" y="3034295"/>
                <a:ext cx="66904" cy="38936"/>
              </a:xfrm>
              <a:custGeom>
                <a:avLst/>
                <a:gdLst/>
                <a:ahLst/>
                <a:cxnLst/>
                <a:rect l="l" t="t" r="r" b="b"/>
                <a:pathLst>
                  <a:path w="66904" h="38936" extrusionOk="0">
                    <a:moveTo>
                      <a:pt x="418" y="38937"/>
                    </a:moveTo>
                    <a:cubicBezTo>
                      <a:pt x="418" y="38937"/>
                      <a:pt x="133" y="38937"/>
                      <a:pt x="37" y="38746"/>
                    </a:cubicBezTo>
                    <a:cubicBezTo>
                      <a:pt x="-58" y="38556"/>
                      <a:pt x="37" y="38270"/>
                      <a:pt x="228" y="38080"/>
                    </a:cubicBezTo>
                    <a:lnTo>
                      <a:pt x="66201" y="0"/>
                    </a:lnTo>
                    <a:cubicBezTo>
                      <a:pt x="66201" y="0"/>
                      <a:pt x="66677" y="0"/>
                      <a:pt x="66867" y="190"/>
                    </a:cubicBezTo>
                    <a:cubicBezTo>
                      <a:pt x="66963" y="381"/>
                      <a:pt x="66867" y="666"/>
                      <a:pt x="66677" y="857"/>
                    </a:cubicBezTo>
                    <a:lnTo>
                      <a:pt x="704" y="38937"/>
                    </a:lnTo>
                    <a:cubicBezTo>
                      <a:pt x="704" y="38937"/>
                      <a:pt x="513" y="38937"/>
                      <a:pt x="513" y="38937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" name="Google Shape;501;p35">
              <a:extLst>
                <a:ext uri="{FF2B5EF4-FFF2-40B4-BE49-F238E27FC236}">
                  <a16:creationId xmlns:a16="http://schemas.microsoft.com/office/drawing/2014/main" id="{F2F9A502-28DC-C5CD-28EA-41AD39F50DB7}"/>
                </a:ext>
              </a:extLst>
            </p:cNvPr>
            <p:cNvGrpSpPr/>
            <p:nvPr/>
          </p:nvGrpSpPr>
          <p:grpSpPr>
            <a:xfrm>
              <a:off x="7083865" y="2777637"/>
              <a:ext cx="171359" cy="161838"/>
              <a:chOff x="7083865" y="2777637"/>
              <a:chExt cx="171359" cy="161838"/>
            </a:xfrm>
            <a:grpFill/>
          </p:grpSpPr>
          <p:sp>
            <p:nvSpPr>
              <p:cNvPr id="7" name="Google Shape;502;p35">
                <a:extLst>
                  <a:ext uri="{FF2B5EF4-FFF2-40B4-BE49-F238E27FC236}">
                    <a16:creationId xmlns:a16="http://schemas.microsoft.com/office/drawing/2014/main" id="{6561EEB0-3195-3507-1DFD-38C79929705A}"/>
                  </a:ext>
                </a:extLst>
              </p:cNvPr>
              <p:cNvSpPr/>
              <p:nvPr/>
            </p:nvSpPr>
            <p:spPr>
              <a:xfrm>
                <a:off x="7126705" y="2777637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" name="Google Shape;503;p35">
                <a:extLst>
                  <a:ext uri="{FF2B5EF4-FFF2-40B4-BE49-F238E27FC236}">
                    <a16:creationId xmlns:a16="http://schemas.microsoft.com/office/drawing/2014/main" id="{67E043D8-A3E6-FEFC-DC72-BD41F5739DF0}"/>
                  </a:ext>
                </a:extLst>
              </p:cNvPr>
              <p:cNvSpPr/>
              <p:nvPr/>
            </p:nvSpPr>
            <p:spPr>
              <a:xfrm>
                <a:off x="7083865" y="2871884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" name="Espaço Reservado para Texto 60">
            <a:extLst>
              <a:ext uri="{FF2B5EF4-FFF2-40B4-BE49-F238E27FC236}">
                <a16:creationId xmlns:a16="http://schemas.microsoft.com/office/drawing/2014/main" id="{81677B48-4227-5E93-3DFA-5579AD506E15}"/>
              </a:ext>
            </a:extLst>
          </p:cNvPr>
          <p:cNvSpPr txBox="1">
            <a:spLocks/>
          </p:cNvSpPr>
          <p:nvPr/>
        </p:nvSpPr>
        <p:spPr>
          <a:xfrm>
            <a:off x="874991" y="4665667"/>
            <a:ext cx="1180177" cy="203422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00" b="1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 dirty="0"/>
              <a:t>Em duplas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7" name="Google Shape;3197;p299"/>
          <p:cNvSpPr txBox="1">
            <a:spLocks noGrp="1"/>
          </p:cNvSpPr>
          <p:nvPr>
            <p:ph type="body" idx="1"/>
          </p:nvPr>
        </p:nvSpPr>
        <p:spPr>
          <a:xfrm>
            <a:off x="3007774" y="1534486"/>
            <a:ext cx="8895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 dirty="0"/>
              <a:t>Quando usar while em vez de for?</a:t>
            </a:r>
            <a:endParaRPr sz="2433" dirty="0"/>
          </a:p>
        </p:txBody>
      </p:sp>
      <p:sp>
        <p:nvSpPr>
          <p:cNvPr id="3203" name="Google Shape;3203;p299"/>
          <p:cNvSpPr/>
          <p:nvPr/>
        </p:nvSpPr>
        <p:spPr>
          <a:xfrm>
            <a:off x="3026388" y="3124140"/>
            <a:ext cx="3395078" cy="1066860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4" name="Google Shape;3204;p299"/>
          <p:cNvSpPr/>
          <p:nvPr/>
        </p:nvSpPr>
        <p:spPr>
          <a:xfrm>
            <a:off x="6738425" y="3110877"/>
            <a:ext cx="3395078" cy="1066860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5" name="Google Shape;3205;p299"/>
          <p:cNvSpPr/>
          <p:nvPr/>
        </p:nvSpPr>
        <p:spPr>
          <a:xfrm>
            <a:off x="3013506" y="4411406"/>
            <a:ext cx="3395078" cy="1066860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6" name="Google Shape;3206;p299"/>
          <p:cNvSpPr/>
          <p:nvPr/>
        </p:nvSpPr>
        <p:spPr>
          <a:xfrm>
            <a:off x="6739928" y="4423368"/>
            <a:ext cx="3395078" cy="1066860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8" name="Google Shape;3208;p299"/>
          <p:cNvSpPr txBox="1"/>
          <p:nvPr/>
        </p:nvSpPr>
        <p:spPr>
          <a:xfrm>
            <a:off x="3121795" y="4648441"/>
            <a:ext cx="31785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Quando quisermos imprimir na tela.</a:t>
            </a:r>
            <a:endParaRPr sz="20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09" name="Google Shape;3209;p299"/>
          <p:cNvSpPr txBox="1"/>
          <p:nvPr/>
        </p:nvSpPr>
        <p:spPr>
          <a:xfrm>
            <a:off x="3338972" y="3359220"/>
            <a:ext cx="2744146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Quando o código tiver input.</a:t>
            </a:r>
            <a:endParaRPr sz="2000" dirty="0"/>
          </a:p>
        </p:txBody>
      </p:sp>
      <p:sp>
        <p:nvSpPr>
          <p:cNvPr id="3210" name="Google Shape;3210;p299"/>
          <p:cNvSpPr txBox="1"/>
          <p:nvPr/>
        </p:nvSpPr>
        <p:spPr>
          <a:xfrm>
            <a:off x="6861159" y="3186477"/>
            <a:ext cx="314961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Quando a repetição depender de uma condição.</a:t>
            </a:r>
            <a:endParaRPr sz="2000" dirty="0"/>
          </a:p>
        </p:txBody>
      </p:sp>
      <p:sp>
        <p:nvSpPr>
          <p:cNvPr id="3211" name="Google Shape;3211;p299"/>
          <p:cNvSpPr txBox="1"/>
          <p:nvPr/>
        </p:nvSpPr>
        <p:spPr>
          <a:xfrm>
            <a:off x="6861159" y="4648441"/>
            <a:ext cx="3149616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Quando o programa tiver só uma variável.</a:t>
            </a:r>
            <a:endParaRPr sz="20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812;p61">
            <a:extLst>
              <a:ext uri="{FF2B5EF4-FFF2-40B4-BE49-F238E27FC236}">
                <a16:creationId xmlns:a16="http://schemas.microsoft.com/office/drawing/2014/main" id="{7E701195-D300-2C50-2E00-1B54C8E3E17E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AE71EFC-B3EB-51E5-6FF5-4542E4E25E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90A2EB39-BE7F-CC27-491B-6143FD23F972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 dirty="0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 dirty="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6" name="Google Shape;3216;p300"/>
          <p:cNvSpPr txBox="1"/>
          <p:nvPr/>
        </p:nvSpPr>
        <p:spPr>
          <a:xfrm>
            <a:off x="1625600" y="1295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7" name="Google Shape;3217;p300"/>
          <p:cNvSpPr txBox="1"/>
          <p:nvPr/>
        </p:nvSpPr>
        <p:spPr>
          <a:xfrm>
            <a:off x="723900" y="12573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8" name="Google Shape;3218;p300"/>
          <p:cNvSpPr txBox="1"/>
          <p:nvPr/>
        </p:nvSpPr>
        <p:spPr>
          <a:xfrm>
            <a:off x="1054100" y="14859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1" name="Google Shape;3221;p300"/>
          <p:cNvSpPr/>
          <p:nvPr/>
        </p:nvSpPr>
        <p:spPr>
          <a:xfrm>
            <a:off x="2446898" y="3381215"/>
            <a:ext cx="514500" cy="5637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2" name="Google Shape;3222;p300"/>
          <p:cNvSpPr/>
          <p:nvPr/>
        </p:nvSpPr>
        <p:spPr>
          <a:xfrm>
            <a:off x="2448567" y="4633352"/>
            <a:ext cx="514500" cy="5637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3" name="Google Shape;3223;p300"/>
          <p:cNvSpPr/>
          <p:nvPr/>
        </p:nvSpPr>
        <p:spPr>
          <a:xfrm>
            <a:off x="10209100" y="4689914"/>
            <a:ext cx="514500" cy="5637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4" name="Google Shape;3224;p300"/>
          <p:cNvSpPr/>
          <p:nvPr/>
        </p:nvSpPr>
        <p:spPr>
          <a:xfrm rot="-3044895">
            <a:off x="10272697" y="3466932"/>
            <a:ext cx="385473" cy="265854"/>
          </a:xfrm>
          <a:prstGeom prst="corner">
            <a:avLst>
              <a:gd name="adj1" fmla="val 36796"/>
              <a:gd name="adj2" fmla="val 29665"/>
            </a:avLst>
          </a:prstGeom>
          <a:solidFill>
            <a:srgbClr val="92D050"/>
          </a:solid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812;p61">
            <a:extLst>
              <a:ext uri="{FF2B5EF4-FFF2-40B4-BE49-F238E27FC236}">
                <a16:creationId xmlns:a16="http://schemas.microsoft.com/office/drawing/2014/main" id="{72F10BB3-8C4A-0B3E-03B4-BBB80F98547C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BF57B10F-1553-235F-EAA1-7D5F726481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00050AE5-2489-024E-92AD-1CC0BA235BAD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 dirty="0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 dirty="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6" name="Google Shape;3197;p299">
            <a:extLst>
              <a:ext uri="{FF2B5EF4-FFF2-40B4-BE49-F238E27FC236}">
                <a16:creationId xmlns:a16="http://schemas.microsoft.com/office/drawing/2014/main" id="{FCB76CB6-42C2-9EA3-4701-A2EA7BDA59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07774" y="1534486"/>
            <a:ext cx="8895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 dirty="0"/>
              <a:t>Quando usar while em vez de for?</a:t>
            </a:r>
            <a:endParaRPr sz="2433" dirty="0"/>
          </a:p>
        </p:txBody>
      </p:sp>
      <p:sp>
        <p:nvSpPr>
          <p:cNvPr id="8" name="Google Shape;3203;p299">
            <a:extLst>
              <a:ext uri="{FF2B5EF4-FFF2-40B4-BE49-F238E27FC236}">
                <a16:creationId xmlns:a16="http://schemas.microsoft.com/office/drawing/2014/main" id="{D93ACE91-9252-5B00-A439-7121300B6D90}"/>
              </a:ext>
            </a:extLst>
          </p:cNvPr>
          <p:cNvSpPr/>
          <p:nvPr/>
        </p:nvSpPr>
        <p:spPr>
          <a:xfrm>
            <a:off x="3026388" y="3124140"/>
            <a:ext cx="3395078" cy="1066860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204;p299">
            <a:extLst>
              <a:ext uri="{FF2B5EF4-FFF2-40B4-BE49-F238E27FC236}">
                <a16:creationId xmlns:a16="http://schemas.microsoft.com/office/drawing/2014/main" id="{2496CDF2-065C-E909-DB20-B552EB02F48B}"/>
              </a:ext>
            </a:extLst>
          </p:cNvPr>
          <p:cNvSpPr/>
          <p:nvPr/>
        </p:nvSpPr>
        <p:spPr>
          <a:xfrm>
            <a:off x="6738425" y="3110877"/>
            <a:ext cx="3395078" cy="1066860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2D050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3205;p299">
            <a:extLst>
              <a:ext uri="{FF2B5EF4-FFF2-40B4-BE49-F238E27FC236}">
                <a16:creationId xmlns:a16="http://schemas.microsoft.com/office/drawing/2014/main" id="{2C8E47C8-1C3B-AC64-76FF-E124A07A5A74}"/>
              </a:ext>
            </a:extLst>
          </p:cNvPr>
          <p:cNvSpPr/>
          <p:nvPr/>
        </p:nvSpPr>
        <p:spPr>
          <a:xfrm>
            <a:off x="3013506" y="4411406"/>
            <a:ext cx="3395078" cy="1066860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3206;p299">
            <a:extLst>
              <a:ext uri="{FF2B5EF4-FFF2-40B4-BE49-F238E27FC236}">
                <a16:creationId xmlns:a16="http://schemas.microsoft.com/office/drawing/2014/main" id="{A770A52B-2DC4-28DF-B808-4AC89A50F1A4}"/>
              </a:ext>
            </a:extLst>
          </p:cNvPr>
          <p:cNvSpPr/>
          <p:nvPr/>
        </p:nvSpPr>
        <p:spPr>
          <a:xfrm>
            <a:off x="6739928" y="4423368"/>
            <a:ext cx="3395078" cy="1066860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3208;p299">
            <a:extLst>
              <a:ext uri="{FF2B5EF4-FFF2-40B4-BE49-F238E27FC236}">
                <a16:creationId xmlns:a16="http://schemas.microsoft.com/office/drawing/2014/main" id="{FDE8E627-3172-B0A7-C344-6C31BF692903}"/>
              </a:ext>
            </a:extLst>
          </p:cNvPr>
          <p:cNvSpPr txBox="1"/>
          <p:nvPr/>
        </p:nvSpPr>
        <p:spPr>
          <a:xfrm>
            <a:off x="3121795" y="4648441"/>
            <a:ext cx="31785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Quando quisermos imprimir na tela.</a:t>
            </a:r>
            <a:endParaRPr sz="20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Google Shape;3209;p299">
            <a:extLst>
              <a:ext uri="{FF2B5EF4-FFF2-40B4-BE49-F238E27FC236}">
                <a16:creationId xmlns:a16="http://schemas.microsoft.com/office/drawing/2014/main" id="{17E53267-72C9-6799-DB57-B33B478EDF17}"/>
              </a:ext>
            </a:extLst>
          </p:cNvPr>
          <p:cNvSpPr txBox="1"/>
          <p:nvPr/>
        </p:nvSpPr>
        <p:spPr>
          <a:xfrm>
            <a:off x="3338972" y="3359220"/>
            <a:ext cx="2744146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Quando o código tiver input.</a:t>
            </a:r>
            <a:endParaRPr sz="2000" dirty="0"/>
          </a:p>
        </p:txBody>
      </p:sp>
      <p:sp>
        <p:nvSpPr>
          <p:cNvPr id="14" name="Google Shape;3210;p299">
            <a:extLst>
              <a:ext uri="{FF2B5EF4-FFF2-40B4-BE49-F238E27FC236}">
                <a16:creationId xmlns:a16="http://schemas.microsoft.com/office/drawing/2014/main" id="{CC3D2833-950A-C4D2-D9EA-0FACF8D0F466}"/>
              </a:ext>
            </a:extLst>
          </p:cNvPr>
          <p:cNvSpPr txBox="1"/>
          <p:nvPr/>
        </p:nvSpPr>
        <p:spPr>
          <a:xfrm>
            <a:off x="6861159" y="3186477"/>
            <a:ext cx="314961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Quando a repetição depender de uma condição.</a:t>
            </a:r>
            <a:endParaRPr sz="2000" dirty="0"/>
          </a:p>
        </p:txBody>
      </p:sp>
      <p:sp>
        <p:nvSpPr>
          <p:cNvPr id="15" name="Google Shape;3211;p299">
            <a:extLst>
              <a:ext uri="{FF2B5EF4-FFF2-40B4-BE49-F238E27FC236}">
                <a16:creationId xmlns:a16="http://schemas.microsoft.com/office/drawing/2014/main" id="{7B72DA63-F048-0494-5EC4-992E7185202F}"/>
              </a:ext>
            </a:extLst>
          </p:cNvPr>
          <p:cNvSpPr txBox="1"/>
          <p:nvPr/>
        </p:nvSpPr>
        <p:spPr>
          <a:xfrm>
            <a:off x="6861159" y="4648441"/>
            <a:ext cx="3149616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Quando o programa tiver só uma variável.</a:t>
            </a:r>
            <a:endParaRPr sz="20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0" name="Google Shape;3240;p301"/>
          <p:cNvSpPr txBox="1"/>
          <p:nvPr/>
        </p:nvSpPr>
        <p:spPr>
          <a:xfrm>
            <a:off x="5839743" y="6469178"/>
            <a:ext cx="5170764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ChatGPT.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E300BFB-CBD6-43B2-DD7B-60D6A97E6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760" y="519381"/>
            <a:ext cx="4782935" cy="58192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p302"/>
          <p:cNvSpPr txBox="1">
            <a:spLocks noGrp="1"/>
          </p:cNvSpPr>
          <p:nvPr>
            <p:ph type="body" idx="1"/>
          </p:nvPr>
        </p:nvSpPr>
        <p:spPr>
          <a:xfrm>
            <a:off x="5580097" y="1345538"/>
            <a:ext cx="6175127" cy="2651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1" dirty="0"/>
              <a:t>Estrutura de repetição while</a:t>
            </a: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dirty="0"/>
              <a:t>Para entender melhor como funciona a estrutura de repetição while no Python, o canal Curso em Vídeo, do professor Gustavo Guanabara, tem uma aula completa sobre o tema. O vídeo mostra exemplos práticos de como usar o while para repetir código enquanto uma condição é verdadeira.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sz="1800" dirty="0"/>
              <a:t>CURSO EM VÍDEO. Curso Python #014 - Estrutura de repetição while. Disponível em: </a:t>
            </a:r>
            <a:r>
              <a:rPr lang="pt-BR" sz="1800" dirty="0">
                <a:hlinkClick r:id="rId3"/>
              </a:rPr>
              <a:t>https://www.youtube.com/watch?v=LH6OIn2lBaI</a:t>
            </a:r>
            <a:r>
              <a:rPr lang="pt-BR" sz="1800" dirty="0"/>
              <a:t>. Acesso em: 15 ago. 2026.</a:t>
            </a:r>
            <a:endParaRPr sz="1800" b="1" dirty="0"/>
          </a:p>
        </p:txBody>
      </p:sp>
      <p:sp>
        <p:nvSpPr>
          <p:cNvPr id="3246" name="Google Shape;3246;p302"/>
          <p:cNvSpPr txBox="1"/>
          <p:nvPr/>
        </p:nvSpPr>
        <p:spPr>
          <a:xfrm>
            <a:off x="1024125" y="1786467"/>
            <a:ext cx="3183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4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Saiba mais</a:t>
            </a:r>
            <a:endParaRPr sz="4000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1" name="Google Shape;3251;p303"/>
          <p:cNvSpPr txBox="1">
            <a:spLocks noGrp="1"/>
          </p:cNvSpPr>
          <p:nvPr>
            <p:ph type="body" idx="1"/>
          </p:nvPr>
        </p:nvSpPr>
        <p:spPr>
          <a:xfrm>
            <a:off x="555150" y="1598105"/>
            <a:ext cx="11407464" cy="3162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</a:pPr>
            <a:r>
              <a:rPr lang="pt-BR" dirty="0"/>
              <a:t>LOPES, E. Loops e estruturas de repetição no Python. </a:t>
            </a:r>
            <a:r>
              <a:rPr lang="pt-BR" b="1" dirty="0"/>
              <a:t>Python Academy</a:t>
            </a:r>
            <a:r>
              <a:rPr lang="pt-BR" dirty="0"/>
              <a:t>, 30 maio 2026. Disponível em: 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https://pythonacademy.com.br/blog/estruturas-de-repeticao</a:t>
            </a:r>
            <a:r>
              <a:rPr lang="pt-BR" dirty="0"/>
              <a:t>. Acesso em: 02 ago. 2026.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pt-BR" dirty="0"/>
              <a:t>PYTHON SOFTWARE FOUNDATION. Mais ferramentas de controle de fluxo. </a:t>
            </a:r>
            <a:r>
              <a:rPr lang="pt-BR" b="1" dirty="0"/>
              <a:t>Documentação Python</a:t>
            </a:r>
            <a:r>
              <a:rPr lang="pt-BR" dirty="0"/>
              <a:t>, 2026. Disponível em: </a:t>
            </a:r>
            <a:r>
              <a:rPr lang="pt-BR" u="sng" dirty="0">
                <a:solidFill>
                  <a:schemeClr val="hlink"/>
                </a:solidFill>
                <a:hlinkClick r:id="rId4"/>
              </a:rPr>
              <a:t>https://docs.python.org/pt-br/3/tutorial/controlflow.html</a:t>
            </a:r>
            <a:r>
              <a:rPr lang="pt-BR" dirty="0"/>
              <a:t>. Acesso em: 02 ago. 2026.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pt-BR" dirty="0"/>
              <a:t>RAMOS, V. Estruturas de repetição usando Loops While no Python. </a:t>
            </a:r>
            <a:r>
              <a:rPr lang="pt-BR" b="1" dirty="0"/>
              <a:t>Python Academy</a:t>
            </a:r>
            <a:r>
              <a:rPr lang="pt-BR" dirty="0"/>
              <a:t>, 10 dez. 2025. Disponível em: </a:t>
            </a:r>
            <a:r>
              <a:rPr lang="pt-BR" u="sng" dirty="0">
                <a:solidFill>
                  <a:schemeClr val="hlink"/>
                </a:solidFill>
                <a:hlinkClick r:id="rId5"/>
              </a:rPr>
              <a:t>https://pythonacademy.com.br/blog/loops-com-while-no-python</a:t>
            </a:r>
            <a:r>
              <a:rPr lang="pt-BR" dirty="0"/>
              <a:t>. Acesso em: </a:t>
            </a:r>
            <a:br>
              <a:rPr lang="pt-BR" dirty="0"/>
            </a:br>
            <a:r>
              <a:rPr lang="pt-BR" dirty="0"/>
              <a:t>02 ago. 2026.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pt-BR" dirty="0"/>
              <a:t>Identidade visual: imagens © Getty Images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3" name="Google Shape;3263;p305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4" name="Google Shape;3264;p305"/>
          <p:cNvSpPr txBox="1"/>
          <p:nvPr/>
        </p:nvSpPr>
        <p:spPr>
          <a:xfrm>
            <a:off x="955053" y="769850"/>
            <a:ext cx="78690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6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 7</a:t>
            </a:r>
            <a:endParaRPr dirty="0"/>
          </a:p>
        </p:txBody>
      </p:sp>
      <p:sp>
        <p:nvSpPr>
          <p:cNvPr id="3265" name="Google Shape;3265;p305"/>
          <p:cNvSpPr txBox="1"/>
          <p:nvPr/>
        </p:nvSpPr>
        <p:spPr>
          <a:xfrm>
            <a:off x="985525" y="1372050"/>
            <a:ext cx="11007900" cy="2908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Orientações:</a:t>
            </a: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retome as 4 etapas do programa interativo e o uso do for quando a quantidade de voltas já é conhecida. Use a pergunta do material para a turma perceber que, no </a:t>
            </a:r>
            <a:r>
              <a:rPr lang="pt-BR" sz="10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com tentativas, o número de repetições não é fixo. Feche com o “Tome nota” (for vs while).</a:t>
            </a: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Tempo previsto:</a:t>
            </a: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5 minutos.</a:t>
            </a: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Gestão de sala:</a:t>
            </a: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a turma toda. Projete o slide e conduza a pergunta em voz alta; 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organize no quadro as respostas curtas.</a:t>
            </a: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leia a seção </a:t>
            </a:r>
            <a:r>
              <a:rPr lang="pt-BR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Lance a pergunta: “O jogador pode acertar na primeira ou só na terceira; o for com número fixo resolve sozinho? Que estrutura usamos quando a repetição depende de uma condição?”; 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recolha 2 ou 3 falas e ancore a ideia de “enquanto ainda houver tentativas”, sem abrir o laboratório ainda.</a:t>
            </a: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Expectativas de respostas:</a:t>
            </a: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Leia a seção </a:t>
            </a:r>
            <a:r>
              <a:rPr lang="pt-BR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Lance a pergunta: “O jogador pode acertar na primeira ou só na terceira; o for com número fixo resolve sozinho? Que estrutura usamos quando a repetição depende de uma condição?” Recolha 2 ou 3 falas e leia o “Tome nota”.</a:t>
            </a:r>
            <a:endParaRPr sz="1000" b="1" dirty="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266" name="Google Shape;3266;p305"/>
          <p:cNvCxnSpPr>
            <a:cxnSpLocks/>
          </p:cNvCxnSpPr>
          <p:nvPr/>
        </p:nvCxnSpPr>
        <p:spPr>
          <a:xfrm flipV="1">
            <a:off x="685795" y="1041228"/>
            <a:ext cx="0" cy="359349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3268" name="Google Shape;3268;p305"/>
          <p:cNvGrpSpPr/>
          <p:nvPr/>
        </p:nvGrpSpPr>
        <p:grpSpPr>
          <a:xfrm>
            <a:off x="497841" y="1318604"/>
            <a:ext cx="386100" cy="382500"/>
            <a:chOff x="497841" y="1318604"/>
            <a:chExt cx="386100" cy="382500"/>
          </a:xfrm>
        </p:grpSpPr>
        <p:sp>
          <p:nvSpPr>
            <p:cNvPr id="3269" name="Google Shape;3269;p305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0" name="Google Shape;3270;p305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1" name="Google Shape;3271;p305"/>
          <p:cNvGrpSpPr/>
          <p:nvPr/>
        </p:nvGrpSpPr>
        <p:grpSpPr>
          <a:xfrm>
            <a:off x="497841" y="2315079"/>
            <a:ext cx="386100" cy="382500"/>
            <a:chOff x="497841" y="2265726"/>
            <a:chExt cx="386100" cy="382500"/>
          </a:xfrm>
        </p:grpSpPr>
        <p:sp>
          <p:nvSpPr>
            <p:cNvPr id="3272" name="Google Shape;3272;p305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3" name="Google Shape;3273;p305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4" name="Google Shape;3274;p305"/>
          <p:cNvGrpSpPr/>
          <p:nvPr/>
        </p:nvGrpSpPr>
        <p:grpSpPr>
          <a:xfrm>
            <a:off x="497841" y="3704786"/>
            <a:ext cx="386100" cy="382500"/>
            <a:chOff x="497841" y="3801694"/>
            <a:chExt cx="386100" cy="382500"/>
          </a:xfrm>
        </p:grpSpPr>
        <p:sp>
          <p:nvSpPr>
            <p:cNvPr id="3275" name="Google Shape;3275;p305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67" name="Google Shape;3267;p305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76" name="Google Shape;3276;p305"/>
          <p:cNvGrpSpPr/>
          <p:nvPr/>
        </p:nvGrpSpPr>
        <p:grpSpPr>
          <a:xfrm>
            <a:off x="497841" y="1879959"/>
            <a:ext cx="386100" cy="382500"/>
            <a:chOff x="497841" y="1802325"/>
            <a:chExt cx="386100" cy="382500"/>
          </a:xfrm>
        </p:grpSpPr>
        <p:sp>
          <p:nvSpPr>
            <p:cNvPr id="3277" name="Google Shape;3277;p305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78" name="Google Shape;3278;p30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79" name="Google Shape;3279;p305"/>
          <p:cNvGrpSpPr/>
          <p:nvPr/>
        </p:nvGrpSpPr>
        <p:grpSpPr>
          <a:xfrm>
            <a:off x="497841" y="2901574"/>
            <a:ext cx="386100" cy="382500"/>
            <a:chOff x="497841" y="3037886"/>
            <a:chExt cx="386100" cy="382500"/>
          </a:xfrm>
        </p:grpSpPr>
        <p:sp>
          <p:nvSpPr>
            <p:cNvPr id="3280" name="Google Shape;3280;p305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81" name="Google Shape;3281;p305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" name="Google Shape;3287;p306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8" name="Google Shape;3288;p306"/>
          <p:cNvSpPr txBox="1"/>
          <p:nvPr/>
        </p:nvSpPr>
        <p:spPr>
          <a:xfrm>
            <a:off x="955053" y="769850"/>
            <a:ext cx="78690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8</a:t>
            </a:r>
            <a:endParaRPr dirty="0"/>
          </a:p>
        </p:txBody>
      </p:sp>
      <p:sp>
        <p:nvSpPr>
          <p:cNvPr id="3289" name="Google Shape;3289;p306"/>
          <p:cNvSpPr txBox="1"/>
          <p:nvPr/>
        </p:nvSpPr>
        <p:spPr>
          <a:xfrm>
            <a:off x="939913" y="1372050"/>
            <a:ext cx="11236947" cy="5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nessa atividade, a turma constrói, passo a passo, um programa interativo simples que usa while para controlar tentativas. Projete no quadro e explique cada parte; as duplas digitam e testam no computador.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40 minutos.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a atividade acontece no laboratório de informática ou com notebooks. Organize os estudantes em 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duplas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, cada dupla em um computador. Se faltarem computadores, forme trios. Garanta que o Python esteja funcionando antes de iniciar a aula.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na Etapa 1, retome rapidamente o conteúdo da Aula 1, perguntando quais são as 4 etapas de um programa interativo. A resposta esperada é: perguntar, receber, verificar, responder. Depois, apresente o problema: “Na Aula 1, fizemos uma pergunta só. E se o jogador errar? Ele pode tentar de novo?" A resposta esperada é “sim”. Explique que, para isso, precisamos de um loop que continue enquanto o jogador tiver tentativas restantes; 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na Etapa 2, escreva no quadro as variáveis de estado: tentativas = 3 e pontos = 0. Explique que essas variáveis guardam o estado do jogo: quantas tentativas restam e qual é a pontuação. Elas precisam ser criadas antes do loop, igual aos contadores da semana anterior. Os estudantes devem digitar essas duas linhas no computador; 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na Etapa 3, escreva no quadro a estrutura do while: while tentativas &gt; 0:. Explique que o while verifica a condição antes de cada volta. Se tentativas for maior que 0, executa o bloco. Se for 0, pula para depois do loop. Os estudantes devem digitar o while com um print simples dentro para testar: print("Tentativas:", tentativas). Peça que rodem e observem que o programa fica em loop infinito, porque tentativas nunca diminui. Esse é o momento de explicar que precisamos atualizar a variável dentro do loop;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na Etapa 4, oriente os estudantes a colocarem dentro do loop o input para receber a resposta e o if para verificar. Escreva no quadro a estrutura: resposta = input("Quanto é 5 x 6? "), if resposta == "30":, print("Certo!") e pontos = pontos + 1. No else: print("Errado!") e tentativas = tentativas - 1. Explique que, quando o jogador acerta, adicionamos 1 ponto e precisamos fazer o loop parar. A forma mais simples é colocar tentativas = 0, o que faz a condição do while ficar falsa. Quando erra, diminuímos 1 de tentativas; 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na Etapa 5, oriente os estudantes a adicionarem, depois do loop e sem indentação, um print mostrando a pontuação final. Peça que testem o programa duas vezes: uma errando todas as tentativas e outra acertando na primeira. Se o programa não parar quando o jogador acerta, explique que tentativas = 0 dentro do if faz a condição do while ficar falsa, encerrando o loop.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Expectativas de respostas: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a criação das variáveis de estado deve ser direta. O conceito de while pode gerar confusão inicial, especialmente sobre a condição ser verificada antes de cada volta. O erro mais comum na Etapa 3 será o loop infinito, quando os estudantes esquecem de atualizar a variável tentativas dentro do loop. Esse erro é didático e você deve deixá-lo acontecer para que os estudantes percebam a necessidade de atualizar a variável. Outro erro comum é esquecer de diminuir tentativas no else, o que também gera loop infinito. O caso do acerto também pode gerar dúvida: alguns estudantes podem não entender por que tentativas = 0 faz o loop parar. Mostre no quadro: o while verifica "tentativas &gt; 0?". Se tentativas vale 0, a resposta é “não” e o loop termina. Alguns estudantes podem perguntar se poderiam usar break em vez de tentativas = 0. Você pode mencionar que break existe e funciona, mas por enquanto vamos usar a abordagem de alterar a variável de estado, que ajuda a entender o controle do loop.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Na Lousa: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Construa o diagrama com a turma, destacando o </a:t>
            </a:r>
            <a:r>
              <a:rPr lang="pt-BR" sz="1000" dirty="0" err="1">
                <a:latin typeface="Poppins"/>
                <a:ea typeface="Poppins"/>
                <a:cs typeface="Poppins"/>
                <a:sym typeface="Poppins"/>
              </a:rPr>
              <a:t>while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como estrutura que consulta o estado do quiz por meio de uma condição. Mostre que tentativas e pontos são variáveis que representam esse </a:t>
            </a:r>
            <a:r>
              <a:rPr lang="pt-BR" sz="1000" dirty="0" err="1">
                <a:latin typeface="Poppins"/>
                <a:ea typeface="Poppins"/>
                <a:cs typeface="Poppins"/>
                <a:sym typeface="Poppins"/>
              </a:rPr>
              <a:t>estado.Leitura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esperada: o </a:t>
            </a:r>
            <a:r>
              <a:rPr lang="pt-BR" sz="1000" dirty="0" err="1">
                <a:latin typeface="Poppins"/>
                <a:ea typeface="Poppins"/>
                <a:cs typeface="Poppins"/>
                <a:sym typeface="Poppins"/>
              </a:rPr>
              <a:t>while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controla a repetição consultando uma condição relacionada ao estado do quiz.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290" name="Google Shape;3290;p306"/>
          <p:cNvCxnSpPr>
            <a:cxnSpLocks/>
          </p:cNvCxnSpPr>
          <p:nvPr/>
        </p:nvCxnSpPr>
        <p:spPr>
          <a:xfrm flipV="1">
            <a:off x="685800" y="1041425"/>
            <a:ext cx="0" cy="5624372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3291" name="Google Shape;3291;p306"/>
          <p:cNvGrpSpPr/>
          <p:nvPr/>
        </p:nvGrpSpPr>
        <p:grpSpPr>
          <a:xfrm>
            <a:off x="497841" y="1318604"/>
            <a:ext cx="386100" cy="382500"/>
            <a:chOff x="497841" y="1318604"/>
            <a:chExt cx="386100" cy="382500"/>
          </a:xfrm>
        </p:grpSpPr>
        <p:sp>
          <p:nvSpPr>
            <p:cNvPr id="3292" name="Google Shape;3292;p306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3" name="Google Shape;3293;p306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94" name="Google Shape;3294;p306"/>
          <p:cNvGrpSpPr/>
          <p:nvPr/>
        </p:nvGrpSpPr>
        <p:grpSpPr>
          <a:xfrm>
            <a:off x="497841" y="2166203"/>
            <a:ext cx="386100" cy="382500"/>
            <a:chOff x="497841" y="2265726"/>
            <a:chExt cx="386100" cy="382500"/>
          </a:xfrm>
        </p:grpSpPr>
        <p:sp>
          <p:nvSpPr>
            <p:cNvPr id="3295" name="Google Shape;3295;p306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6" name="Google Shape;3296;p306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97" name="Google Shape;3297;p306"/>
          <p:cNvGrpSpPr/>
          <p:nvPr/>
        </p:nvGrpSpPr>
        <p:grpSpPr>
          <a:xfrm>
            <a:off x="497841" y="5042095"/>
            <a:ext cx="386100" cy="382500"/>
            <a:chOff x="497841" y="3801694"/>
            <a:chExt cx="386100" cy="382500"/>
          </a:xfrm>
        </p:grpSpPr>
        <p:sp>
          <p:nvSpPr>
            <p:cNvPr id="3298" name="Google Shape;3298;p306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99" name="Google Shape;3299;p306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00" name="Google Shape;3300;p306"/>
          <p:cNvGrpSpPr/>
          <p:nvPr/>
        </p:nvGrpSpPr>
        <p:grpSpPr>
          <a:xfrm>
            <a:off x="497841" y="1737741"/>
            <a:ext cx="386100" cy="382500"/>
            <a:chOff x="497841" y="1802325"/>
            <a:chExt cx="386100" cy="382500"/>
          </a:xfrm>
        </p:grpSpPr>
        <p:sp>
          <p:nvSpPr>
            <p:cNvPr id="3301" name="Google Shape;3301;p306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02" name="Google Shape;3302;p30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03" name="Google Shape;3303;p306"/>
          <p:cNvGrpSpPr/>
          <p:nvPr/>
        </p:nvGrpSpPr>
        <p:grpSpPr>
          <a:xfrm>
            <a:off x="497841" y="2602859"/>
            <a:ext cx="386100" cy="382500"/>
            <a:chOff x="497841" y="3037886"/>
            <a:chExt cx="386100" cy="382500"/>
          </a:xfrm>
        </p:grpSpPr>
        <p:sp>
          <p:nvSpPr>
            <p:cNvPr id="3304" name="Google Shape;3304;p306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05" name="Google Shape;3305;p306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1" name="Google Shape;3311;p307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2" name="Google Shape;3312;p307"/>
          <p:cNvSpPr txBox="1"/>
          <p:nvPr/>
        </p:nvSpPr>
        <p:spPr>
          <a:xfrm>
            <a:off x="985520" y="786325"/>
            <a:ext cx="5923200" cy="49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9</a:t>
            </a: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endParaRPr dirty="0"/>
          </a:p>
        </p:txBody>
      </p:sp>
      <p:cxnSp>
        <p:nvCxnSpPr>
          <p:cNvPr id="3313" name="Google Shape;3313;p307"/>
          <p:cNvCxnSpPr>
            <a:cxnSpLocks/>
          </p:cNvCxnSpPr>
          <p:nvPr/>
        </p:nvCxnSpPr>
        <p:spPr>
          <a:xfrm flipV="1">
            <a:off x="690895" y="1046275"/>
            <a:ext cx="0" cy="227604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16" name="Google Shape;3316;p307"/>
          <p:cNvSpPr/>
          <p:nvPr/>
        </p:nvSpPr>
        <p:spPr>
          <a:xfrm>
            <a:off x="497841" y="1836081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8" name="Google Shape;3318;p307"/>
          <p:cNvSpPr txBox="1"/>
          <p:nvPr/>
        </p:nvSpPr>
        <p:spPr>
          <a:xfrm>
            <a:off x="947815" y="1432475"/>
            <a:ext cx="10325943" cy="1600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o objetivo da seção 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Pause e responda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é mobilizar os estudantes em relação aos conhecimentos apresentados e construídos em aula. É registro.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 minutos.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Expectativas de respostas: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Alternativa correta: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Quando a repetição depender de uma condição.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Feedback: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o while é indicado quando não sabemos exatamente quantas vezes a repetição acontecerá. O laço continua executando enquanto uma condição for verdadeira e termina quando essa condição deixa de ser atendida.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19" name="Google Shape;3319;p3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6072" y="1929787"/>
            <a:ext cx="154445" cy="1930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20" name="Google Shape;3320;p307"/>
          <p:cNvGrpSpPr/>
          <p:nvPr/>
        </p:nvGrpSpPr>
        <p:grpSpPr>
          <a:xfrm>
            <a:off x="497841" y="2354678"/>
            <a:ext cx="386100" cy="382500"/>
            <a:chOff x="497841" y="3801694"/>
            <a:chExt cx="386100" cy="382500"/>
          </a:xfrm>
        </p:grpSpPr>
        <p:sp>
          <p:nvSpPr>
            <p:cNvPr id="3321" name="Google Shape;3321;p307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14" name="Google Shape;3314;p307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" name="Google Shape;3580;p335">
            <a:extLst>
              <a:ext uri="{FF2B5EF4-FFF2-40B4-BE49-F238E27FC236}">
                <a16:creationId xmlns:a16="http://schemas.microsoft.com/office/drawing/2014/main" id="{FD6CC040-B311-6B38-7713-D643F0E432BF}"/>
              </a:ext>
            </a:extLst>
          </p:cNvPr>
          <p:cNvGrpSpPr/>
          <p:nvPr/>
        </p:nvGrpSpPr>
        <p:grpSpPr>
          <a:xfrm>
            <a:off x="497841" y="1394804"/>
            <a:ext cx="386100" cy="382500"/>
            <a:chOff x="497841" y="1318604"/>
            <a:chExt cx="386100" cy="382500"/>
          </a:xfrm>
        </p:grpSpPr>
        <p:sp>
          <p:nvSpPr>
            <p:cNvPr id="3" name="Google Shape;3581;p335">
              <a:extLst>
                <a:ext uri="{FF2B5EF4-FFF2-40B4-BE49-F238E27FC236}">
                  <a16:creationId xmlns:a16="http://schemas.microsoft.com/office/drawing/2014/main" id="{21398921-70FD-39C8-DA2B-8AE753F54D8C}"/>
                </a:ext>
              </a:extLst>
            </p:cNvPr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3582;p335">
              <a:extLst>
                <a:ext uri="{FF2B5EF4-FFF2-40B4-BE49-F238E27FC236}">
                  <a16:creationId xmlns:a16="http://schemas.microsoft.com/office/drawing/2014/main" id="{49E07E90-20D2-6A1A-934B-54A3E6FC6A2D}"/>
                </a:ext>
              </a:extLst>
            </p:cNvPr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7" name="Google Shape;3327;p308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8" name="Google Shape;3328;p308"/>
          <p:cNvSpPr txBox="1"/>
          <p:nvPr/>
        </p:nvSpPr>
        <p:spPr>
          <a:xfrm>
            <a:off x="985527" y="795750"/>
            <a:ext cx="85605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11</a:t>
            </a: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9" name="Google Shape;3329;p308"/>
          <p:cNvSpPr txBox="1"/>
          <p:nvPr/>
        </p:nvSpPr>
        <p:spPr>
          <a:xfrm>
            <a:off x="985519" y="1352395"/>
            <a:ext cx="10783800" cy="283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seção </a:t>
            </a: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que nós aprendemos hoje?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tem o objetivo de reforçar e esclarecer os principais conceitos discutidos, incentivando os estudantes a recordarem e articularem os principais pontos da aula.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 minutos.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antenha um tom positivo e construtivo, reforçando o aprendizado;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seja direto e objetivo nas explicações para manter a atividade dentro do tempo estipulado;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engaje os estudantes rapidamente, pedindo confirmações ou reações breves às definições apresentadas.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explique aos estudantes que esse é um momento de reflexão e esclarecimento sobre os conceitos abordados na aula;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informe que será feita uma rápida revisão para assegurar o entendimento correto das definições e dos conceitos;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apresente o slide com os principais tópicos da aula. E retome rapidamente os conceitos representados no esquema, reiterando a importância de cada um deles e como ele se encaixa no contexto maior da aula e na vida profissional.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b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que é esperado: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os estudantes devem sair da aula com um entendimento claro e preciso dos conceitos principais.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330" name="Google Shape;3330;p308"/>
          <p:cNvCxnSpPr>
            <a:cxnSpLocks/>
          </p:cNvCxnSpPr>
          <p:nvPr/>
        </p:nvCxnSpPr>
        <p:spPr>
          <a:xfrm flipV="1">
            <a:off x="685795" y="879929"/>
            <a:ext cx="0" cy="3613801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3332" name="Google Shape;3332;p308"/>
          <p:cNvGrpSpPr/>
          <p:nvPr/>
        </p:nvGrpSpPr>
        <p:grpSpPr>
          <a:xfrm>
            <a:off x="497841" y="1318604"/>
            <a:ext cx="386100" cy="382500"/>
            <a:chOff x="497841" y="1318604"/>
            <a:chExt cx="386100" cy="382500"/>
          </a:xfrm>
        </p:grpSpPr>
        <p:sp>
          <p:nvSpPr>
            <p:cNvPr id="3333" name="Google Shape;3333;p308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4" name="Google Shape;3334;p308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5" name="Google Shape;3335;p308"/>
          <p:cNvGrpSpPr/>
          <p:nvPr/>
        </p:nvGrpSpPr>
        <p:grpSpPr>
          <a:xfrm>
            <a:off x="497841" y="2235592"/>
            <a:ext cx="386100" cy="382500"/>
            <a:chOff x="497841" y="2265726"/>
            <a:chExt cx="386100" cy="382500"/>
          </a:xfrm>
        </p:grpSpPr>
        <p:sp>
          <p:nvSpPr>
            <p:cNvPr id="3336" name="Google Shape;3336;p308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7" name="Google Shape;3337;p308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8" name="Google Shape;3338;p308"/>
          <p:cNvGrpSpPr/>
          <p:nvPr/>
        </p:nvGrpSpPr>
        <p:grpSpPr>
          <a:xfrm>
            <a:off x="497841" y="2982108"/>
            <a:ext cx="386100" cy="382500"/>
            <a:chOff x="497841" y="3037886"/>
            <a:chExt cx="386100" cy="382500"/>
          </a:xfrm>
        </p:grpSpPr>
        <p:sp>
          <p:nvSpPr>
            <p:cNvPr id="3339" name="Google Shape;3339;p308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40" name="Google Shape;3340;p308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41" name="Google Shape;3341;p308"/>
          <p:cNvGrpSpPr/>
          <p:nvPr/>
        </p:nvGrpSpPr>
        <p:grpSpPr>
          <a:xfrm>
            <a:off x="497841" y="3860608"/>
            <a:ext cx="386100" cy="382500"/>
            <a:chOff x="497841" y="3801694"/>
            <a:chExt cx="386100" cy="382500"/>
          </a:xfrm>
        </p:grpSpPr>
        <p:sp>
          <p:nvSpPr>
            <p:cNvPr id="3342" name="Google Shape;3342;p308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31" name="Google Shape;3331;p308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43" name="Google Shape;3343;p308"/>
          <p:cNvGrpSpPr/>
          <p:nvPr/>
        </p:nvGrpSpPr>
        <p:grpSpPr>
          <a:xfrm>
            <a:off x="497841" y="1793682"/>
            <a:ext cx="386100" cy="382500"/>
            <a:chOff x="497841" y="1802325"/>
            <a:chExt cx="386100" cy="382500"/>
          </a:xfrm>
        </p:grpSpPr>
        <p:sp>
          <p:nvSpPr>
            <p:cNvPr id="3344" name="Google Shape;3344;p308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45" name="Google Shape;3345;p30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46" name="Google Shape;3346;p308"/>
          <p:cNvSpPr/>
          <p:nvPr/>
        </p:nvSpPr>
        <p:spPr>
          <a:xfrm>
            <a:off x="0" y="47479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7" name="Google Shape;3347;p308"/>
          <p:cNvSpPr txBox="1"/>
          <p:nvPr/>
        </p:nvSpPr>
        <p:spPr>
          <a:xfrm>
            <a:off x="985520" y="4758152"/>
            <a:ext cx="5923200" cy="48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48" name="Google Shape;3348;p308"/>
          <p:cNvCxnSpPr>
            <a:cxnSpLocks/>
          </p:cNvCxnSpPr>
          <p:nvPr/>
        </p:nvCxnSpPr>
        <p:spPr>
          <a:xfrm flipV="1">
            <a:off x="690876" y="4998614"/>
            <a:ext cx="0" cy="141288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50" name="Google Shape;3350;p308"/>
          <p:cNvSpPr/>
          <p:nvPr/>
        </p:nvSpPr>
        <p:spPr>
          <a:xfrm>
            <a:off x="497841" y="5281004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1" name="Google Shape;3351;p308"/>
          <p:cNvSpPr/>
          <p:nvPr/>
        </p:nvSpPr>
        <p:spPr>
          <a:xfrm>
            <a:off x="569897" y="5379560"/>
            <a:ext cx="237744" cy="201168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2" name="Google Shape;3352;p308"/>
          <p:cNvSpPr txBox="1"/>
          <p:nvPr/>
        </p:nvSpPr>
        <p:spPr>
          <a:xfrm>
            <a:off x="985525" y="5314800"/>
            <a:ext cx="9726068" cy="907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seção </a:t>
            </a: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Saiba mais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apresenta recursos extraclasse para que os estudantes complementem sua formação. Incentive-os a continuarem explorando o tema da aula.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 minuto.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49" name="Google Shape;3349;p308"/>
          <p:cNvSpPr/>
          <p:nvPr/>
        </p:nvSpPr>
        <p:spPr>
          <a:xfrm>
            <a:off x="495426" y="5791433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53" name="Google Shape;3353;p30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3657" y="5885139"/>
            <a:ext cx="154445" cy="193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</TotalTime>
  <Words>2068</Words>
  <Application>Microsoft Office PowerPoint</Application>
  <PresentationFormat>Ecrã Panorâmico</PresentationFormat>
  <Paragraphs>147</Paragraphs>
  <Slides>19</Slides>
  <Notes>19</Notes>
  <HiddenSlides>6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19</vt:i4>
      </vt:variant>
    </vt:vector>
  </HeadingPairs>
  <TitlesOfParts>
    <vt:vector size="25" baseType="lpstr">
      <vt:lpstr>Arial</vt:lpstr>
      <vt:lpstr>Poppins Light</vt:lpstr>
      <vt:lpstr>Poppins</vt:lpstr>
      <vt:lpstr>Calibri</vt:lpstr>
      <vt:lpstr>Poppins Medium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Gustavo Henrique da Silva Oliveira</cp:lastModifiedBy>
  <cp:revision>26</cp:revision>
  <dcterms:modified xsi:type="dcterms:W3CDTF">2026-09-01T13:13:13Z</dcterms:modified>
</cp:coreProperties>
</file>