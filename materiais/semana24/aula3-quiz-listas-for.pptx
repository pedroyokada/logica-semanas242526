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</p:sldMasterIdLst>
  <p:notesMasterIdLst>
    <p:notesMasterId r:id="rId20"/>
  </p:notesMasterIdLst>
  <p:sldIdLst>
    <p:sldId id="302" r:id="rId2"/>
    <p:sldId id="303" r:id="rId3"/>
    <p:sldId id="571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13" r:id="rId13"/>
    <p:sldId id="314" r:id="rId14"/>
    <p:sldId id="315" r:id="rId15"/>
    <p:sldId id="316" r:id="rId16"/>
    <p:sldId id="317" r:id="rId17"/>
    <p:sldId id="318" r:id="rId18"/>
    <p:sldId id="319" r:id="rId19"/>
  </p:sldIdLst>
  <p:sldSz cx="12192000" cy="6858000"/>
  <p:notesSz cx="6858000" cy="9144000"/>
  <p:embeddedFontLst>
    <p:embeddedFont>
      <p:font typeface="Poppins" panose="00000500000000000000" pitchFamily="2" charset="0"/>
      <p:regular r:id="rId21"/>
      <p:bold r:id="rId22"/>
      <p:italic r:id="rId23"/>
      <p:boldItalic r:id="rId24"/>
    </p:embeddedFont>
    <p:embeddedFont>
      <p:font typeface="Poppins Light" panose="00000400000000000000" pitchFamily="2" charset="0"/>
      <p:regular r:id="rId25"/>
      <p:bold r:id="rId26"/>
      <p:italic r:id="rId27"/>
      <p:boldItalic r:id="rId28"/>
    </p:embeddedFont>
    <p:embeddedFont>
      <p:font typeface="Poppins Medium" panose="000006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3" id="{8AC9193D-517E-4711-821D-AEB4035E3C14}">
          <p14:sldIdLst>
            <p14:sldId id="302"/>
            <p14:sldId id="303"/>
            <p14:sldId id="571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</p14:sectionLst>
    </p:ext>
    <p:ext uri="{EFAFB233-063F-42B5-8137-9DF3F51BA10A}">
      <p15:sldGuideLst xmlns:p15="http://schemas.microsoft.com/office/powerpoint/2012/main">
        <p15:guide id="1" pos="454">
          <p15:clr>
            <a:srgbClr val="747775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5B7B953-1DF4-8E25-2FD7-461A6661F625}" name="user" initials="u" userId="user" providerId="None"/>
  <p188:author id="{5AA0A968-BEAC-3578-99DE-8E24331D5246}" name="Yasmin Aquino" initials="YA" userId="S::yasmin.aquino@vanzolini-ead.org.br::762970ba-864f-4cc2-a808-be1e8c01dea3" providerId="AD"/>
  <p188:author id="{377AEB95-F34C-FEB2-A03E-D3DA85656470}" name="Izabella Saadi Cerutti" initials="IS" userId="4295702eb40843b9" providerId="Windows Live"/>
  <p188:author id="{B165D799-BC8C-90BE-92C0-3CED3306CB02}" name="Daniel Paiva" initials="DP" userId="8a33842c199de2dd" providerId="Windows Live"/>
  <p188:author id="{4BD3CBB0-6750-1FDD-67D3-2ACB669506AF}" name="Soraia Novaes" initials="SN" userId="S::soraia.novaes@apoiofde.sp.gov.br::f517fece-32b1-4449-a5a1-33836cdfbe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AC2"/>
    <a:srgbClr val="285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BAB36B-2DCC-4F31-B811-377A76DFCB47}">
  <a:tblStyle styleId="{41BAB36B-2DCC-4F31-B811-377A76DFCB4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358" autoAdjust="0"/>
    <p:restoredTop sz="88545" autoAdjust="0"/>
  </p:normalViewPr>
  <p:slideViewPr>
    <p:cSldViewPr snapToGrid="0">
      <p:cViewPr varScale="1">
        <p:scale>
          <a:sx n="94" d="100"/>
          <a:sy n="94" d="100"/>
        </p:scale>
        <p:origin x="1362" y="90"/>
      </p:cViewPr>
      <p:guideLst>
        <p:guide pos="45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0" name="Google Shape;3360;g3ee235a11d4_0_66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361" name="Google Shape;3361;g3ee235a11d4_0_66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362" name="Google Shape;3362;g3ee235a11d4_0_66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5" name="Google Shape;3365;g3f62d4c3bae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366" name="Google Shape;3366;g3f62d4c3bae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2727" name="Google Shape;2727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2728" name="Google Shape;2728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30408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1" name="Google Shape;3411;g3f62d4c3bae_0_1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12" name="Google Shape;3412;g3f62d4c3bae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" name="Google Shape;3430;g3f62d4c3bae_0_1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31" name="Google Shape;3431;g3f62d4c3bae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9" name="Google Shape;3439;g3f6276e81a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440" name="Google Shape;3440;g3f6276e81a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41" name="Google Shape;3441;g3f6276e81a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1" name="Google Shape;3451;g3f3b326689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52" name="Google Shape;3452;g3f3b32668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7" name="Google Shape;3467;g3f6276e81a9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68" name="Google Shape;3468;g3f6276e81a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6" name="Google Shape;3486;g3f6546bec4c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487" name="Google Shape;3487;g3f6546bec4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9" name="Google Shape;3509;g3f3af8d0963_0_217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endParaRPr dirty="0"/>
          </a:p>
        </p:txBody>
      </p:sp>
      <p:sp>
        <p:nvSpPr>
          <p:cNvPr id="3510" name="Google Shape;3510;g3f3af8d0963_0_2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5" name="Google Shape;3515;g3f3af8d0963_0_21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516" name="Google Shape;3516;g3f3af8d0963_0_2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1" name="Google Shape;3521;g3f3af8d0963_0_21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3522" name="Google Shape;3522;g3f3af8d0963_0_2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g3f3af8d0963_0_2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28" name="Google Shape;3528;g3f3af8d0963_0_219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529" name="Google Shape;3529;g3f3af8d0963_0_219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" name="Google Shape;3532;g3f3af8d0963_0_2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33" name="Google Shape;3533;g3f3af8d0963_0_2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534" name="Google Shape;3534;g3f3af8d0963_0_2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" name="Google Shape;3553;g3f3daee0cbd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54" name="Google Shape;3554;g3f3daee0cbd_0_1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555" name="Google Shape;3555;g3f3daee0cbd_0_1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7" name="Google Shape;3577;g3f3af8d0963_0_2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78" name="Google Shape;3578;g3f3af8d0963_0_22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579" name="Google Shape;3579;g3f3af8d0963_0_22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3" name="Google Shape;3593;g3f3af8d0963_0_2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594" name="Google Shape;3594;g3f3af8d0963_0_22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595" name="Google Shape;3595;g3f3af8d0963_0_22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5" name="Google Shape;3625;g3f3af8d0963_0_2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3626" name="Google Shape;3626;g3f3af8d0963_0_22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dirty="0"/>
          </a:p>
        </p:txBody>
      </p:sp>
      <p:sp>
        <p:nvSpPr>
          <p:cNvPr id="3627" name="Google Shape;3627;g3f3af8d0963_0_22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6.emf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pn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28809" y="885957"/>
            <a:ext cx="408409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7583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78300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95847" y="2754156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21284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96211" y="3346822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3371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13188461" y="446722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8134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29441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83345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8917" y="499193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66586" y="2817907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66822" y="2925825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5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</a:t>
            </a:r>
            <a:r>
              <a:rPr lang="pt-BR" sz="3000" b="1" i="0" u="none" strike="noStrike" cap="none" dirty="0">
                <a:solidFill>
                  <a:srgbClr val="FF161F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professor</a:t>
            </a:r>
            <a:endParaRPr sz="1400" b="0" i="0" u="none" strike="noStrike" cap="none" dirty="0">
              <a:solidFill>
                <a:srgbClr val="000000"/>
              </a:solidFill>
              <a:highlight>
                <a:srgbClr val="00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87" cy="2382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55" cy="785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083" cy="1879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055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246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537" cy="621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5" name="Google Shape;295;p2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 dirty="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6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dirty="0"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dirty="0"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dirty="0"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5_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3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3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dirty="0"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2_Atividade"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7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67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6" name="Google Shape;696;p67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7" name="Google Shape;697;p67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67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8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4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5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4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3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5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3_Title Only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2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7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 1">
  <p:cSld name="2_Atividade_Resposta 1"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119"/>
          <p:cNvSpPr/>
          <p:nvPr/>
        </p:nvSpPr>
        <p:spPr>
          <a:xfrm>
            <a:off x="2883290" y="2029005"/>
            <a:ext cx="4047000" cy="3766949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9" name="Google Shape;1189;p119"/>
          <p:cNvSpPr/>
          <p:nvPr/>
        </p:nvSpPr>
        <p:spPr>
          <a:xfrm>
            <a:off x="7220006" y="2029005"/>
            <a:ext cx="4047000" cy="3766949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0" name="Google Shape;1190;p119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1" name="Google Shape;1191;p119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19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3" name="Google Shape;1193;p119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4" name="Google Shape;1194;p119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5" name="Google Shape;1195;p119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6" name="Google Shape;1196;p119"/>
          <p:cNvSpPr txBox="1"/>
          <p:nvPr/>
        </p:nvSpPr>
        <p:spPr>
          <a:xfrm>
            <a:off x="3305837" y="6053552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8" name="Google Shape;1198;p119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99" name="Google Shape;1199;p1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119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1" name="Google Shape;1201;p119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1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C73875E-84C1-E2A1-1D22-868A431CA3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902047" y="5900730"/>
            <a:ext cx="363559" cy="4362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4_Título e Conteúdo"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121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9" name="Google Shape;1209;p121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0" name="Google Shape;1210;p121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11" name="Google Shape;1211;p12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121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6_Atividade_Resposta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22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5" name="Google Shape;1215;p122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6" name="Google Shape;1216;p122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dirty="0"/>
          </a:p>
        </p:txBody>
      </p:sp>
      <p:sp>
        <p:nvSpPr>
          <p:cNvPr id="1217" name="Google Shape;1217;p122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dirty="0"/>
          </a:p>
        </p:txBody>
      </p:sp>
      <p:sp>
        <p:nvSpPr>
          <p:cNvPr id="1218" name="Google Shape;1218;p122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9" name="Google Shape;1219;p122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0" name="Google Shape;1220;p122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1" name="Google Shape;1221;p122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2" name="Google Shape;1222;p122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3" name="Google Shape;1223;p1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22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5" name="Google Shape;1225;p122"/>
          <p:cNvSpPr/>
          <p:nvPr/>
        </p:nvSpPr>
        <p:spPr>
          <a:xfrm>
            <a:off x="4625052" y="1652486"/>
            <a:ext cx="613200" cy="417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26" name="Google Shape;1226;p122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122"/>
          <p:cNvSpPr/>
          <p:nvPr/>
        </p:nvSpPr>
        <p:spPr>
          <a:xfrm>
            <a:off x="9045782" y="1632977"/>
            <a:ext cx="450600" cy="441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28" name="Google Shape;1228;p1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1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9_Layout Personalizado"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23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23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dirty="0"/>
          </a:p>
        </p:txBody>
      </p:sp>
      <p:sp>
        <p:nvSpPr>
          <p:cNvPr id="1234" name="Google Shape;1234;p123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dirty="0"/>
          </a:p>
        </p:txBody>
      </p:sp>
      <p:sp>
        <p:nvSpPr>
          <p:cNvPr id="1235" name="Google Shape;1235;p123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dirty="0"/>
          </a:p>
        </p:txBody>
      </p:sp>
      <p:pic>
        <p:nvPicPr>
          <p:cNvPr id="1236" name="Google Shape;1236;p123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8_Layout Personalizado"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" name="Google Shape;1238;p12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9" name="Google Shape;1239;p124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240" name="Google Shape;1240;p124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1" name="Google Shape;1241;p124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2" name="Google Shape;1242;p124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3" name="Google Shape;1243;p1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4" name="Google Shape;1244;p124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245" name="Google Shape;1245;p124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24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7" name="Google Shape;1247;p124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8" name="Google Shape;1248;p124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49" name="Google Shape;1249;p12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2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2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7_Layout Personalizado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1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4" name="Google Shape;1254;p125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55" name="Google Shape;1255;p125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25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25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8" name="Google Shape;1258;p125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25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</a:t>
            </a:r>
            <a:r>
              <a:rPr lang="pt-BR" sz="3000" b="1" i="0" u="none" strike="noStrike" cap="none" dirty="0">
                <a:solidFill>
                  <a:srgbClr val="FF161F"/>
                </a:solidFill>
                <a:highlight>
                  <a:srgbClr val="00FFFF"/>
                </a:highlight>
                <a:latin typeface="Poppins"/>
                <a:ea typeface="Poppins"/>
                <a:cs typeface="Poppins"/>
                <a:sym typeface="Poppins"/>
              </a:rPr>
              <a:t>professor</a:t>
            </a:r>
            <a:endParaRPr dirty="0">
              <a:highlight>
                <a:srgbClr val="00FFFF"/>
              </a:highlight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5_Title Only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Google Shape;1261;p1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126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2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2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5" name="Google Shape;1265;p12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66" name="Google Shape;1266;p12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67" name="Google Shape;1267;p12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68" name="Google Shape;1268;p12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69" name="Google Shape;1269;p12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0" name="Google Shape;1270;p12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1" name="Google Shape;1271;p12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2" name="Google Shape;1272;p12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3" name="Google Shape;1273;p12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4" name="Google Shape;1274;p12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5" name="Google Shape;1275;p12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6" name="Google Shape;1276;p12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77" name="Google Shape;1277;p12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2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4_Title Only"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" name="Google Shape;1280;p1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12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27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27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4" name="Google Shape;1284;p127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85" name="Google Shape;1285;p127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86" name="Google Shape;1286;p127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87" name="Google Shape;1287;p127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88" name="Google Shape;1288;p127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9" name="Google Shape;1289;p127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0" name="Google Shape;1290;p127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1" name="Google Shape;1291;p127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2" name="Google Shape;1292;p127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3" name="Google Shape;1293;p127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4" name="Google Shape;1294;p127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5" name="Google Shape;1295;p127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296" name="Google Shape;1296;p12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5_1. Conteudo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8" name="Google Shape;1298;p128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9" name="Google Shape;1299;p128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0" name="Google Shape;1300;p128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1" name="Google Shape;1301;p128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2" name="Google Shape;1302;p128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3" name="Google Shape;1303;p128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4" name="Google Shape;1304;p128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128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dirty="0"/>
          </a:p>
        </p:txBody>
      </p:sp>
      <p:sp>
        <p:nvSpPr>
          <p:cNvPr id="1306" name="Google Shape;1306;p12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7" name="Google Shape;1307;p12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8" name="Google Shape;1308;p128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9" name="Google Shape;1309;p128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10" name="Google Shape;1310;p12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311" name="Google Shape;1311;p1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2" name="Google Shape;1312;p128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3" name="Google Shape;1313;p128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4" name="Google Shape;1314;p1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1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28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128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8" name="Google Shape;1318;p128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319" name="Google Shape;1319;p128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320" name="Google Shape;1320;p128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128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2" name="Google Shape;1322;p128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128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128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5" name="Google Shape;1325;p128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6" name="Google Shape;1326;p1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28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8" name="Google Shape;1328;p128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329" name="Google Shape;1329;p128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0" name="Google Shape;1330;p128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331" name="Google Shape;1331;p128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28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28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28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28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28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7" name="Google Shape;1337;p128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128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9" name="Google Shape;1339;p128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340" name="Google Shape;1340;p128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341" name="Google Shape;1341;p128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128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128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4" name="Google Shape;1344;p128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28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4_1. Conteudo"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29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8" name="Google Shape;1348;p129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9" name="Google Shape;1349;p129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0" name="Google Shape;1350;p129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1" name="Google Shape;1351;p129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2" name="Google Shape;1352;p12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12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9_3. Conteudo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3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13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13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30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0" name="Google Shape;1360;p130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30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8_3. Conteudo"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3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13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13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131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8" name="Google Shape;1368;p131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9" name="Google Shape;1369;p13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13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7_3. Conteudo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3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13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13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13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7" name="Google Shape;1377;p13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8" name="Google Shape;1378;p13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9" name="Google Shape;1379;p13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80" name="Google Shape;1380;p13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13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6_3. Conteudo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3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13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3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133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8" name="Google Shape;1388;p133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9" name="Google Shape;1389;p133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133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1" name="Google Shape;1391;p13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13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5_3. Conteudo"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3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13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13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134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399" name="Google Shape;1399;p134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0" name="Google Shape;1400;p134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1" name="Google Shape;1401;p13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3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4_3. Conteudo"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13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3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13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35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9" name="Google Shape;1409;p135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0" name="Google Shape;1410;p13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13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11_Layout Personalizado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6" name="Google Shape;1816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michoca"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8" name="Google Shape;1818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4" name="Google Shape;1824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5" name="Google Shape;1825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182"/>
          <p:cNvCxnSpPr>
            <a:stCxn id="1841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3" name="Google Shape;1843;p182"/>
          <p:cNvCxnSpPr>
            <a:endCxn id="1822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4" name="Google Shape;1844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182"/>
          <p:cNvCxnSpPr>
            <a:stCxn id="1844" idx="4"/>
            <a:endCxn id="1820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6" name="Google Shape;1846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182"/>
          <p:cNvCxnSpPr>
            <a:stCxn id="1846" idx="3"/>
            <a:endCxn id="1821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8" name="Google Shape;1848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9" name="Google Shape;1849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4" name="Google Shape;1854;p182"/>
          <p:cNvCxnSpPr>
            <a:stCxn id="1853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5" name="Google Shape;1855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7" name="Google Shape;1857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10_Layout Personalizado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7" name="Google Shape;1867;p18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8" name="Google Shape;1868;p183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869" name="Google Shape;1869;p18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0" name="Google Shape;1870;p18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71" name="Google Shape;1871;p18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2" name="Google Shape;1872;p18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3" name="Google Shape;1873;p183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874" name="Google Shape;1874;p183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5" name="Google Shape;1875;p183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76" name="Google Shape;1876;p18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4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7" name="Google Shape;1877;p183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878" name="Google Shape;1878;p183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183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183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7_1. Conteudo"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6" name="Google Shape;1886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7" name="Google Shape;1887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7" name="Google Shape;1897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8" name="Google Shape;1898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9" name="Google Shape;1899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0" name="Google Shape;1900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1" name="Google Shape;1901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5" name="Google Shape;1905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6" name="Google Shape;1906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7" name="Google Shape;1907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9" name="Google Shape;1909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2" name="Google Shape;1912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3" name="Google Shape;1913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5" name="Google Shape;1915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6" name="Google Shape;1916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8" name="Google Shape;1918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4" name="Google Shape;1924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6" name="Google Shape;1926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7" name="Google Shape;1927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8" name="Google Shape;1928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1" name="Google Shape;1931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6_3. Conteudo"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5_3. Conteudo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8" name="Google Shape;1948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6_1. Conteudo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2" name="Google Shape;1952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4_3. Conteudo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3_3. Conteudo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8" name="Google Shape;1968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73" name="Google Shape;1973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4" name="Google Shape;1974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2_3. Conteudo"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6" name="Google Shape;1986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1_3. Conteudo"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1997" name="Google Shape;1997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0_3. Conteudo"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6_Title Only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9" name="Google Shape;2009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4" name="Google Shape;2014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5" name="Google Shape;2015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16" name="Google Shape;2016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17" name="Google Shape;2017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8" name="Google Shape;2018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2025" name="Google Shape;2025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5_Título e Conteúdo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1" name="Google Shape;2031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  <p:sldLayoutId id="2147483712" r:id="rId62"/>
    <p:sldLayoutId id="2147483713" r:id="rId63"/>
    <p:sldLayoutId id="2147483714" r:id="rId64"/>
    <p:sldLayoutId id="2147483715" r:id="rId65"/>
    <p:sldLayoutId id="2147483716" r:id="rId66"/>
    <p:sldLayoutId id="2147483717" r:id="rId67"/>
    <p:sldLayoutId id="2147483718" r:id="rId68"/>
    <p:sldLayoutId id="2147483719" r:id="rId69"/>
    <p:sldLayoutId id="2147483720" r:id="rId70"/>
    <p:sldLayoutId id="2147483740" r:id="rId71"/>
    <p:sldLayoutId id="2147483764" r:id="rId72"/>
    <p:sldLayoutId id="2147483765" r:id="rId73"/>
    <p:sldLayoutId id="2147483766" r:id="rId74"/>
    <p:sldLayoutId id="2147483767" r:id="rId75"/>
    <p:sldLayoutId id="2147483768" r:id="rId76"/>
    <p:sldLayoutId id="2147483769" r:id="rId77"/>
    <p:sldLayoutId id="2147483770" r:id="rId78"/>
    <p:sldLayoutId id="2147483771" r:id="rId79"/>
    <p:sldLayoutId id="2147483772" r:id="rId80"/>
    <p:sldLayoutId id="2147483773" r:id="rId81"/>
    <p:sldLayoutId id="2147483774" r:id="rId82"/>
    <p:sldLayoutId id="2147483775" r:id="rId83"/>
    <p:sldLayoutId id="2147483776" r:id="rId84"/>
    <p:sldLayoutId id="2147483777" r:id="rId85"/>
    <p:sldLayoutId id="2147483778" r:id="rId86"/>
    <p:sldLayoutId id="2147483779" r:id="rId87"/>
    <p:sldLayoutId id="2147483824" r:id="rId88"/>
    <p:sldLayoutId id="2147483825" r:id="rId89"/>
    <p:sldLayoutId id="2147483826" r:id="rId90"/>
    <p:sldLayoutId id="2147483828" r:id="rId91"/>
    <p:sldLayoutId id="2147483829" r:id="rId92"/>
    <p:sldLayoutId id="2147483830" r:id="rId93"/>
    <p:sldLayoutId id="2147483831" r:id="rId94"/>
    <p:sldLayoutId id="2147483832" r:id="rId95"/>
    <p:sldLayoutId id="2147483833" r:id="rId96"/>
    <p:sldLayoutId id="2147483834" r:id="rId97"/>
    <p:sldLayoutId id="2147483835" r:id="rId98"/>
    <p:sldLayoutId id="2147483836" r:id="rId99"/>
    <p:sldLayoutId id="2147483837" r:id="rId100"/>
    <p:sldLayoutId id="2147483838" r:id="rId10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RYlWPrsMY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camp.com/pt/tutorial/loops-python-tutoria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5.xml"/><Relationship Id="rId5" Type="http://schemas.openxmlformats.org/officeDocument/2006/relationships/hyperlink" Target="https://docs.python.org/pt-br/3/tutorial/controlflow.html" TargetMode="External"/><Relationship Id="rId4" Type="http://schemas.openxmlformats.org/officeDocument/2006/relationships/hyperlink" Target="https://pythonacademy.com.br/blog/estruturas-de-repeticao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9" name="Google Shape;3369;p311"/>
          <p:cNvSpPr txBox="1"/>
          <p:nvPr/>
        </p:nvSpPr>
        <p:spPr>
          <a:xfrm>
            <a:off x="864820" y="3538710"/>
            <a:ext cx="6814800" cy="401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1" name="Google Shape;3371;p311"/>
          <p:cNvSpPr txBox="1"/>
          <p:nvPr/>
        </p:nvSpPr>
        <p:spPr>
          <a:xfrm>
            <a:off x="295986" y="2845732"/>
            <a:ext cx="7952468" cy="401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3: Programando rodadas e pontuação no projeto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" name="Google Shape;2720;p265">
            <a:extLst>
              <a:ext uri="{FF2B5EF4-FFF2-40B4-BE49-F238E27FC236}">
                <a16:creationId xmlns:a16="http://schemas.microsoft.com/office/drawing/2014/main" id="{0EC021C5-81B9-E456-1EED-C01B7BFFB5A6}"/>
              </a:ext>
            </a:extLst>
          </p:cNvPr>
          <p:cNvSpPr txBox="1"/>
          <p:nvPr/>
        </p:nvSpPr>
        <p:spPr>
          <a:xfrm>
            <a:off x="864820" y="2026072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desafios no terminal</a:t>
            </a:r>
            <a:endParaRPr sz="28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22;p265">
            <a:extLst>
              <a:ext uri="{FF2B5EF4-FFF2-40B4-BE49-F238E27FC236}">
                <a16:creationId xmlns:a16="http://schemas.microsoft.com/office/drawing/2014/main" id="{02175DBB-BF35-C9CB-C90F-08C5E77DBC2B}"/>
              </a:ext>
            </a:extLst>
          </p:cNvPr>
          <p:cNvSpPr txBox="1"/>
          <p:nvPr/>
        </p:nvSpPr>
        <p:spPr>
          <a:xfrm>
            <a:off x="785407" y="1238583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0" name="Google Shape;2730;p266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2731" name="Google Shape;2731;p266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2" name="Google Shape;2732;p266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3" name="Google Shape;2733;p266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4" name="Google Shape;2734;p266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5" name="Google Shape;2735;p266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36" name="Google Shape;2736;p266"/>
          <p:cNvGrpSpPr/>
          <p:nvPr/>
        </p:nvGrpSpPr>
        <p:grpSpPr>
          <a:xfrm>
            <a:off x="587322" y="1657552"/>
            <a:ext cx="10504795" cy="4353604"/>
            <a:chOff x="880938" y="2486202"/>
            <a:chExt cx="15756404" cy="6530079"/>
          </a:xfrm>
        </p:grpSpPr>
        <p:sp>
          <p:nvSpPr>
            <p:cNvPr id="2737" name="Google Shape;2737;p266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8" name="Google Shape;2738;p266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266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266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266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2" name="Google Shape;2742;p266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3" name="Google Shape;2743;p266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4" name="Google Shape;2744;p266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5" name="Google Shape;2745;p266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6" name="Google Shape;2746;p266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7" name="Google Shape;2747;p266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8" name="Google Shape;2748;p266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9" name="Google Shape;2749;p266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0" name="Google Shape;2750;p266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2" name="Google Shape;2752;p266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 dirty="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53" name="Google Shape;2753;p266"/>
          <p:cNvSpPr/>
          <p:nvPr/>
        </p:nvSpPr>
        <p:spPr>
          <a:xfrm>
            <a:off x="10447149" y="3771622"/>
            <a:ext cx="572400" cy="5724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4" name="Google Shape;2754;p266"/>
          <p:cNvCxnSpPr>
            <a:cxnSpLocks/>
            <a:stCxn id="2753" idx="2"/>
            <a:endCxn id="6" idx="3"/>
          </p:cNvCxnSpPr>
          <p:nvPr/>
        </p:nvCxnSpPr>
        <p:spPr>
          <a:xfrm flipH="1">
            <a:off x="9513599" y="4057822"/>
            <a:ext cx="933550" cy="27451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5" name="Google Shape;2755;p266"/>
          <p:cNvSpPr txBox="1"/>
          <p:nvPr/>
        </p:nvSpPr>
        <p:spPr>
          <a:xfrm>
            <a:off x="10238542" y="4377015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6" name="Google Shape;2756;p2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301205" y="3618437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757" name="Google Shape;2757;p266"/>
          <p:cNvSpPr txBox="1"/>
          <p:nvPr/>
        </p:nvSpPr>
        <p:spPr>
          <a:xfrm>
            <a:off x="10238542" y="4654410"/>
            <a:ext cx="1750126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7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700" dirty="0">
                <a:latin typeface="Poppins"/>
                <a:ea typeface="Poppins"/>
                <a:cs typeface="Poppins"/>
                <a:sym typeface="Poppins"/>
              </a:rPr>
              <a:t> e desafios no terminal</a:t>
            </a:r>
            <a:endParaRPr sz="1700" dirty="0"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58" name="Google Shape;2758;p266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9" name="Google Shape;2759;p266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13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60" name="Google Shape;2760;p266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1" name="Google Shape;2761;p266"/>
          <p:cNvSpPr txBox="1"/>
          <p:nvPr/>
        </p:nvSpPr>
        <p:spPr>
          <a:xfrm>
            <a:off x="2141191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  <p:sp>
        <p:nvSpPr>
          <p:cNvPr id="2" name="Google Shape;2732;p266">
            <a:extLst>
              <a:ext uri="{FF2B5EF4-FFF2-40B4-BE49-F238E27FC236}">
                <a16:creationId xmlns:a16="http://schemas.microsoft.com/office/drawing/2014/main" id="{A9EC2E08-291D-75F2-FB5D-7366B0F13932}"/>
              </a:ext>
            </a:extLst>
          </p:cNvPr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733;p266">
            <a:extLst>
              <a:ext uri="{FF2B5EF4-FFF2-40B4-BE49-F238E27FC236}">
                <a16:creationId xmlns:a16="http://schemas.microsoft.com/office/drawing/2014/main" id="{263B21B0-E991-5CEB-2E50-08A0745A79A7}"/>
              </a:ext>
            </a:extLst>
          </p:cNvPr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734;p266">
            <a:extLst>
              <a:ext uri="{FF2B5EF4-FFF2-40B4-BE49-F238E27FC236}">
                <a16:creationId xmlns:a16="http://schemas.microsoft.com/office/drawing/2014/main" id="{40FB4219-A263-C788-C74A-C26859AFE525}"/>
              </a:ext>
            </a:extLst>
          </p:cNvPr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735;p266">
            <a:extLst>
              <a:ext uri="{FF2B5EF4-FFF2-40B4-BE49-F238E27FC236}">
                <a16:creationId xmlns:a16="http://schemas.microsoft.com/office/drawing/2014/main" id="{5C60ACF9-7A0B-E6B5-333F-0FF34B738616}"/>
              </a:ext>
            </a:extLst>
          </p:cNvPr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36;p266">
            <a:extLst>
              <a:ext uri="{FF2B5EF4-FFF2-40B4-BE49-F238E27FC236}">
                <a16:creationId xmlns:a16="http://schemas.microsoft.com/office/drawing/2014/main" id="{2CDAD20D-0102-1049-EB24-B3BA6514C21B}"/>
              </a:ext>
            </a:extLst>
          </p:cNvPr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754;p266">
            <a:extLst>
              <a:ext uri="{FF2B5EF4-FFF2-40B4-BE49-F238E27FC236}">
                <a16:creationId xmlns:a16="http://schemas.microsoft.com/office/drawing/2014/main" id="{3DD5CBE1-49AA-BFBC-9A5D-18A9D74354FF}"/>
              </a:ext>
            </a:extLst>
          </p:cNvPr>
          <p:cNvSpPr/>
          <p:nvPr/>
        </p:nvSpPr>
        <p:spPr>
          <a:xfrm>
            <a:off x="5896707" y="534862"/>
            <a:ext cx="536100" cy="5361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21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" name="Google Shape;2755;p266">
            <a:extLst>
              <a:ext uri="{FF2B5EF4-FFF2-40B4-BE49-F238E27FC236}">
                <a16:creationId xmlns:a16="http://schemas.microsoft.com/office/drawing/2014/main" id="{287591EC-4E48-CB72-7774-E1A0DC06D226}"/>
              </a:ext>
            </a:extLst>
          </p:cNvPr>
          <p:cNvCxnSpPr>
            <a:cxnSpLocks/>
            <a:stCxn id="7" idx="4"/>
            <a:endCxn id="3" idx="3"/>
          </p:cNvCxnSpPr>
          <p:nvPr/>
        </p:nvCxnSpPr>
        <p:spPr>
          <a:xfrm>
            <a:off x="6164757" y="1070962"/>
            <a:ext cx="4549" cy="43202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2756;p266">
            <a:extLst>
              <a:ext uri="{FF2B5EF4-FFF2-40B4-BE49-F238E27FC236}">
                <a16:creationId xmlns:a16="http://schemas.microsoft.com/office/drawing/2014/main" id="{B1D1ED8D-6B62-5C88-9984-7E613D8DC8C3}"/>
              </a:ext>
            </a:extLst>
          </p:cNvPr>
          <p:cNvSpPr/>
          <p:nvPr/>
        </p:nvSpPr>
        <p:spPr>
          <a:xfrm>
            <a:off x="5558708" y="3770029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19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" name="Google Shape;2757;p266">
            <a:extLst>
              <a:ext uri="{FF2B5EF4-FFF2-40B4-BE49-F238E27FC236}">
                <a16:creationId xmlns:a16="http://schemas.microsoft.com/office/drawing/2014/main" id="{367D23F1-B661-7B72-46AC-083439B307F7}"/>
              </a:ext>
            </a:extLst>
          </p:cNvPr>
          <p:cNvCxnSpPr>
            <a:cxnSpLocks/>
            <a:endCxn id="2741" idx="5"/>
          </p:cNvCxnSpPr>
          <p:nvPr/>
        </p:nvCxnSpPr>
        <p:spPr>
          <a:xfrm flipH="1" flipV="1">
            <a:off x="4613002" y="3770896"/>
            <a:ext cx="945706" cy="3217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" name="Google Shape;2760;p266">
            <a:extLst>
              <a:ext uri="{FF2B5EF4-FFF2-40B4-BE49-F238E27FC236}">
                <a16:creationId xmlns:a16="http://schemas.microsoft.com/office/drawing/2014/main" id="{C4313F1E-71F9-A692-8EE3-E5B3E8E76D1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20306579">
            <a:off x="5565855" y="3613010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2762;p266">
            <a:extLst>
              <a:ext uri="{FF2B5EF4-FFF2-40B4-BE49-F238E27FC236}">
                <a16:creationId xmlns:a16="http://schemas.microsoft.com/office/drawing/2014/main" id="{6CD12BF9-99D6-52A6-2429-2174DAA63599}"/>
              </a:ext>
            </a:extLst>
          </p:cNvPr>
          <p:cNvSpPr txBox="1"/>
          <p:nvPr/>
        </p:nvSpPr>
        <p:spPr>
          <a:xfrm>
            <a:off x="4020832" y="4217738"/>
            <a:ext cx="1868148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Manipulação de </a:t>
            </a:r>
            <a:r>
              <a:rPr lang="pt-BR" sz="17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strings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Google Shape;2767;p266">
            <a:extLst>
              <a:ext uri="{FF2B5EF4-FFF2-40B4-BE49-F238E27FC236}">
                <a16:creationId xmlns:a16="http://schemas.microsoft.com/office/drawing/2014/main" id="{DB3DAE2E-FD40-650D-E6B1-FB1C849156FD}"/>
              </a:ext>
            </a:extLst>
          </p:cNvPr>
          <p:cNvSpPr/>
          <p:nvPr/>
        </p:nvSpPr>
        <p:spPr>
          <a:xfrm>
            <a:off x="6588573" y="5837985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2768;p266">
            <a:extLst>
              <a:ext uri="{FF2B5EF4-FFF2-40B4-BE49-F238E27FC236}">
                <a16:creationId xmlns:a16="http://schemas.microsoft.com/office/drawing/2014/main" id="{379FE77C-D483-205E-198A-6DC2C93E773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6470591" y="567044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769;p266">
            <a:extLst>
              <a:ext uri="{FF2B5EF4-FFF2-40B4-BE49-F238E27FC236}">
                <a16:creationId xmlns:a16="http://schemas.microsoft.com/office/drawing/2014/main" id="{3AA10DFA-5754-DF66-B2E0-A3230D8F1AF7}"/>
              </a:ext>
            </a:extLst>
          </p:cNvPr>
          <p:cNvSpPr txBox="1"/>
          <p:nvPr/>
        </p:nvSpPr>
        <p:spPr>
          <a:xfrm>
            <a:off x="4601560" y="5886497"/>
            <a:ext cx="1765515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" name="Google Shape;2770;p266">
            <a:extLst>
              <a:ext uri="{FF2B5EF4-FFF2-40B4-BE49-F238E27FC236}">
                <a16:creationId xmlns:a16="http://schemas.microsoft.com/office/drawing/2014/main" id="{09B09423-47FD-55A1-7ED6-81F1E8464E7D}"/>
              </a:ext>
            </a:extLst>
          </p:cNvPr>
          <p:cNvSpPr/>
          <p:nvPr/>
        </p:nvSpPr>
        <p:spPr>
          <a:xfrm>
            <a:off x="8235988" y="2388927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771;p266">
            <a:extLst>
              <a:ext uri="{FF2B5EF4-FFF2-40B4-BE49-F238E27FC236}">
                <a16:creationId xmlns:a16="http://schemas.microsoft.com/office/drawing/2014/main" id="{ADB7B5A0-7BEB-48C0-2510-3C50E2FC479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8118006" y="222138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772;p266">
            <a:extLst>
              <a:ext uri="{FF2B5EF4-FFF2-40B4-BE49-F238E27FC236}">
                <a16:creationId xmlns:a16="http://schemas.microsoft.com/office/drawing/2014/main" id="{D48A4E89-03B2-0E4A-BB51-3A6D73E1E53E}"/>
              </a:ext>
            </a:extLst>
          </p:cNvPr>
          <p:cNvSpPr txBox="1"/>
          <p:nvPr/>
        </p:nvSpPr>
        <p:spPr>
          <a:xfrm>
            <a:off x="8902070" y="2354240"/>
            <a:ext cx="2541686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 e cadastros em memória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2" name="Google Shape;2773;p266">
            <a:extLst>
              <a:ext uri="{FF2B5EF4-FFF2-40B4-BE49-F238E27FC236}">
                <a16:creationId xmlns:a16="http://schemas.microsoft.com/office/drawing/2014/main" id="{69F0E650-AE39-61CF-06CC-6317530B4CDC}"/>
              </a:ext>
            </a:extLst>
          </p:cNvPr>
          <p:cNvCxnSpPr>
            <a:cxnSpLocks/>
            <a:stCxn id="5" idx="1"/>
            <a:endCxn id="16" idx="6"/>
          </p:cNvCxnSpPr>
          <p:nvPr/>
        </p:nvCxnSpPr>
        <p:spPr>
          <a:xfrm flipH="1">
            <a:off x="7160973" y="5998828"/>
            <a:ext cx="968680" cy="1253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773;p266">
            <a:extLst>
              <a:ext uri="{FF2B5EF4-FFF2-40B4-BE49-F238E27FC236}">
                <a16:creationId xmlns:a16="http://schemas.microsoft.com/office/drawing/2014/main" id="{DFC60721-B88D-99F1-4A45-CD762AA9610B}"/>
              </a:ext>
            </a:extLst>
          </p:cNvPr>
          <p:cNvCxnSpPr>
            <a:cxnSpLocks/>
            <a:stCxn id="19" idx="3"/>
            <a:endCxn id="2746" idx="5"/>
          </p:cNvCxnSpPr>
          <p:nvPr/>
        </p:nvCxnSpPr>
        <p:spPr>
          <a:xfrm flipH="1">
            <a:off x="7662413" y="2877501"/>
            <a:ext cx="657401" cy="54381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756;p266">
            <a:extLst>
              <a:ext uri="{FF2B5EF4-FFF2-40B4-BE49-F238E27FC236}">
                <a16:creationId xmlns:a16="http://schemas.microsoft.com/office/drawing/2014/main" id="{7DDE1BE8-9D04-1174-F271-3F430BB31982}"/>
              </a:ext>
            </a:extLst>
          </p:cNvPr>
          <p:cNvSpPr/>
          <p:nvPr/>
        </p:nvSpPr>
        <p:spPr>
          <a:xfrm>
            <a:off x="2321095" y="3542899"/>
            <a:ext cx="572400" cy="572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20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757;p266">
            <a:extLst>
              <a:ext uri="{FF2B5EF4-FFF2-40B4-BE49-F238E27FC236}">
                <a16:creationId xmlns:a16="http://schemas.microsoft.com/office/drawing/2014/main" id="{11C0DCF4-8039-431E-2231-8AE729921437}"/>
              </a:ext>
            </a:extLst>
          </p:cNvPr>
          <p:cNvCxnSpPr>
            <a:cxnSpLocks/>
            <a:stCxn id="28" idx="4"/>
            <a:endCxn id="2739" idx="0"/>
          </p:cNvCxnSpPr>
          <p:nvPr/>
        </p:nvCxnSpPr>
        <p:spPr>
          <a:xfrm flipH="1">
            <a:off x="2606662" y="4115299"/>
            <a:ext cx="633" cy="129084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0" name="Google Shape;2760;p266">
            <a:extLst>
              <a:ext uri="{FF2B5EF4-FFF2-40B4-BE49-F238E27FC236}">
                <a16:creationId xmlns:a16="http://schemas.microsoft.com/office/drawing/2014/main" id="{70B2B0FB-3C55-0F9A-4F81-C6A50F82359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2203113" y="337535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2762;p266">
            <a:extLst>
              <a:ext uri="{FF2B5EF4-FFF2-40B4-BE49-F238E27FC236}">
                <a16:creationId xmlns:a16="http://schemas.microsoft.com/office/drawing/2014/main" id="{A27572CF-C6C8-EB47-A54C-DF7316568976}"/>
              </a:ext>
            </a:extLst>
          </p:cNvPr>
          <p:cNvSpPr txBox="1"/>
          <p:nvPr/>
        </p:nvSpPr>
        <p:spPr>
          <a:xfrm>
            <a:off x="281642" y="3424612"/>
            <a:ext cx="1868148" cy="84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Documentação, testes unitários e depuração</a:t>
            </a:r>
            <a:endParaRPr sz="17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" name="Google Shape;2771;p266">
            <a:extLst>
              <a:ext uri="{FF2B5EF4-FFF2-40B4-BE49-F238E27FC236}">
                <a16:creationId xmlns:a16="http://schemas.microsoft.com/office/drawing/2014/main" id="{5331BDC3-6F08-4DAF-A13F-63ECD2471F9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2744266">
            <a:off x="5773376" y="383053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2762;p266">
            <a:extLst>
              <a:ext uri="{FF2B5EF4-FFF2-40B4-BE49-F238E27FC236}">
                <a16:creationId xmlns:a16="http://schemas.microsoft.com/office/drawing/2014/main" id="{95064548-B3CF-2FD7-5655-732D8B575323}"/>
              </a:ext>
            </a:extLst>
          </p:cNvPr>
          <p:cNvSpPr txBox="1"/>
          <p:nvPr/>
        </p:nvSpPr>
        <p:spPr>
          <a:xfrm>
            <a:off x="6508097" y="504654"/>
            <a:ext cx="2338863" cy="58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Programando com menu no terminal</a:t>
            </a:r>
          </a:p>
        </p:txBody>
      </p:sp>
    </p:spTree>
    <p:extLst>
      <p:ext uri="{BB962C8B-B14F-4D97-AF65-F5344CB8AC3E}">
        <p14:creationId xmlns:p14="http://schemas.microsoft.com/office/powerpoint/2010/main" val="477761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4" name="Google Shape;3414;p313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7"/>
          <a:stretch/>
        </p:blipFill>
        <p:spPr>
          <a:xfrm rot="-573653">
            <a:off x="5678584" y="2638763"/>
            <a:ext cx="8603296" cy="4647677"/>
          </a:xfrm>
          <a:prstGeom prst="rect">
            <a:avLst/>
          </a:prstGeom>
          <a:noFill/>
          <a:ln>
            <a:noFill/>
          </a:ln>
        </p:spPr>
      </p:pic>
      <p:sp>
        <p:nvSpPr>
          <p:cNvPr id="3415" name="Google Shape;3415;p313"/>
          <p:cNvSpPr/>
          <p:nvPr/>
        </p:nvSpPr>
        <p:spPr>
          <a:xfrm rot="-3438164">
            <a:off x="10617304" y="5326466"/>
            <a:ext cx="408182" cy="408182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6" name="Google Shape;3416;p313"/>
          <p:cNvSpPr/>
          <p:nvPr/>
        </p:nvSpPr>
        <p:spPr>
          <a:xfrm>
            <a:off x="9084502" y="3402930"/>
            <a:ext cx="1317300" cy="13173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sz="42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7" name="Google Shape;3417;p313"/>
          <p:cNvCxnSpPr/>
          <p:nvPr/>
        </p:nvCxnSpPr>
        <p:spPr>
          <a:xfrm>
            <a:off x="10016903" y="4528943"/>
            <a:ext cx="634200" cy="900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18" name="Google Shape;3418;p313"/>
          <p:cNvSpPr txBox="1"/>
          <p:nvPr/>
        </p:nvSpPr>
        <p:spPr>
          <a:xfrm>
            <a:off x="3331829" y="5389422"/>
            <a:ext cx="4536002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SISANO1C1B4S24A3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4" name="Google Shape;3424;p313"/>
          <p:cNvSpPr txBox="1"/>
          <p:nvPr/>
        </p:nvSpPr>
        <p:spPr>
          <a:xfrm>
            <a:off x="3331828" y="4460174"/>
            <a:ext cx="4783471" cy="809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3: Programando rodadas e pontuação no projeto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74;p267">
            <a:extLst>
              <a:ext uri="{FF2B5EF4-FFF2-40B4-BE49-F238E27FC236}">
                <a16:creationId xmlns:a16="http://schemas.microsoft.com/office/drawing/2014/main" id="{92CD7E7F-66CD-1F1D-79D2-3107491D113F}"/>
              </a:ext>
            </a:extLst>
          </p:cNvPr>
          <p:cNvSpPr txBox="1"/>
          <p:nvPr/>
        </p:nvSpPr>
        <p:spPr>
          <a:xfrm>
            <a:off x="3331829" y="3203825"/>
            <a:ext cx="4351016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 e desafios no terminal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2775;p267">
            <a:extLst>
              <a:ext uri="{FF2B5EF4-FFF2-40B4-BE49-F238E27FC236}">
                <a16:creationId xmlns:a16="http://schemas.microsoft.com/office/drawing/2014/main" id="{F8453179-A603-AB55-2874-90E8EAC74EBB}"/>
              </a:ext>
            </a:extLst>
          </p:cNvPr>
          <p:cNvSpPr txBox="1"/>
          <p:nvPr/>
        </p:nvSpPr>
        <p:spPr>
          <a:xfrm>
            <a:off x="3331829" y="2792959"/>
            <a:ext cx="2582980" cy="43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2758;p266">
            <a:extLst>
              <a:ext uri="{FF2B5EF4-FFF2-40B4-BE49-F238E27FC236}">
                <a16:creationId xmlns:a16="http://schemas.microsoft.com/office/drawing/2014/main" id="{274C4597-E60C-E6FD-0834-34F66834AC9F}"/>
              </a:ext>
            </a:extLst>
          </p:cNvPr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759;p266">
            <a:extLst>
              <a:ext uri="{FF2B5EF4-FFF2-40B4-BE49-F238E27FC236}">
                <a16:creationId xmlns:a16="http://schemas.microsoft.com/office/drawing/2014/main" id="{FB81A6FB-AC85-21FE-ABC4-AE43D7E1D158}"/>
              </a:ext>
            </a:extLst>
          </p:cNvPr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1300" b="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Google Shape;2760;p266">
            <a:extLst>
              <a:ext uri="{FF2B5EF4-FFF2-40B4-BE49-F238E27FC236}">
                <a16:creationId xmlns:a16="http://schemas.microsoft.com/office/drawing/2014/main" id="{7C248430-618D-B74B-5CAB-D9A32E00182B}"/>
              </a:ext>
            </a:extLst>
          </p:cNvPr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2761;p266">
            <a:extLst>
              <a:ext uri="{FF2B5EF4-FFF2-40B4-BE49-F238E27FC236}">
                <a16:creationId xmlns:a16="http://schemas.microsoft.com/office/drawing/2014/main" id="{C291CB37-C5A9-0434-13AE-2A5E39794114}"/>
              </a:ext>
            </a:extLst>
          </p:cNvPr>
          <p:cNvSpPr txBox="1"/>
          <p:nvPr/>
        </p:nvSpPr>
        <p:spPr>
          <a:xfrm>
            <a:off x="2141191" y="891153"/>
            <a:ext cx="2435700" cy="1030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4" name="Google Shape;3434;p31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423844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Implementar no projeto o fluxo principal com rodadas, respostas e pontuação.</a:t>
            </a:r>
            <a:endParaRPr dirty="0"/>
          </a:p>
        </p:txBody>
      </p:sp>
      <p:sp>
        <p:nvSpPr>
          <p:cNvPr id="3435" name="Google Shape;3435;p31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Aplicar repetição, condicionais, funções e vetores simples na construção de programas interativos em terminal.</a:t>
            </a:r>
            <a:endParaRPr dirty="0"/>
          </a:p>
        </p:txBody>
      </p:sp>
      <p:sp>
        <p:nvSpPr>
          <p:cNvPr id="3436" name="Google Shape;3436;p314"/>
          <p:cNvSpPr txBox="1">
            <a:spLocks noGrp="1"/>
          </p:cNvSpPr>
          <p:nvPr>
            <p:ph type="body" idx="3"/>
          </p:nvPr>
        </p:nvSpPr>
        <p:spPr>
          <a:xfrm>
            <a:off x="7467375" y="3278707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Praticar o autocontrole ao revisar regras do jogo ou simulador, mantendo atenção ao fluxo e à coerência das interações.</a:t>
            </a:r>
            <a:endParaRPr dirty="0"/>
          </a:p>
        </p:txBody>
      </p:sp>
      <p:sp>
        <p:nvSpPr>
          <p:cNvPr id="3437" name="Google Shape;3437;p314"/>
          <p:cNvSpPr txBox="1">
            <a:spLocks noGrp="1"/>
          </p:cNvSpPr>
          <p:nvPr>
            <p:ph type="body" idx="4"/>
          </p:nvPr>
        </p:nvSpPr>
        <p:spPr>
          <a:xfrm>
            <a:off x="1467908" y="3278707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>
                <a:solidFill>
                  <a:schemeClr val="dk1"/>
                </a:solidFill>
              </a:rPr>
              <a:t>Roteiro de atividade prática.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Computador com internet.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3" name="Google Shape;3443;p315"/>
          <p:cNvSpPr txBox="1">
            <a:spLocks noGrp="1"/>
          </p:cNvSpPr>
          <p:nvPr>
            <p:ph type="body" idx="1"/>
          </p:nvPr>
        </p:nvSpPr>
        <p:spPr>
          <a:xfrm>
            <a:off x="3404916" y="297294"/>
            <a:ext cx="85122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Três perguntas, uma de cada vez</a:t>
            </a:r>
            <a:endParaRPr sz="3200" dirty="0"/>
          </a:p>
        </p:txBody>
      </p:sp>
      <p:sp>
        <p:nvSpPr>
          <p:cNvPr id="3444" name="Google Shape;3444;p315"/>
          <p:cNvSpPr txBox="1">
            <a:spLocks noGrp="1"/>
          </p:cNvSpPr>
          <p:nvPr>
            <p:ph type="body" idx="2"/>
          </p:nvPr>
        </p:nvSpPr>
        <p:spPr>
          <a:xfrm>
            <a:off x="3407709" y="991875"/>
            <a:ext cx="7905814" cy="1581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Um </a:t>
            </a:r>
            <a:r>
              <a:rPr lang="pt-BR" sz="20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interativo ainda segue as 4 etapas: perguntar, receber, verificar e responder. Na aula anterior, o while ajudava quando as tentativas podiam mudar. No </a:t>
            </a:r>
            <a:r>
              <a:rPr lang="pt-BR" sz="2000" i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hoje, serão 3 perguntas já definidas: sabemos de antemão quantas vezes o fluxo vai se repetir.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18D3698-39E4-18E3-098B-8C8DD8C7ADFB}"/>
              </a:ext>
            </a:extLst>
          </p:cNvPr>
          <p:cNvSpPr txBox="1"/>
          <p:nvPr/>
        </p:nvSpPr>
        <p:spPr>
          <a:xfrm>
            <a:off x="3698816" y="2693313"/>
            <a:ext cx="78113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Se o programa guarda as 3 perguntas numa lista e as 3 respostas certas em outra, como ele sabe qual resposta pertence a cada pergunta?</a:t>
            </a:r>
          </a:p>
        </p:txBody>
      </p:sp>
      <p:sp>
        <p:nvSpPr>
          <p:cNvPr id="5" name="Triângulo 7">
            <a:extLst>
              <a:ext uri="{FF2B5EF4-FFF2-40B4-BE49-F238E27FC236}">
                <a16:creationId xmlns:a16="http://schemas.microsoft.com/office/drawing/2014/main" id="{F408E9A0-855F-54A8-76B6-F0696CB0F4B0}"/>
              </a:ext>
            </a:extLst>
          </p:cNvPr>
          <p:cNvSpPr/>
          <p:nvPr/>
        </p:nvSpPr>
        <p:spPr>
          <a:xfrm rot="5400000">
            <a:off x="3498761" y="2777838"/>
            <a:ext cx="195903" cy="156870"/>
          </a:xfrm>
          <a:prstGeom prst="triangl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622" dirty="0"/>
          </a:p>
        </p:txBody>
      </p:sp>
      <p:sp>
        <p:nvSpPr>
          <p:cNvPr id="7" name="Google Shape;857;p62">
            <a:extLst>
              <a:ext uri="{FF2B5EF4-FFF2-40B4-BE49-F238E27FC236}">
                <a16:creationId xmlns:a16="http://schemas.microsoft.com/office/drawing/2014/main" id="{ABD6E262-BA0D-861A-ED85-4D5297478098}"/>
              </a:ext>
            </a:extLst>
          </p:cNvPr>
          <p:cNvSpPr/>
          <p:nvPr/>
        </p:nvSpPr>
        <p:spPr>
          <a:xfrm>
            <a:off x="3518277" y="4638886"/>
            <a:ext cx="7510029" cy="1710617"/>
          </a:xfrm>
          <a:prstGeom prst="rect">
            <a:avLst/>
          </a:prstGeom>
          <a:solidFill>
            <a:srgbClr val="263B4B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</a:endParaRPr>
          </a:p>
        </p:txBody>
      </p:sp>
      <p:sp>
        <p:nvSpPr>
          <p:cNvPr id="9" name="Google Shape;858;p62">
            <a:extLst>
              <a:ext uri="{FF2B5EF4-FFF2-40B4-BE49-F238E27FC236}">
                <a16:creationId xmlns:a16="http://schemas.microsoft.com/office/drawing/2014/main" id="{73810D70-9877-9387-49A0-435F78C4CB2E}"/>
              </a:ext>
            </a:extLst>
          </p:cNvPr>
          <p:cNvSpPr txBox="1"/>
          <p:nvPr/>
        </p:nvSpPr>
        <p:spPr>
          <a:xfrm>
            <a:off x="4758176" y="4713047"/>
            <a:ext cx="1890015" cy="405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lnSpc>
                <a:spcPct val="107000"/>
              </a:lnSpc>
              <a:buSzPts val="2700"/>
            </a:pPr>
            <a:r>
              <a:rPr lang="en-US" sz="2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Tome nota</a:t>
            </a:r>
            <a:endParaRPr sz="2000" dirty="0"/>
          </a:p>
          <a:p>
            <a:pPr>
              <a:lnSpc>
                <a:spcPct val="107000"/>
              </a:lnSpc>
              <a:spcBef>
                <a:spcPts val="715"/>
              </a:spcBef>
              <a:buSzPts val="2700"/>
            </a:pPr>
            <a:endParaRPr sz="20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" name="Google Shape;859;p62">
            <a:extLst>
              <a:ext uri="{FF2B5EF4-FFF2-40B4-BE49-F238E27FC236}">
                <a16:creationId xmlns:a16="http://schemas.microsoft.com/office/drawing/2014/main" id="{BEC768A6-DC1B-17DC-FBF5-F6CC837DF0CE}"/>
              </a:ext>
            </a:extLst>
          </p:cNvPr>
          <p:cNvSpPr/>
          <p:nvPr/>
        </p:nvSpPr>
        <p:spPr>
          <a:xfrm>
            <a:off x="3683543" y="4585599"/>
            <a:ext cx="868725" cy="864592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1E72F11-5A1A-761A-8FDB-BDDF88BC5D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4466" y="4761537"/>
            <a:ext cx="548441" cy="503209"/>
          </a:xfrm>
          <a:prstGeom prst="rect">
            <a:avLst/>
          </a:prstGeom>
        </p:spPr>
      </p:pic>
      <p:sp>
        <p:nvSpPr>
          <p:cNvPr id="3449" name="Google Shape;3449;p315"/>
          <p:cNvSpPr txBox="1"/>
          <p:nvPr/>
        </p:nvSpPr>
        <p:spPr>
          <a:xfrm>
            <a:off x="4700722" y="5179370"/>
            <a:ext cx="6028200" cy="95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Quando duas listas caminham juntas, o mesmo índice liga o item de uma ao item correspondente da outra. A ordem precisa ser a mesma.</a:t>
            </a:r>
            <a:endParaRPr sz="18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4" name="Google Shape;3454;p316"/>
          <p:cNvSpPr txBox="1"/>
          <p:nvPr/>
        </p:nvSpPr>
        <p:spPr>
          <a:xfrm>
            <a:off x="3224681" y="2909657"/>
            <a:ext cx="3466800" cy="1038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412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Folha da atividade ou caderno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2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Caneta ou lápis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12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ct val="157000"/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Computador com Python instalado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5" name="Google Shape;3455;p316"/>
          <p:cNvSpPr txBox="1"/>
          <p:nvPr/>
        </p:nvSpPr>
        <p:spPr>
          <a:xfrm>
            <a:off x="7233920" y="2891100"/>
            <a:ext cx="3969380" cy="29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1200" tIns="30450" rIns="60950" bIns="30450" anchor="t" anchorCtr="0">
            <a:no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Abra o roteiro de atividade prática e siga o passo a passo.</a:t>
            </a: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Crie duas listas: uma com perguntas e outra com as respostas certas.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Crie a variável pontos antes do loop.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Escreva um loop for com range(3) para percorrer as perguntas.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Dentro do loop, peça a resposta com input, verifique com if e atualize pontos.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dk1"/>
              </a:buClr>
              <a:buSzPct val="100000"/>
              <a:buAutoNum type="arabicPeriod"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Depois do loop, mostre a pontuação final na tela.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7" name="Google Shape;3457;p316"/>
          <p:cNvSpPr txBox="1">
            <a:spLocks noGrp="1"/>
          </p:cNvSpPr>
          <p:nvPr>
            <p:ph type="body" idx="1"/>
          </p:nvPr>
        </p:nvSpPr>
        <p:spPr>
          <a:xfrm>
            <a:off x="2857923" y="635968"/>
            <a:ext cx="83454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200" b="1" i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 da feira de ciências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3187;p298">
            <a:extLst>
              <a:ext uri="{FF2B5EF4-FFF2-40B4-BE49-F238E27FC236}">
                <a16:creationId xmlns:a16="http://schemas.microsoft.com/office/drawing/2014/main" id="{0395E8DF-F3E9-A7AD-8E4D-093F6D40D91E}"/>
              </a:ext>
            </a:extLst>
          </p:cNvPr>
          <p:cNvSpPr txBox="1">
            <a:spLocks/>
          </p:cNvSpPr>
          <p:nvPr/>
        </p:nvSpPr>
        <p:spPr>
          <a:xfrm>
            <a:off x="885255" y="4204460"/>
            <a:ext cx="1585800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pt-BR" sz="1100" b="1" dirty="0">
                <a:latin typeface="Poppins"/>
                <a:ea typeface="Poppins"/>
                <a:cs typeface="Poppins"/>
                <a:sym typeface="Poppins"/>
              </a:rPr>
              <a:t>40 minutos</a:t>
            </a:r>
          </a:p>
        </p:txBody>
      </p:sp>
      <p:pic>
        <p:nvPicPr>
          <p:cNvPr id="5" name="Google Shape;3191;p298">
            <a:extLst>
              <a:ext uri="{FF2B5EF4-FFF2-40B4-BE49-F238E27FC236}">
                <a16:creationId xmlns:a16="http://schemas.microsoft.com/office/drawing/2014/main" id="{9B12921C-9983-DAD1-66F4-47FD9530406B}"/>
              </a:ext>
            </a:extLst>
          </p:cNvPr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0869" y="4150704"/>
            <a:ext cx="305151" cy="3051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oogle Shape;490;p35">
            <a:extLst>
              <a:ext uri="{FF2B5EF4-FFF2-40B4-BE49-F238E27FC236}">
                <a16:creationId xmlns:a16="http://schemas.microsoft.com/office/drawing/2014/main" id="{8D56FA10-0807-2E80-6D1A-CFBE07A5E687}"/>
              </a:ext>
            </a:extLst>
          </p:cNvPr>
          <p:cNvGrpSpPr/>
          <p:nvPr/>
        </p:nvGrpSpPr>
        <p:grpSpPr>
          <a:xfrm>
            <a:off x="450869" y="4577803"/>
            <a:ext cx="304639" cy="301465"/>
            <a:chOff x="6941066" y="2777637"/>
            <a:chExt cx="456958" cy="452197"/>
          </a:xfrm>
          <a:noFill/>
        </p:grpSpPr>
        <p:grpSp>
          <p:nvGrpSpPr>
            <p:cNvPr id="7" name="Google Shape;491;p35">
              <a:extLst>
                <a:ext uri="{FF2B5EF4-FFF2-40B4-BE49-F238E27FC236}">
                  <a16:creationId xmlns:a16="http://schemas.microsoft.com/office/drawing/2014/main" id="{F006FA95-3BAB-B267-81C6-1A4E302DC74B}"/>
                </a:ext>
              </a:extLst>
            </p:cNvPr>
            <p:cNvGrpSpPr/>
            <p:nvPr/>
          </p:nvGrpSpPr>
          <p:grpSpPr>
            <a:xfrm>
              <a:off x="7226665" y="3067995"/>
              <a:ext cx="171359" cy="161839"/>
              <a:chOff x="7226665" y="3067995"/>
              <a:chExt cx="171359" cy="161839"/>
            </a:xfrm>
            <a:grpFill/>
          </p:grpSpPr>
          <p:sp>
            <p:nvSpPr>
              <p:cNvPr id="18" name="Google Shape;492;p35">
                <a:extLst>
                  <a:ext uri="{FF2B5EF4-FFF2-40B4-BE49-F238E27FC236}">
                    <a16:creationId xmlns:a16="http://schemas.microsoft.com/office/drawing/2014/main" id="{5E29C4D3-23F8-CEB1-12F6-A9EE67D2588E}"/>
                  </a:ext>
                </a:extLst>
              </p:cNvPr>
              <p:cNvSpPr/>
              <p:nvPr/>
            </p:nvSpPr>
            <p:spPr>
              <a:xfrm>
                <a:off x="7269504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493;p35">
                <a:extLst>
                  <a:ext uri="{FF2B5EF4-FFF2-40B4-BE49-F238E27FC236}">
                    <a16:creationId xmlns:a16="http://schemas.microsoft.com/office/drawing/2014/main" id="{2E295BB0-F202-0C39-5294-7D04B229C53D}"/>
                  </a:ext>
                </a:extLst>
              </p:cNvPr>
              <p:cNvSpPr/>
              <p:nvPr/>
            </p:nvSpPr>
            <p:spPr>
              <a:xfrm>
                <a:off x="7226665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" name="Google Shape;494;p35">
              <a:extLst>
                <a:ext uri="{FF2B5EF4-FFF2-40B4-BE49-F238E27FC236}">
                  <a16:creationId xmlns:a16="http://schemas.microsoft.com/office/drawing/2014/main" id="{A3A575BE-4044-3A02-97CC-F92BD7BD4E34}"/>
                </a:ext>
              </a:extLst>
            </p:cNvPr>
            <p:cNvGrpSpPr/>
            <p:nvPr/>
          </p:nvGrpSpPr>
          <p:grpSpPr>
            <a:xfrm>
              <a:off x="6941066" y="3067995"/>
              <a:ext cx="171359" cy="161839"/>
              <a:chOff x="6941066" y="3067995"/>
              <a:chExt cx="171359" cy="161839"/>
            </a:xfrm>
            <a:grpFill/>
          </p:grpSpPr>
          <p:sp>
            <p:nvSpPr>
              <p:cNvPr id="16" name="Google Shape;495;p35">
                <a:extLst>
                  <a:ext uri="{FF2B5EF4-FFF2-40B4-BE49-F238E27FC236}">
                    <a16:creationId xmlns:a16="http://schemas.microsoft.com/office/drawing/2014/main" id="{9009E36F-C050-E2C2-19F7-DABA43255208}"/>
                  </a:ext>
                </a:extLst>
              </p:cNvPr>
              <p:cNvSpPr/>
              <p:nvPr/>
            </p:nvSpPr>
            <p:spPr>
              <a:xfrm>
                <a:off x="6983906" y="3067995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496;p35">
                <a:extLst>
                  <a:ext uri="{FF2B5EF4-FFF2-40B4-BE49-F238E27FC236}">
                    <a16:creationId xmlns:a16="http://schemas.microsoft.com/office/drawing/2014/main" id="{52425063-E09A-2D4E-3CB7-19A7B1063C25}"/>
                  </a:ext>
                </a:extLst>
              </p:cNvPr>
              <p:cNvSpPr/>
              <p:nvPr/>
            </p:nvSpPr>
            <p:spPr>
              <a:xfrm>
                <a:off x="6941066" y="3162243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" name="Google Shape;497;p35">
              <a:extLst>
                <a:ext uri="{FF2B5EF4-FFF2-40B4-BE49-F238E27FC236}">
                  <a16:creationId xmlns:a16="http://schemas.microsoft.com/office/drawing/2014/main" id="{1BC11021-6863-7CAC-2EFB-8EA0622CCEB8}"/>
                </a:ext>
              </a:extLst>
            </p:cNvPr>
            <p:cNvGrpSpPr/>
            <p:nvPr/>
          </p:nvGrpSpPr>
          <p:grpSpPr>
            <a:xfrm>
              <a:off x="7103153" y="2977080"/>
              <a:ext cx="132861" cy="96151"/>
              <a:chOff x="7103153" y="2977080"/>
              <a:chExt cx="132861" cy="96151"/>
            </a:xfrm>
            <a:grpFill/>
          </p:grpSpPr>
          <p:sp>
            <p:nvSpPr>
              <p:cNvPr id="13" name="Google Shape;498;p35">
                <a:extLst>
                  <a:ext uri="{FF2B5EF4-FFF2-40B4-BE49-F238E27FC236}">
                    <a16:creationId xmlns:a16="http://schemas.microsoft.com/office/drawing/2014/main" id="{1EE815D4-F20C-7396-D108-01FCB47C3DF6}"/>
                  </a:ext>
                </a:extLst>
              </p:cNvPr>
              <p:cNvSpPr/>
              <p:nvPr/>
            </p:nvSpPr>
            <p:spPr>
              <a:xfrm>
                <a:off x="7169069" y="2977080"/>
                <a:ext cx="951" cy="58071"/>
              </a:xfrm>
              <a:custGeom>
                <a:avLst/>
                <a:gdLst/>
                <a:ahLst/>
                <a:cxnLst/>
                <a:rect l="l" t="t" r="r" b="b"/>
                <a:pathLst>
                  <a:path w="951" h="58071" extrusionOk="0">
                    <a:moveTo>
                      <a:pt x="476" y="58072"/>
                    </a:moveTo>
                    <a:cubicBezTo>
                      <a:pt x="476" y="58072"/>
                      <a:pt x="0" y="57881"/>
                      <a:pt x="0" y="57596"/>
                    </a:cubicBezTo>
                    <a:lnTo>
                      <a:pt x="0" y="476"/>
                    </a:lnTo>
                    <a:cubicBezTo>
                      <a:pt x="0" y="476"/>
                      <a:pt x="190" y="0"/>
                      <a:pt x="476" y="0"/>
                    </a:cubicBezTo>
                    <a:cubicBezTo>
                      <a:pt x="761" y="0"/>
                      <a:pt x="952" y="190"/>
                      <a:pt x="952" y="476"/>
                    </a:cubicBezTo>
                    <a:lnTo>
                      <a:pt x="952" y="57596"/>
                    </a:lnTo>
                    <a:cubicBezTo>
                      <a:pt x="952" y="57596"/>
                      <a:pt x="761" y="58072"/>
                      <a:pt x="476" y="58072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499;p35">
                <a:extLst>
                  <a:ext uri="{FF2B5EF4-FFF2-40B4-BE49-F238E27FC236}">
                    <a16:creationId xmlns:a16="http://schemas.microsoft.com/office/drawing/2014/main" id="{AA8D6F7D-097D-AAF3-748E-FDD58ED47BDD}"/>
                  </a:ext>
                </a:extLst>
              </p:cNvPr>
              <p:cNvSpPr/>
              <p:nvPr/>
            </p:nvSpPr>
            <p:spPr>
              <a:xfrm>
                <a:off x="7169145" y="3034257"/>
                <a:ext cx="66869" cy="38973"/>
              </a:xfrm>
              <a:custGeom>
                <a:avLst/>
                <a:gdLst/>
                <a:ahLst/>
                <a:cxnLst/>
                <a:rect l="l" t="t" r="r" b="b"/>
                <a:pathLst>
                  <a:path w="66869" h="38973" extrusionOk="0">
                    <a:moveTo>
                      <a:pt x="66373" y="38974"/>
                    </a:moveTo>
                    <a:cubicBezTo>
                      <a:pt x="66373" y="38974"/>
                      <a:pt x="66183" y="38974"/>
                      <a:pt x="66183" y="38974"/>
                    </a:cubicBezTo>
                    <a:lnTo>
                      <a:pt x="210" y="894"/>
                    </a:lnTo>
                    <a:cubicBezTo>
                      <a:pt x="210" y="894"/>
                      <a:pt x="-76" y="513"/>
                      <a:pt x="19" y="228"/>
                    </a:cubicBezTo>
                    <a:cubicBezTo>
                      <a:pt x="115" y="37"/>
                      <a:pt x="400" y="-58"/>
                      <a:pt x="686" y="37"/>
                    </a:cubicBezTo>
                    <a:lnTo>
                      <a:pt x="66659" y="38117"/>
                    </a:lnTo>
                    <a:cubicBezTo>
                      <a:pt x="66659" y="38117"/>
                      <a:pt x="66945" y="38498"/>
                      <a:pt x="66850" y="38784"/>
                    </a:cubicBezTo>
                    <a:cubicBezTo>
                      <a:pt x="66850" y="38974"/>
                      <a:pt x="66564" y="38974"/>
                      <a:pt x="66469" y="3897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500;p35">
                <a:extLst>
                  <a:ext uri="{FF2B5EF4-FFF2-40B4-BE49-F238E27FC236}">
                    <a16:creationId xmlns:a16="http://schemas.microsoft.com/office/drawing/2014/main" id="{E8772219-C2E5-D870-374B-286BBA093E69}"/>
                  </a:ext>
                </a:extLst>
              </p:cNvPr>
              <p:cNvSpPr/>
              <p:nvPr/>
            </p:nvSpPr>
            <p:spPr>
              <a:xfrm>
                <a:off x="7103153" y="3034295"/>
                <a:ext cx="66904" cy="38936"/>
              </a:xfrm>
              <a:custGeom>
                <a:avLst/>
                <a:gdLst/>
                <a:ahLst/>
                <a:cxnLst/>
                <a:rect l="l" t="t" r="r" b="b"/>
                <a:pathLst>
                  <a:path w="66904" h="38936" extrusionOk="0">
                    <a:moveTo>
                      <a:pt x="418" y="38937"/>
                    </a:moveTo>
                    <a:cubicBezTo>
                      <a:pt x="418" y="38937"/>
                      <a:pt x="133" y="38937"/>
                      <a:pt x="37" y="38746"/>
                    </a:cubicBezTo>
                    <a:cubicBezTo>
                      <a:pt x="-58" y="38556"/>
                      <a:pt x="37" y="38270"/>
                      <a:pt x="228" y="38080"/>
                    </a:cubicBezTo>
                    <a:lnTo>
                      <a:pt x="66201" y="0"/>
                    </a:lnTo>
                    <a:cubicBezTo>
                      <a:pt x="66201" y="0"/>
                      <a:pt x="66677" y="0"/>
                      <a:pt x="66867" y="190"/>
                    </a:cubicBezTo>
                    <a:cubicBezTo>
                      <a:pt x="66963" y="381"/>
                      <a:pt x="66867" y="666"/>
                      <a:pt x="66677" y="857"/>
                    </a:cubicBezTo>
                    <a:lnTo>
                      <a:pt x="704" y="38937"/>
                    </a:lnTo>
                    <a:cubicBezTo>
                      <a:pt x="704" y="38937"/>
                      <a:pt x="513" y="38937"/>
                      <a:pt x="513" y="38937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" name="Google Shape;501;p35">
              <a:extLst>
                <a:ext uri="{FF2B5EF4-FFF2-40B4-BE49-F238E27FC236}">
                  <a16:creationId xmlns:a16="http://schemas.microsoft.com/office/drawing/2014/main" id="{24C24A3E-5A31-8F74-7177-FA636A0603AE}"/>
                </a:ext>
              </a:extLst>
            </p:cNvPr>
            <p:cNvGrpSpPr/>
            <p:nvPr/>
          </p:nvGrpSpPr>
          <p:grpSpPr>
            <a:xfrm>
              <a:off x="7083865" y="2777637"/>
              <a:ext cx="171359" cy="161838"/>
              <a:chOff x="7083865" y="2777637"/>
              <a:chExt cx="171359" cy="161838"/>
            </a:xfrm>
            <a:grpFill/>
          </p:grpSpPr>
          <p:sp>
            <p:nvSpPr>
              <p:cNvPr id="11" name="Google Shape;502;p35">
                <a:extLst>
                  <a:ext uri="{FF2B5EF4-FFF2-40B4-BE49-F238E27FC236}">
                    <a16:creationId xmlns:a16="http://schemas.microsoft.com/office/drawing/2014/main" id="{6322F501-1957-F825-0445-CF84EA631AC6}"/>
                  </a:ext>
                </a:extLst>
              </p:cNvPr>
              <p:cNvSpPr/>
              <p:nvPr/>
            </p:nvSpPr>
            <p:spPr>
              <a:xfrm>
                <a:off x="7126705" y="2777637"/>
                <a:ext cx="85679" cy="85679"/>
              </a:xfrm>
              <a:custGeom>
                <a:avLst/>
                <a:gdLst/>
                <a:ahLst/>
                <a:cxnLst/>
                <a:rect l="l" t="t" r="r" b="b"/>
                <a:pathLst>
                  <a:path w="85679" h="85679" extrusionOk="0">
                    <a:moveTo>
                      <a:pt x="85680" y="42840"/>
                    </a:moveTo>
                    <a:cubicBezTo>
                      <a:pt x="85680" y="66500"/>
                      <a:pt x="66500" y="85680"/>
                      <a:pt x="42840" y="85680"/>
                    </a:cubicBezTo>
                    <a:cubicBezTo>
                      <a:pt x="19180" y="85680"/>
                      <a:pt x="0" y="66500"/>
                      <a:pt x="0" y="42840"/>
                    </a:cubicBezTo>
                    <a:cubicBezTo>
                      <a:pt x="0" y="19180"/>
                      <a:pt x="19180" y="0"/>
                      <a:pt x="42840" y="0"/>
                    </a:cubicBezTo>
                    <a:cubicBezTo>
                      <a:pt x="66500" y="0"/>
                      <a:pt x="85680" y="19180"/>
                      <a:pt x="85680" y="42840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503;p35">
                <a:extLst>
                  <a:ext uri="{FF2B5EF4-FFF2-40B4-BE49-F238E27FC236}">
                    <a16:creationId xmlns:a16="http://schemas.microsoft.com/office/drawing/2014/main" id="{7E1C0AF8-3E9C-961D-4F61-991835D40D70}"/>
                  </a:ext>
                </a:extLst>
              </p:cNvPr>
              <p:cNvSpPr/>
              <p:nvPr/>
            </p:nvSpPr>
            <p:spPr>
              <a:xfrm>
                <a:off x="7083865" y="2871884"/>
                <a:ext cx="171359" cy="67591"/>
              </a:xfrm>
              <a:custGeom>
                <a:avLst/>
                <a:gdLst/>
                <a:ahLst/>
                <a:cxnLst/>
                <a:rect l="l" t="t" r="r" b="b"/>
                <a:pathLst>
                  <a:path w="171359" h="67591" extrusionOk="0">
                    <a:moveTo>
                      <a:pt x="171359" y="67592"/>
                    </a:moveTo>
                    <a:lnTo>
                      <a:pt x="171359" y="42840"/>
                    </a:lnTo>
                    <a:cubicBezTo>
                      <a:pt x="171359" y="19325"/>
                      <a:pt x="152129" y="0"/>
                      <a:pt x="128519" y="0"/>
                    </a:cubicBezTo>
                    <a:lnTo>
                      <a:pt x="42840" y="0"/>
                    </a:lnTo>
                    <a:cubicBezTo>
                      <a:pt x="19230" y="0"/>
                      <a:pt x="0" y="19325"/>
                      <a:pt x="0" y="42840"/>
                    </a:cubicBezTo>
                    <a:lnTo>
                      <a:pt x="0" y="67592"/>
                    </a:lnTo>
                    <a:lnTo>
                      <a:pt x="171359" y="67592"/>
                    </a:lnTo>
                    <a:close/>
                  </a:path>
                </a:pathLst>
              </a:custGeom>
              <a:grpFill/>
              <a:ln w="19050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tabLst/>
                  <a:defRPr/>
                </a:pP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" name="Espaço Reservado para Texto 60">
            <a:extLst>
              <a:ext uri="{FF2B5EF4-FFF2-40B4-BE49-F238E27FC236}">
                <a16:creationId xmlns:a16="http://schemas.microsoft.com/office/drawing/2014/main" id="{215C79A1-E3E0-E9EC-B9A6-9737E1A21B8E}"/>
              </a:ext>
            </a:extLst>
          </p:cNvPr>
          <p:cNvSpPr txBox="1">
            <a:spLocks/>
          </p:cNvSpPr>
          <p:nvPr/>
        </p:nvSpPr>
        <p:spPr>
          <a:xfrm>
            <a:off x="874991" y="4608516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/>
              <a:t>Individual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0" name="Google Shape;3470;p317"/>
          <p:cNvSpPr txBox="1">
            <a:spLocks noGrp="1"/>
          </p:cNvSpPr>
          <p:nvPr>
            <p:ph type="body" idx="1"/>
          </p:nvPr>
        </p:nvSpPr>
        <p:spPr>
          <a:xfrm>
            <a:off x="2989945" y="1203800"/>
            <a:ext cx="6323737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/>
              <a:t>Por que duas listas que caminham juntas precisam da mesma ordem?</a:t>
            </a:r>
            <a:endParaRPr sz="3200" dirty="0"/>
          </a:p>
        </p:txBody>
      </p:sp>
      <p:sp>
        <p:nvSpPr>
          <p:cNvPr id="3476" name="Google Shape;3476;p317"/>
          <p:cNvSpPr/>
          <p:nvPr/>
        </p:nvSpPr>
        <p:spPr>
          <a:xfrm>
            <a:off x="3074786" y="3126849"/>
            <a:ext cx="3467964" cy="104258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7" name="Google Shape;3477;p317"/>
          <p:cNvSpPr/>
          <p:nvPr/>
        </p:nvSpPr>
        <p:spPr>
          <a:xfrm>
            <a:off x="6786823" y="3113586"/>
            <a:ext cx="3467964" cy="104258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8" name="Google Shape;3478;p317"/>
          <p:cNvSpPr/>
          <p:nvPr/>
        </p:nvSpPr>
        <p:spPr>
          <a:xfrm>
            <a:off x="3061904" y="4442395"/>
            <a:ext cx="3467964" cy="104258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9" name="Google Shape;3479;p317"/>
          <p:cNvSpPr/>
          <p:nvPr/>
        </p:nvSpPr>
        <p:spPr>
          <a:xfrm>
            <a:off x="6788326" y="4454357"/>
            <a:ext cx="3467964" cy="104258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1" name="Google Shape;3481;p317"/>
          <p:cNvSpPr txBox="1"/>
          <p:nvPr/>
        </p:nvSpPr>
        <p:spPr>
          <a:xfrm>
            <a:off x="3121921" y="4667874"/>
            <a:ext cx="334793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Porque o for só aceita listas iguais.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2" name="Google Shape;3482;p317"/>
          <p:cNvSpPr txBox="1"/>
          <p:nvPr/>
        </p:nvSpPr>
        <p:spPr>
          <a:xfrm>
            <a:off x="3144651" y="3359651"/>
            <a:ext cx="3325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Porque o Python exige ordem alfabética.</a:t>
            </a:r>
            <a:endParaRPr sz="2000" dirty="0"/>
          </a:p>
        </p:txBody>
      </p:sp>
      <p:sp>
        <p:nvSpPr>
          <p:cNvPr id="3483" name="Google Shape;3483;p317"/>
          <p:cNvSpPr txBox="1"/>
          <p:nvPr/>
        </p:nvSpPr>
        <p:spPr>
          <a:xfrm>
            <a:off x="6823258" y="3173215"/>
            <a:ext cx="33951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Porque o mesmo índice liga os itens correspondentes.</a:t>
            </a:r>
            <a:endParaRPr sz="2000" dirty="0"/>
          </a:p>
        </p:txBody>
      </p:sp>
      <p:sp>
        <p:nvSpPr>
          <p:cNvPr id="3484" name="Google Shape;3484;p317"/>
          <p:cNvSpPr txBox="1"/>
          <p:nvPr/>
        </p:nvSpPr>
        <p:spPr>
          <a:xfrm>
            <a:off x="6823258" y="4513986"/>
            <a:ext cx="33951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Porque listas só funcionam com o mesmo tamanho de nome.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C9CA31E5-3925-7195-CB91-0AA9BB76E230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F0BA73F-8463-1E26-7E70-E964E92CD5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8A48CC13-22F0-86FF-52E1-005395409FE8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 dirty="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p318"/>
          <p:cNvSpPr txBox="1"/>
          <p:nvPr/>
        </p:nvSpPr>
        <p:spPr>
          <a:xfrm>
            <a:off x="1625600" y="1295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0" name="Google Shape;3490;p318"/>
          <p:cNvSpPr txBox="1"/>
          <p:nvPr/>
        </p:nvSpPr>
        <p:spPr>
          <a:xfrm>
            <a:off x="723900" y="12573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1" name="Google Shape;3491;p318"/>
          <p:cNvSpPr txBox="1"/>
          <p:nvPr/>
        </p:nvSpPr>
        <p:spPr>
          <a:xfrm>
            <a:off x="1054100" y="14859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4" name="Google Shape;3494;p318"/>
          <p:cNvSpPr/>
          <p:nvPr/>
        </p:nvSpPr>
        <p:spPr>
          <a:xfrm>
            <a:off x="2484872" y="3376150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5" name="Google Shape;3495;p318"/>
          <p:cNvSpPr/>
          <p:nvPr/>
        </p:nvSpPr>
        <p:spPr>
          <a:xfrm>
            <a:off x="2476848" y="4672412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6" name="Google Shape;3496;p318"/>
          <p:cNvSpPr/>
          <p:nvPr/>
        </p:nvSpPr>
        <p:spPr>
          <a:xfrm>
            <a:off x="10330734" y="4722081"/>
            <a:ext cx="514500" cy="563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7" name="Google Shape;3497;p318"/>
          <p:cNvSpPr/>
          <p:nvPr/>
        </p:nvSpPr>
        <p:spPr>
          <a:xfrm rot="-3044895">
            <a:off x="10395248" y="3466932"/>
            <a:ext cx="385473" cy="265854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12;p61">
            <a:extLst>
              <a:ext uri="{FF2B5EF4-FFF2-40B4-BE49-F238E27FC236}">
                <a16:creationId xmlns:a16="http://schemas.microsoft.com/office/drawing/2014/main" id="{225B5791-FD35-EAD6-D6EE-FFB3A63BDF5D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40A752C-1C09-9476-50C6-B7869AFB93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407CF033-4EBA-7683-6702-21C42851B177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 dirty="0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 dirty="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6" name="Google Shape;3470;p317">
            <a:extLst>
              <a:ext uri="{FF2B5EF4-FFF2-40B4-BE49-F238E27FC236}">
                <a16:creationId xmlns:a16="http://schemas.microsoft.com/office/drawing/2014/main" id="{B53B0DAD-9EBE-A9A2-A135-DBEB9FD213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89945" y="1203800"/>
            <a:ext cx="6323737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/>
              <a:t>Por que duas listas que caminham juntas precisam da mesma ordem?</a:t>
            </a:r>
            <a:endParaRPr sz="3200" dirty="0"/>
          </a:p>
        </p:txBody>
      </p:sp>
      <p:sp>
        <p:nvSpPr>
          <p:cNvPr id="8" name="Google Shape;3476;p317">
            <a:extLst>
              <a:ext uri="{FF2B5EF4-FFF2-40B4-BE49-F238E27FC236}">
                <a16:creationId xmlns:a16="http://schemas.microsoft.com/office/drawing/2014/main" id="{EC0EBE43-6E9C-4E48-FF61-0FDEC8D4C81C}"/>
              </a:ext>
            </a:extLst>
          </p:cNvPr>
          <p:cNvSpPr/>
          <p:nvPr/>
        </p:nvSpPr>
        <p:spPr>
          <a:xfrm>
            <a:off x="3074786" y="3126849"/>
            <a:ext cx="3467964" cy="104258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477;p317">
            <a:extLst>
              <a:ext uri="{FF2B5EF4-FFF2-40B4-BE49-F238E27FC236}">
                <a16:creationId xmlns:a16="http://schemas.microsoft.com/office/drawing/2014/main" id="{BFA38F94-87BC-0BE1-042D-980E5A3550EA}"/>
              </a:ext>
            </a:extLst>
          </p:cNvPr>
          <p:cNvSpPr/>
          <p:nvPr/>
        </p:nvSpPr>
        <p:spPr>
          <a:xfrm>
            <a:off x="6786823" y="3113586"/>
            <a:ext cx="3467964" cy="104258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478;p317">
            <a:extLst>
              <a:ext uri="{FF2B5EF4-FFF2-40B4-BE49-F238E27FC236}">
                <a16:creationId xmlns:a16="http://schemas.microsoft.com/office/drawing/2014/main" id="{A7776D54-2500-CF43-6BCF-86542813A434}"/>
              </a:ext>
            </a:extLst>
          </p:cNvPr>
          <p:cNvSpPr/>
          <p:nvPr/>
        </p:nvSpPr>
        <p:spPr>
          <a:xfrm>
            <a:off x="3061904" y="4442395"/>
            <a:ext cx="3467964" cy="104258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479;p317">
            <a:extLst>
              <a:ext uri="{FF2B5EF4-FFF2-40B4-BE49-F238E27FC236}">
                <a16:creationId xmlns:a16="http://schemas.microsoft.com/office/drawing/2014/main" id="{835815D7-C212-600C-8619-FD7A21A9B6AF}"/>
              </a:ext>
            </a:extLst>
          </p:cNvPr>
          <p:cNvSpPr/>
          <p:nvPr/>
        </p:nvSpPr>
        <p:spPr>
          <a:xfrm>
            <a:off x="6788326" y="4454357"/>
            <a:ext cx="3467964" cy="1042588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E9F9E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3481;p317">
            <a:extLst>
              <a:ext uri="{FF2B5EF4-FFF2-40B4-BE49-F238E27FC236}">
                <a16:creationId xmlns:a16="http://schemas.microsoft.com/office/drawing/2014/main" id="{F40374E3-C8D9-7E7D-E61D-210B5CD4A9E1}"/>
              </a:ext>
            </a:extLst>
          </p:cNvPr>
          <p:cNvSpPr txBox="1"/>
          <p:nvPr/>
        </p:nvSpPr>
        <p:spPr>
          <a:xfrm>
            <a:off x="3121921" y="4667874"/>
            <a:ext cx="334793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Porque o for só aceita listas iguais.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Google Shape;3482;p317">
            <a:extLst>
              <a:ext uri="{FF2B5EF4-FFF2-40B4-BE49-F238E27FC236}">
                <a16:creationId xmlns:a16="http://schemas.microsoft.com/office/drawing/2014/main" id="{22B3893C-688D-4F48-F7BB-9E4CDE757590}"/>
              </a:ext>
            </a:extLst>
          </p:cNvPr>
          <p:cNvSpPr txBox="1"/>
          <p:nvPr/>
        </p:nvSpPr>
        <p:spPr>
          <a:xfrm>
            <a:off x="3144651" y="3359651"/>
            <a:ext cx="33252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Porque o Python exige ordem alfabética.</a:t>
            </a:r>
            <a:endParaRPr sz="2000" dirty="0"/>
          </a:p>
        </p:txBody>
      </p:sp>
      <p:sp>
        <p:nvSpPr>
          <p:cNvPr id="14" name="Google Shape;3483;p317">
            <a:extLst>
              <a:ext uri="{FF2B5EF4-FFF2-40B4-BE49-F238E27FC236}">
                <a16:creationId xmlns:a16="http://schemas.microsoft.com/office/drawing/2014/main" id="{E9BA2161-C546-7A90-D1FC-3750D5B92A0A}"/>
              </a:ext>
            </a:extLst>
          </p:cNvPr>
          <p:cNvSpPr txBox="1"/>
          <p:nvPr/>
        </p:nvSpPr>
        <p:spPr>
          <a:xfrm>
            <a:off x="6823258" y="3173215"/>
            <a:ext cx="33951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Porque o mesmo índice liga os itens correspondentes.</a:t>
            </a:r>
            <a:endParaRPr sz="2000" dirty="0"/>
          </a:p>
        </p:txBody>
      </p:sp>
      <p:sp>
        <p:nvSpPr>
          <p:cNvPr id="15" name="Google Shape;3484;p317">
            <a:extLst>
              <a:ext uri="{FF2B5EF4-FFF2-40B4-BE49-F238E27FC236}">
                <a16:creationId xmlns:a16="http://schemas.microsoft.com/office/drawing/2014/main" id="{736518C4-B4F4-874E-FFC7-2C2E80F730BE}"/>
              </a:ext>
            </a:extLst>
          </p:cNvPr>
          <p:cNvSpPr txBox="1"/>
          <p:nvPr/>
        </p:nvSpPr>
        <p:spPr>
          <a:xfrm>
            <a:off x="6823258" y="4513986"/>
            <a:ext cx="33951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Porque listas só funcionam com o mesmo tamanho de nome.</a:t>
            </a:r>
            <a:endParaRPr sz="2000" b="1" i="0" u="none" strike="noStrike" cap="none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2" name="Google Shape;3512;p319" title="diagrama (2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9434" y="581025"/>
            <a:ext cx="7683024" cy="4897926"/>
          </a:xfrm>
          <a:prstGeom prst="rect">
            <a:avLst/>
          </a:prstGeom>
          <a:noFill/>
          <a:ln>
            <a:noFill/>
          </a:ln>
        </p:spPr>
      </p:pic>
      <p:sp>
        <p:nvSpPr>
          <p:cNvPr id="3513" name="Google Shape;3513;p319"/>
          <p:cNvSpPr txBox="1"/>
          <p:nvPr/>
        </p:nvSpPr>
        <p:spPr>
          <a:xfrm>
            <a:off x="5800778" y="5505009"/>
            <a:ext cx="4992912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8" name="Google Shape;3518;p320"/>
          <p:cNvSpPr txBox="1">
            <a:spLocks noGrp="1"/>
          </p:cNvSpPr>
          <p:nvPr>
            <p:ph type="body" idx="1"/>
          </p:nvPr>
        </p:nvSpPr>
        <p:spPr>
          <a:xfrm>
            <a:off x="5589525" y="1528840"/>
            <a:ext cx="5986590" cy="2406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Para ver como construir um </a:t>
            </a:r>
            <a:r>
              <a:rPr lang="pt-BR" sz="1800" i="1" dirty="0"/>
              <a:t>quiz</a:t>
            </a:r>
            <a:r>
              <a:rPr lang="pt-BR" sz="1800" dirty="0"/>
              <a:t> com perguntas, respostas e pontuação em Python, o canal Apoena Stack – Iury Rosal tem um vídeo que mostra o passo a passo de um projeto de </a:t>
            </a:r>
            <a:r>
              <a:rPr lang="pt-BR" sz="1800" i="1" dirty="0"/>
              <a:t>quiz</a:t>
            </a:r>
            <a:r>
              <a:rPr lang="pt-BR" sz="1800" dirty="0"/>
              <a:t> no terminal. O vídeo explica como organizar as perguntas, usar o loop para percorrer e acumular pontos.</a:t>
            </a:r>
            <a:endParaRPr sz="1800" dirty="0"/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APOENA STACK – IURY ROSAL. Quiz em Python | Projeto para iniciantes [A1]. Disponível em: </a:t>
            </a:r>
            <a:r>
              <a:rPr lang="pt-BR" sz="1800" dirty="0">
                <a:hlinkClick r:id="rId3"/>
              </a:rPr>
              <a:t>https://www.youtube.com/watch?v=MRYlWPrsMYk</a:t>
            </a:r>
            <a:r>
              <a:rPr lang="pt-BR" sz="1800" dirty="0"/>
              <a:t>. Acesso em: 15 ago. 2026.</a:t>
            </a: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/>
          </a:p>
          <a:p>
            <a:pPr marL="0" marR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800"/>
              <a:buFont typeface="Poppins"/>
              <a:buNone/>
            </a:pPr>
            <a:endParaRPr sz="1800" b="1" dirty="0"/>
          </a:p>
        </p:txBody>
      </p:sp>
      <p:sp>
        <p:nvSpPr>
          <p:cNvPr id="3519" name="Google Shape;3519;p320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 dirty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4" name="Google Shape;3524;p321"/>
          <p:cNvSpPr txBox="1">
            <a:spLocks noGrp="1"/>
          </p:cNvSpPr>
          <p:nvPr>
            <p:ph type="body" idx="1"/>
          </p:nvPr>
        </p:nvSpPr>
        <p:spPr>
          <a:xfrm>
            <a:off x="555150" y="1598105"/>
            <a:ext cx="11407464" cy="254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dirty="0"/>
              <a:t>DATACAMP. </a:t>
            </a:r>
            <a:r>
              <a:rPr lang="pt-BR" b="1" dirty="0"/>
              <a:t>Tutorial sobre loops em Python</a:t>
            </a:r>
            <a:r>
              <a:rPr lang="pt-BR" dirty="0"/>
              <a:t>, 08 set. 2025. Disponível em: </a:t>
            </a:r>
            <a:r>
              <a:rPr lang="pt-BR" u="sng" dirty="0">
                <a:solidFill>
                  <a:schemeClr val="hlink"/>
                </a:solidFill>
                <a:hlinkClick r:id="rId3"/>
              </a:rPr>
              <a:t>https://www.datacamp.com/pt/tutorial/loops-python-tutorial</a:t>
            </a:r>
            <a:r>
              <a:rPr lang="pt-BR" dirty="0"/>
              <a:t>. Acesso em: 02 ago. 2026.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dirty="0"/>
              <a:t>LOPES, E. Loops e estruturas de repetição no Python. </a:t>
            </a:r>
            <a:r>
              <a:rPr lang="pt-BR" b="1" dirty="0"/>
              <a:t>Python Academy</a:t>
            </a:r>
            <a:r>
              <a:rPr lang="pt-BR" dirty="0"/>
              <a:t>, 30 maio 2026. Disponível em: </a:t>
            </a:r>
            <a:r>
              <a:rPr lang="pt-BR" u="sng" dirty="0">
                <a:solidFill>
                  <a:schemeClr val="hlink"/>
                </a:solidFill>
                <a:hlinkClick r:id="rId4"/>
              </a:rPr>
              <a:t>https://pythonacademy.com.br/blog/estruturas-de-repeticao</a:t>
            </a:r>
            <a:r>
              <a:rPr lang="pt-BR" dirty="0"/>
              <a:t>. Acesso em: 02 ago. 2026.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PYTHON SOFTWARE FOUNDATION. Mais ferramentas de controle de fluxo. </a:t>
            </a:r>
            <a:r>
              <a:rPr lang="pt-BR" b="1" dirty="0"/>
              <a:t>Documentação Python</a:t>
            </a:r>
            <a:r>
              <a:rPr lang="pt-BR" dirty="0"/>
              <a:t>, 2026. Disponível em: </a:t>
            </a:r>
            <a:r>
              <a:rPr lang="pt-BR" u="sng" dirty="0">
                <a:solidFill>
                  <a:schemeClr val="hlink"/>
                </a:solidFill>
                <a:hlinkClick r:id="rId5"/>
              </a:rPr>
              <a:t>https://docs.python.org/pt-br/3/tutorial/controlflow.html</a:t>
            </a:r>
            <a:r>
              <a:rPr lang="pt-BR" dirty="0"/>
              <a:t>. Acesso em: 02 ago.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6" name="Google Shape;3536;p323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7" name="Google Shape;3537;p323"/>
          <p:cNvSpPr txBox="1"/>
          <p:nvPr/>
        </p:nvSpPr>
        <p:spPr>
          <a:xfrm>
            <a:off x="955053" y="769850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6</a:t>
            </a:r>
            <a:endParaRPr dirty="0"/>
          </a:p>
        </p:txBody>
      </p:sp>
      <p:sp>
        <p:nvSpPr>
          <p:cNvPr id="3538" name="Google Shape;3538;p323"/>
          <p:cNvSpPr txBox="1"/>
          <p:nvPr/>
        </p:nvSpPr>
        <p:spPr>
          <a:xfrm>
            <a:off x="985519" y="1372059"/>
            <a:ext cx="10708635" cy="2908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comece pelas 4 etapas do programa interativo (perguntar, receber, verificar, responder). Em seguida, contraste com a aula anterior: lá o while fazia sentido porque as tentativas podiam mudar. Aqui o </a:t>
            </a:r>
            <a:r>
              <a:rPr lang="pt-BR" sz="1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terá 3 perguntas já definidas, então a quantidade de voltas é conhecida de antemão. O ponto central da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Relembre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não é ensinar o for ainda: é levar a turma a perceber que, com perguntas e respostas em duas listas, falta um critério claro de pareamento.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5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projete o título “Três perguntas”, uma de cada vez, e leia o parágrafo do material em voz alta;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pause um instante no contraste while (tentativas que mudam) versus 3 perguntas já definidas. Em seguida, lance a pergunta do slide: “Se o programa guarda as 3 perguntas numa lista e as 3 respostas certas em outra, como ele sabe qual resposta pertence a cada pergunta?”;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recolha 2 ou 3 falas sem corrigir de imediato; agrupe no quadro ideias do tipo “a primeira com a primeira”, “mesma posição”, “mesmo número”. Se alguém pular direto para sintaxe (perguntas[i]), valide a intenção e peça que digam a ideia em linguagem simples antes. Só então leia o “Tome nota”: quando duas listas caminham juntas, o mesmo índice liga os itens correspondentes e a ordem precisa ser a mesma;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feche dizendo que, na atividade, eles usarão essa ideia no programa do roteiro.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</a:t>
            </a: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Respostas no nível da ideia: mesma posição nas duas listas; a primeira pergunta com a primeira resposta; uso do índice (mesmo que ainda sem código). Respostas fracas: “o Python escolhe sozinho”, “a ordem não importa”, ou querer já montar o for inteiro. 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539" name="Google Shape;3539;p323"/>
          <p:cNvCxnSpPr>
            <a:cxnSpLocks/>
          </p:cNvCxnSpPr>
          <p:nvPr/>
        </p:nvCxnSpPr>
        <p:spPr>
          <a:xfrm flipV="1">
            <a:off x="685795" y="964929"/>
            <a:ext cx="0" cy="359729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541" name="Google Shape;3541;p323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542" name="Google Shape;3542;p323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3" name="Google Shape;3543;p323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4" name="Google Shape;3544;p323"/>
          <p:cNvGrpSpPr/>
          <p:nvPr/>
        </p:nvGrpSpPr>
        <p:grpSpPr>
          <a:xfrm>
            <a:off x="497841" y="3668939"/>
            <a:ext cx="386100" cy="382500"/>
            <a:chOff x="497841" y="3801694"/>
            <a:chExt cx="386100" cy="382500"/>
          </a:xfrm>
        </p:grpSpPr>
        <p:sp>
          <p:nvSpPr>
            <p:cNvPr id="3545" name="Google Shape;3545;p323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40" name="Google Shape;3540;p32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46" name="Google Shape;3546;p323"/>
          <p:cNvGrpSpPr/>
          <p:nvPr/>
        </p:nvGrpSpPr>
        <p:grpSpPr>
          <a:xfrm>
            <a:off x="497841" y="1877037"/>
            <a:ext cx="386100" cy="382500"/>
            <a:chOff x="497841" y="1802325"/>
            <a:chExt cx="386100" cy="382500"/>
          </a:xfrm>
        </p:grpSpPr>
        <p:sp>
          <p:nvSpPr>
            <p:cNvPr id="3547" name="Google Shape;3547;p323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48" name="Google Shape;3548;p32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49" name="Google Shape;3549;p323"/>
          <p:cNvGrpSpPr/>
          <p:nvPr/>
        </p:nvGrpSpPr>
        <p:grpSpPr>
          <a:xfrm>
            <a:off x="497841" y="2296058"/>
            <a:ext cx="386100" cy="382500"/>
            <a:chOff x="497841" y="3037886"/>
            <a:chExt cx="386100" cy="382500"/>
          </a:xfrm>
        </p:grpSpPr>
        <p:sp>
          <p:nvSpPr>
            <p:cNvPr id="3550" name="Google Shape;3550;p323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51" name="Google Shape;3551;p323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7" name="Google Shape;3557;p324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8" name="Google Shape;3558;p324"/>
          <p:cNvSpPr txBox="1"/>
          <p:nvPr/>
        </p:nvSpPr>
        <p:spPr>
          <a:xfrm>
            <a:off x="955053" y="769850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7</a:t>
            </a:r>
            <a:endParaRPr dirty="0"/>
          </a:p>
        </p:txBody>
      </p:sp>
      <p:sp>
        <p:nvSpPr>
          <p:cNvPr id="3559" name="Google Shape;3559;p324"/>
          <p:cNvSpPr txBox="1"/>
          <p:nvPr/>
        </p:nvSpPr>
        <p:spPr>
          <a:xfrm>
            <a:off x="985520" y="1372059"/>
            <a:ext cx="10855398" cy="4985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essa atividade tem formato de desafio autônomo. Os estudantes não receberão um passo a passo detalhado de código. Eles receberão um problema para resolver sozinhos, com os dados e os requisitos, e precisarão construir a solução usando o que aprenderam nas três aulas da semana. Atue como orientador, circulando pela sala, tirando dúvidas e dando dicas quando necessário, mas sem escrever o código pelos estudantes. Cada estudante trabalha individualmente, podendo consultar o caderno e códigos anteriores.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40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 atividade acontece no laboratório de informática ou com notebooks. Cada estudante trabalha em um computador individualmente. Se faltarem computadores, forme duplas; 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garanta que o Python estejam funcionando antes de iniciar. Cada estudante precisa ter acesso ao código da Aula 2.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inicie explicando que esta aula é um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desafio individual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 A escola quer um </a:t>
            </a:r>
            <a:r>
              <a:rPr lang="pt-BR" sz="1000" i="1" dirty="0">
                <a:latin typeface="Poppins"/>
                <a:ea typeface="Poppins"/>
                <a:cs typeface="Poppins"/>
                <a:sym typeface="Poppins"/>
              </a:rPr>
              <a:t>quiz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completo para a feira de ciências e cada estudante vai construir o seu. Os estudantes já têm todas as ferramentas necessárias: fluxo interativo (Aula 1), while com tentativas (Aula 2) e listas com loop for (Aula 3);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entregue o problema no slide ou em folha impressa. Leia o enunciado junto com a turma, garantindo que todos entendam o que é pedido. Depois, os estudantes começarão a trabalhar sozinhos;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circule pela sala observando o progresso de cada estudante. Quando um deles travar, faça perguntas-guia em vez de dar a resposta: “Como você guardou as notas dos estudantes na semana passada?", “O que o i representa dentro do loop?", “Onde a pontuação precisa ser atualizada?“;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fique atento a 4 pontos críticos: (1) as listas de perguntas e respostas precisam ter o mesmo tamanho e estar na mesma ordem; (2) a variável pontos precisa ser criada antes do loop; (3) o input e o if precisam estar dentro do loop, indentados; (4) o print da pontuação final precisa estar fora do loop, sem indentação;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na metade do tempo (cerca de 22 minutos), faça uma pausa rápida e pergunte à turma como estão se saindo. Se vários estudantes estiverem com o mesmo problema, faça uma explicação rápida no quadro para todos;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nos últimos 5 minutos, peça que cada estudante teste o programa com os dados fornecidos e confira se os resultados batem com o esperado.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a maioria dos estudantes consiga completar o desafio dentro do tempo previsto, pois estão combinando conceitos que já praticaram. A criação das listas deve ser direta. O uso do i como índice das listas pode gerar confusão em alguns estudantes, especialmente se esquecerem de usar perguntas[i] no input e respostas[i] no if. O erro mais comum será esquecer de criar a variável pontos antes do loop, ou colocar o print da pontuação dentro do loop. Alguns estudantes podem ter dificuldade com a acentuação nas respostas (como "Brasília"), o que pode gerar erros de comparação. Você pode orientar a usar respostas sem acento para simplificar. Os estudantes que terminarem mais rápido podem adicionar uma quarta pergunta ou criar uma mensagem personalizada para quem acertar todas.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560" name="Google Shape;3560;p324"/>
          <p:cNvCxnSpPr>
            <a:cxnSpLocks/>
          </p:cNvCxnSpPr>
          <p:nvPr/>
        </p:nvCxnSpPr>
        <p:spPr>
          <a:xfrm flipV="1">
            <a:off x="685650" y="964975"/>
            <a:ext cx="0" cy="562466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561" name="Google Shape;3561;p324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562" name="Google Shape;3562;p324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3" name="Google Shape;3563;p324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4" name="Google Shape;3564;p324"/>
          <p:cNvGrpSpPr/>
          <p:nvPr/>
        </p:nvGrpSpPr>
        <p:grpSpPr>
          <a:xfrm>
            <a:off x="497841" y="2474771"/>
            <a:ext cx="386100" cy="382500"/>
            <a:chOff x="497841" y="2265726"/>
            <a:chExt cx="386100" cy="382500"/>
          </a:xfrm>
        </p:grpSpPr>
        <p:sp>
          <p:nvSpPr>
            <p:cNvPr id="3565" name="Google Shape;3565;p324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6" name="Google Shape;3566;p324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7" name="Google Shape;3567;p324"/>
          <p:cNvGrpSpPr/>
          <p:nvPr/>
        </p:nvGrpSpPr>
        <p:grpSpPr>
          <a:xfrm>
            <a:off x="497841" y="5194718"/>
            <a:ext cx="386100" cy="382500"/>
            <a:chOff x="497841" y="3801694"/>
            <a:chExt cx="386100" cy="382500"/>
          </a:xfrm>
        </p:grpSpPr>
        <p:sp>
          <p:nvSpPr>
            <p:cNvPr id="3568" name="Google Shape;3568;p324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69" name="Google Shape;3569;p324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0" name="Google Shape;3570;p324"/>
          <p:cNvGrpSpPr/>
          <p:nvPr/>
        </p:nvGrpSpPr>
        <p:grpSpPr>
          <a:xfrm>
            <a:off x="497841" y="2030224"/>
            <a:ext cx="386100" cy="382500"/>
            <a:chOff x="497841" y="1802325"/>
            <a:chExt cx="386100" cy="382500"/>
          </a:xfrm>
        </p:grpSpPr>
        <p:sp>
          <p:nvSpPr>
            <p:cNvPr id="3571" name="Google Shape;3571;p324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72" name="Google Shape;3572;p32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73" name="Google Shape;3573;p324"/>
          <p:cNvGrpSpPr/>
          <p:nvPr/>
        </p:nvGrpSpPr>
        <p:grpSpPr>
          <a:xfrm>
            <a:off x="497841" y="3208886"/>
            <a:ext cx="386100" cy="382500"/>
            <a:chOff x="497841" y="3037886"/>
            <a:chExt cx="386100" cy="382500"/>
          </a:xfrm>
        </p:grpSpPr>
        <p:sp>
          <p:nvSpPr>
            <p:cNvPr id="3574" name="Google Shape;3574;p324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75" name="Google Shape;3575;p324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1" name="Google Shape;3581;p325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2" name="Google Shape;3582;p325"/>
          <p:cNvSpPr txBox="1"/>
          <p:nvPr/>
        </p:nvSpPr>
        <p:spPr>
          <a:xfrm>
            <a:off x="985520" y="7957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9</a:t>
            </a:r>
            <a:endParaRPr dirty="0"/>
          </a:p>
        </p:txBody>
      </p:sp>
      <p:cxnSp>
        <p:nvCxnSpPr>
          <p:cNvPr id="3583" name="Google Shape;3583;p325"/>
          <p:cNvCxnSpPr>
            <a:cxnSpLocks/>
          </p:cNvCxnSpPr>
          <p:nvPr/>
        </p:nvCxnSpPr>
        <p:spPr>
          <a:xfrm flipV="1">
            <a:off x="690895" y="951272"/>
            <a:ext cx="0" cy="218785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586" name="Google Shape;3586;p325"/>
          <p:cNvSpPr/>
          <p:nvPr/>
        </p:nvSpPr>
        <p:spPr>
          <a:xfrm>
            <a:off x="497841" y="183652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8" name="Google Shape;3588;p325"/>
          <p:cNvSpPr txBox="1"/>
          <p:nvPr/>
        </p:nvSpPr>
        <p:spPr>
          <a:xfrm>
            <a:off x="985523" y="1432475"/>
            <a:ext cx="10427543" cy="1446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Pause e responda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é mobilizar os estudantes em relação aos conhecimentos apresentados e construídos em aula. É registro.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1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2 minutos.</a:t>
            </a:r>
            <a:endParaRPr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</a:br>
            <a:r>
              <a:rPr lang="pt-BR" sz="1000" b="1" i="0" u="none" strike="noStrike" cap="none" dirty="0">
                <a:solidFill>
                  <a:srgbClr val="000000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Expectativas de respostas:</a:t>
            </a:r>
            <a:endParaRPr sz="1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Alternativa correta: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Porque o mesmo índice liga os itens correspondentes.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Feedback: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o índice aponta a posição nas duas listas. Se a ordem estiver trocada, a ligação entre os itens fica errada.</a:t>
            </a:r>
            <a:endParaRPr sz="1000" dirty="0"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pic>
        <p:nvPicPr>
          <p:cNvPr id="3589" name="Google Shape;3589;p3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1930230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90" name="Google Shape;3590;p325"/>
          <p:cNvGrpSpPr/>
          <p:nvPr/>
        </p:nvGrpSpPr>
        <p:grpSpPr>
          <a:xfrm>
            <a:off x="497841" y="2345251"/>
            <a:ext cx="386100" cy="382500"/>
            <a:chOff x="497841" y="3801694"/>
            <a:chExt cx="386100" cy="382500"/>
          </a:xfrm>
        </p:grpSpPr>
        <p:sp>
          <p:nvSpPr>
            <p:cNvPr id="3591" name="Google Shape;3591;p325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84" name="Google Shape;3584;p325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oogle Shape;3580;p335">
            <a:extLst>
              <a:ext uri="{FF2B5EF4-FFF2-40B4-BE49-F238E27FC236}">
                <a16:creationId xmlns:a16="http://schemas.microsoft.com/office/drawing/2014/main" id="{1F0CB22C-4F4F-5B00-F884-3F0A78D67D8B}"/>
              </a:ext>
            </a:extLst>
          </p:cNvPr>
          <p:cNvGrpSpPr/>
          <p:nvPr/>
        </p:nvGrpSpPr>
        <p:grpSpPr>
          <a:xfrm>
            <a:off x="497841" y="1394804"/>
            <a:ext cx="386100" cy="382500"/>
            <a:chOff x="497841" y="1318604"/>
            <a:chExt cx="386100" cy="382500"/>
          </a:xfrm>
        </p:grpSpPr>
        <p:sp>
          <p:nvSpPr>
            <p:cNvPr id="3" name="Google Shape;3581;p335">
              <a:extLst>
                <a:ext uri="{FF2B5EF4-FFF2-40B4-BE49-F238E27FC236}">
                  <a16:creationId xmlns:a16="http://schemas.microsoft.com/office/drawing/2014/main" id="{AB7E9B40-8148-6196-8B7E-2829F1A09D5E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" name="Google Shape;3582;p335">
              <a:extLst>
                <a:ext uri="{FF2B5EF4-FFF2-40B4-BE49-F238E27FC236}">
                  <a16:creationId xmlns:a16="http://schemas.microsoft.com/office/drawing/2014/main" id="{A1D7431A-E6D5-59E7-FE17-B17AC5A84ABA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7" name="Google Shape;3597;p326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8" name="Google Shape;3598;p326"/>
          <p:cNvSpPr txBox="1"/>
          <p:nvPr/>
        </p:nvSpPr>
        <p:spPr>
          <a:xfrm>
            <a:off x="985527" y="795750"/>
            <a:ext cx="85605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9" name="Google Shape;3599;p326"/>
          <p:cNvSpPr txBox="1"/>
          <p:nvPr/>
        </p:nvSpPr>
        <p:spPr>
          <a:xfrm>
            <a:off x="985519" y="1352395"/>
            <a:ext cx="10783800" cy="3062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nós aprendemos hoje?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tem o objetivo de reforçar e esclarecer os principais conceitos discutidos, incentivando os estudantes a recordarem e articularem os principais pontos da aula.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minutos.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conceitos;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714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 pitchFamily="34" charset="0"/>
              <a:buChar char="•"/>
            </a:pP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apresente o slide com os principais tópicos da aula. E retome rapidamente os conceitos representados no esquema, reiterando a importância de cada um deles e como ele se encaixa no contexto maior da aula e na vida profissional.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que é esperado: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600" name="Google Shape;3600;p326"/>
          <p:cNvCxnSpPr>
            <a:cxnSpLocks/>
          </p:cNvCxnSpPr>
          <p:nvPr/>
        </p:nvCxnSpPr>
        <p:spPr>
          <a:xfrm rot="10800000">
            <a:off x="685795" y="1030762"/>
            <a:ext cx="0" cy="3301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602" name="Google Shape;3602;p326"/>
          <p:cNvGrpSpPr/>
          <p:nvPr/>
        </p:nvGrpSpPr>
        <p:grpSpPr>
          <a:xfrm>
            <a:off x="497841" y="1318604"/>
            <a:ext cx="386100" cy="382500"/>
            <a:chOff x="497841" y="1318604"/>
            <a:chExt cx="386100" cy="382500"/>
          </a:xfrm>
        </p:grpSpPr>
        <p:sp>
          <p:nvSpPr>
            <p:cNvPr id="3603" name="Google Shape;3603;p326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4" name="Google Shape;3604;p326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5" name="Google Shape;3605;p326"/>
          <p:cNvGrpSpPr/>
          <p:nvPr/>
        </p:nvGrpSpPr>
        <p:grpSpPr>
          <a:xfrm>
            <a:off x="497841" y="2188459"/>
            <a:ext cx="386100" cy="382500"/>
            <a:chOff x="497841" y="2265726"/>
            <a:chExt cx="386100" cy="382500"/>
          </a:xfrm>
        </p:grpSpPr>
        <p:sp>
          <p:nvSpPr>
            <p:cNvPr id="3606" name="Google Shape;3606;p326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7" name="Google Shape;3607;p326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8" name="Google Shape;3608;p326"/>
          <p:cNvGrpSpPr/>
          <p:nvPr/>
        </p:nvGrpSpPr>
        <p:grpSpPr>
          <a:xfrm>
            <a:off x="497841" y="2897268"/>
            <a:ext cx="386100" cy="382500"/>
            <a:chOff x="497841" y="3037886"/>
            <a:chExt cx="386100" cy="382500"/>
          </a:xfrm>
        </p:grpSpPr>
        <p:sp>
          <p:nvSpPr>
            <p:cNvPr id="3609" name="Google Shape;3609;p326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10" name="Google Shape;3610;p326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11" name="Google Shape;3611;p326"/>
          <p:cNvGrpSpPr/>
          <p:nvPr/>
        </p:nvGrpSpPr>
        <p:grpSpPr>
          <a:xfrm>
            <a:off x="497841" y="3785196"/>
            <a:ext cx="386100" cy="382500"/>
            <a:chOff x="497841" y="3801694"/>
            <a:chExt cx="386100" cy="382500"/>
          </a:xfrm>
        </p:grpSpPr>
        <p:sp>
          <p:nvSpPr>
            <p:cNvPr id="3612" name="Google Shape;3612;p326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01" name="Google Shape;3601;p326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613" name="Google Shape;3613;p326"/>
          <p:cNvGrpSpPr/>
          <p:nvPr/>
        </p:nvGrpSpPr>
        <p:grpSpPr>
          <a:xfrm>
            <a:off x="497841" y="1708841"/>
            <a:ext cx="386100" cy="382500"/>
            <a:chOff x="497841" y="1802325"/>
            <a:chExt cx="386100" cy="382500"/>
          </a:xfrm>
        </p:grpSpPr>
        <p:sp>
          <p:nvSpPr>
            <p:cNvPr id="3614" name="Google Shape;3614;p326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15" name="Google Shape;3615;p32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16" name="Google Shape;3616;p326"/>
          <p:cNvSpPr/>
          <p:nvPr/>
        </p:nvSpPr>
        <p:spPr>
          <a:xfrm>
            <a:off x="0" y="47479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7" name="Google Shape;3617;p326"/>
          <p:cNvSpPr txBox="1"/>
          <p:nvPr/>
        </p:nvSpPr>
        <p:spPr>
          <a:xfrm>
            <a:off x="985520" y="47581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endParaRPr sz="933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18" name="Google Shape;3618;p326"/>
          <p:cNvCxnSpPr>
            <a:cxnSpLocks/>
          </p:cNvCxnSpPr>
          <p:nvPr/>
        </p:nvCxnSpPr>
        <p:spPr>
          <a:xfrm flipV="1">
            <a:off x="690876" y="4998614"/>
            <a:ext cx="0" cy="143046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620" name="Google Shape;3620;p326"/>
          <p:cNvSpPr/>
          <p:nvPr/>
        </p:nvSpPr>
        <p:spPr>
          <a:xfrm>
            <a:off x="497841" y="528100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1" name="Google Shape;3621;p326"/>
          <p:cNvSpPr/>
          <p:nvPr/>
        </p:nvSpPr>
        <p:spPr>
          <a:xfrm>
            <a:off x="569897" y="5379560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2" name="Google Shape;3622;p326"/>
          <p:cNvSpPr txBox="1"/>
          <p:nvPr/>
        </p:nvSpPr>
        <p:spPr>
          <a:xfrm>
            <a:off x="985525" y="5314800"/>
            <a:ext cx="9832472" cy="98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apresenta recursos extraclasse para que os estudantes complementem sua formação. Incentive-os a continuarem explorando o tema da aula.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000" b="1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 minuto.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19" name="Google Shape;3619;p326"/>
          <p:cNvSpPr/>
          <p:nvPr/>
        </p:nvSpPr>
        <p:spPr>
          <a:xfrm>
            <a:off x="495426" y="5819714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23" name="Google Shape;3623;p3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3657" y="5913420"/>
            <a:ext cx="154445" cy="1930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1974</Words>
  <Application>Microsoft Office PowerPoint</Application>
  <PresentationFormat>Ecrã Panorâmico</PresentationFormat>
  <Paragraphs>141</Paragraphs>
  <Slides>18</Slides>
  <Notes>18</Notes>
  <HiddenSlides>6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18</vt:i4>
      </vt:variant>
    </vt:vector>
  </HeadingPairs>
  <TitlesOfParts>
    <vt:vector size="24" baseType="lpstr">
      <vt:lpstr>Calibri</vt:lpstr>
      <vt:lpstr>Poppins Light</vt:lpstr>
      <vt:lpstr>Poppins</vt:lpstr>
      <vt:lpstr>Poppins Medium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23</cp:revision>
  <dcterms:modified xsi:type="dcterms:W3CDTF">2026-08-25T17:43:03Z</dcterms:modified>
</cp:coreProperties>
</file>